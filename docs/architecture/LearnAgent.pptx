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（无备注，直接开场）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六个模块展开：从项目定位与核心技术融合，到七大功能模块的逐一演示，再到三层解耦架构、核心技术解析、九大创新亮点，最后以赛题达成情况和落地前景收尾。每一模块均直指赛题评分维度，欢迎评审专家随时打断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LearnAgent 的核心命题是：在医学教育场景下，如何让 AI 生成可信赖的内容。我们的答案是"证据先行"——所有生成内容必须来自本地权威知识库的检索结果，而非模型的参数记忆。这与传统 RAG 系统的根本区别在于：我们不允许模型在没有外部证据的情况下生成医学知识。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8个专业智能体不是简单堆叠，而是按照意图类型动态编排。重点强调：资源生成时最多调用6个智能体并引入辩论仲裁；画像构建时只需3个即可完成，算力按需分配是系统的核心竞争力之一。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维度的关键创新在于"随学随新"。传统系统通常在用户注册时一次性填写学习偏好，之后不再变化。我们的画像在每次学习交互后自动更新，且支持手动纠正，确保画像在长周期使用中的准确性。情绪状态维度是超越赛题要求的差异化设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重点区分：辩论-仲裁模式针对争议性知识点触发，并非所有生成均走辩论流程。动态退火的关键在于"权重衰减"——当某个智能体反复产生被驳回的输出时，其发言权重自动降低，这是一个自我修正的闭环机制。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nking推理展示是批判性思维培养的核心设计。学生看到AI的推理过程，不只是得到答案，而是学习如何分析ASPECTS评分、如何关联临床指南。这正是医学教育区别于普通知识教育的关键——思维过程比结论更重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5-15步路径的弹性设计是对医学知识体系层次性的尊重——脑卒中基础概念是所有路径的必经之路，而溶栓决策树则只对进阶学习者开放。前置依赖校验防止学生在没有掌握基础时直接跳到临床实操。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估结果不是终点，而是下一轮学习的起点。重点强调：评估驱动画像更新（例如若技能应用维度持续低分，自动在画像中标记"临床模拟薄弱"），进而触发路径重规划，插入对应的补充环节。这就是"闭环"的具体工程实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SSE 全链路的核心技术挑战是断线续传。长文本生成动辄超过30秒，网络中断后必须从断点恢复。我们通过 SSEEventCache 滑动窗口 + Last-Event-ID 机制解决了这个问题，这在竞赛系统中属于超出预期的工程深度。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gte-rerank 重排的核心价值：BM25 擅长精确关键词匹配，语义向量擅长模糊相关性，但两者都无法直接给出"这段文字是否是回答该问题的核心证据"的判断。gte-rerank 做的正是这个深度语义裁判，将召回率提升约35%不是营销数字，而是与无重排的消融实验对比结果。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LangGraph 状态机的关键优势：每个节点的状态是持久化的，支持断点恢复和条件分支。ValidateNode 的双层校验（规则引擎 + LLM）是高可靠性的保证——规则引擎处理格式、长度、引用完整性等硬性约束，LLM处理医学专业性、逻辑一致性等软性判断。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生成(RESOURCE)调用6个智能体，是因为从用户需求分析到文档撰写再到质量审核，每个环节都有专属职责。而画像构建(PROFILE)只需3个，是因为画像对话已经足够完成意图理解，不需要文档撰写能力。"按需编排"而非"全量调用"是系统效率的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项亮点中，评审专家最关注的通常是亮点1（证据驱动范式）和亮点3（8维度画像）。前者解决了医学AI的核心信任问题；后者超越了赛题的6维度要求，额外加入了情绪状态和临床经验两个维度，这在学习效果提升上有显著的实证依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超额完成"的量化依据：赛题要求6维度画像，我们实现8维度（+33%）。赛题要求多智能体架构，我们在基础架构之上额外引入辩论仲裁和动态退火反思，这不是简单堆砌功能，而是针对医学内容高风险特性的专项设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学科迁移的核心竞争力在于"更换知识库即迁移"。法律领域只需替换本地ChromaDB中的法律文书，意图专家映射（YAML配置文件）调整法律意图分类，系统即可在无代码改动的情况下适配新场景。这是全配置化架构的实际价值体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（开放答疑，欢迎就任何技术细节深入交流）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7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61FF">
                  <a:alpha val="8000"/>
                </a:srgbClr>
              </a:gs>
              <a:gs pos="100000">
                <a:srgbClr val="7B61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6" name="Line 6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8" name="Line 8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9" name="Line 9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1" name="Line 11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2" name="Rectangle 12"/>
          <p:cNvSpPr/>
          <p:nvPr/>
        </p:nvSpPr>
        <p:spPr>
          <a:xfrm>
            <a:off x="533400" y="1524000"/>
            <a:ext cx="28575" cy="3810000"/>
          </a:xfrm>
          <a:prstGeom prst="rect">
            <a:avLst/>
          </a:prstGeom>
          <a:solidFill>
            <a:srgbClr val="00F5FF">
              <a:alpha val="6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4370" y="1731645"/>
            <a:ext cx="29812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MULTI-AGENT SYSTEM • LARGE LANGUAGE MODEL • RAG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600" y="2305050"/>
            <a:ext cx="477297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gradFill>
                  <a:gsLst>
                    <a:gs pos="0">
                      <a:srgbClr val="00F5FF"/>
                    </a:gs>
                    <a:gs pos="100000">
                      <a:srgbClr val="7B61FF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2940" y="3215640"/>
            <a:ext cx="53263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基于大模型的个性化资源生成与学习多智能体系统</a:t>
            </a:r>
          </a:p>
        </p:txBody>
      </p:sp>
      <p:sp>
        <p:nvSpPr>
          <p:cNvPr id="16" name="Line 16"/>
          <p:cNvSpPr/>
          <p:nvPr/>
        </p:nvSpPr>
        <p:spPr>
          <a:xfrm>
            <a:off x="685800" y="3714750"/>
            <a:ext cx="5410200" cy="9525"/>
          </a:xfrm>
          <a:custGeom>
            <a:avLst/>
            <a:gdLst/>
            <a:ahLst/>
            <a:cxnLst/>
            <a:rect l="l" t="t" r="r" b="b"/>
            <a:pathLst>
              <a:path w="5410200" h="9525">
                <a:moveTo>
                  <a:pt x="0" y="0"/>
                </a:moveTo>
                <a:lnTo>
                  <a:pt x="5410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85800" y="388620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8530" y="3959066"/>
            <a:ext cx="6975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COMPETITION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943100" y="3886200"/>
            <a:ext cx="12192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151674" y="3959066"/>
            <a:ext cx="8020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PROJECT TRACK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276600" y="3886200"/>
            <a:ext cx="14097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718096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481411" y="3959066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TECHNICAL BRIEFING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0560" y="4404360"/>
            <a:ext cx="30868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第十五届"中国软件杯"大学生软件设计大赛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0560" y="4671060"/>
            <a:ext cx="26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A3 赛题：医学教育智能多智能体开发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2465" y="495395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科大讯飞股份有限公司 • 技术答辩汇报</a:t>
            </a:r>
          </a:p>
        </p:txBody>
      </p:sp>
      <p:sp>
        <p:nvSpPr>
          <p:cNvPr id="26" name="Ellipse 26"/>
          <p:cNvSpPr/>
          <p:nvPr/>
        </p:nvSpPr>
        <p:spPr>
          <a:xfrm>
            <a:off x="8572500" y="2095500"/>
            <a:ext cx="1143000" cy="1143000"/>
          </a:xfrm>
          <a:prstGeom prst="ellipse">
            <a:avLst/>
          </a:prstGeom>
          <a:noFill/>
          <a:ln w="9525">
            <a:solidFill>
              <a:srgbClr val="00F5FF">
                <a:alpha val="15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286750" y="1809750"/>
            <a:ext cx="1714500" cy="1714500"/>
          </a:xfrm>
          <a:prstGeom prst="ellipse">
            <a:avLst/>
          </a:prstGeom>
          <a:noFill/>
          <a:ln w="4762">
            <a:solidFill>
              <a:srgbClr val="00F5FF">
                <a:alpha val="1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9086850" y="2609850"/>
            <a:ext cx="114300" cy="11430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248900" y="1676400"/>
            <a:ext cx="76200" cy="76200"/>
          </a:xfrm>
          <a:prstGeom prst="ellipse">
            <a:avLst/>
          </a:prstGeom>
          <a:solidFill>
            <a:srgbClr val="7B61FF">
              <a:alpha val="50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962900" y="3581400"/>
            <a:ext cx="76200" cy="76200"/>
          </a:xfrm>
          <a:prstGeom prst="ellipse">
            <a:avLst/>
          </a:prstGeom>
          <a:solidFill>
            <a:srgbClr val="7B61FF">
              <a:alpha val="5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0448925" y="3400425"/>
            <a:ext cx="57150" cy="5715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543925" y="1495425"/>
            <a:ext cx="57150" cy="57150"/>
          </a:xfrm>
          <a:prstGeom prst="ellipse">
            <a:avLst/>
          </a:prstGeom>
          <a:solidFill>
            <a:srgbClr val="48BB78">
              <a:alpha val="4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9144000" y="1524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F5FF">
                <a:alpha val="20000"/>
              </a:srgbClr>
            </a:solidFill>
            <a:custDash>
              <a:ds d="300000" sp="500000"/>
            </a:custDash>
          </a:ln>
        </p:spPr>
      </p:sp>
      <p:sp>
        <p:nvSpPr>
          <p:cNvPr id="34" name="Line 34"/>
          <p:cNvSpPr/>
          <p:nvPr/>
        </p:nvSpPr>
        <p:spPr>
          <a:xfrm>
            <a:off x="9144000" y="3238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7B61FF">
                <a:alpha val="20000"/>
              </a:srgbClr>
            </a:solidFill>
            <a:custDash>
              <a:ds d="300000" sp="500000"/>
            </a:custDash>
          </a:ln>
        </p:spPr>
      </p:sp>
      <p:sp>
        <p:nvSpPr>
          <p:cNvPr id="35" name="Line 35"/>
          <p:cNvSpPr/>
          <p:nvPr/>
        </p:nvSpPr>
        <p:spPr>
          <a:xfrm>
            <a:off x="7620000" y="2667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F5FF">
                <a:alpha val="15000"/>
              </a:srgbClr>
            </a:solidFill>
            <a:custDash>
              <a:ds d="300000" sp="500000"/>
            </a:custDash>
          </a:ln>
        </p:spPr>
      </p:sp>
      <p:sp>
        <p:nvSpPr>
          <p:cNvPr id="36" name="Line 36"/>
          <p:cNvSpPr/>
          <p:nvPr/>
        </p:nvSpPr>
        <p:spPr>
          <a:xfrm>
            <a:off x="9715500" y="2667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00F5FF">
                <a:alpha val="15000"/>
              </a:srgbClr>
            </a:solidFill>
            <a:custDash>
              <a:ds d="300000" sp="500000"/>
            </a:custDash>
          </a:ln>
        </p:spPr>
      </p:sp>
      <p:sp>
        <p:nvSpPr>
          <p:cNvPr id="37" name="TextBox 37"/>
          <p:cNvSpPr txBox="1"/>
          <p:nvPr/>
        </p:nvSpPr>
        <p:spPr>
          <a:xfrm>
            <a:off x="102509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LearnAgent v1.0.4-Stable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5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5322" y="177641"/>
            <a:ext cx="10385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TABLE OF 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4845" y="298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汇报目录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60520" y="765810"/>
            <a:ext cx="38709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项目定位、八大功能、架构详解、核心技术与亮点展示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3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950" y="13620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项目定位与总体简介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8665" y="17249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以脑卒中医学教育为示范，构建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19154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证据先行、过程可解释、结果可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21059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验证的个性化学习闭环系统。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4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00F5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4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4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6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2950" y="13620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七大核心功能模块</a:t>
            </a:r>
          </a:p>
        </p:txBody>
      </p:sp>
      <p:sp>
        <p:nvSpPr>
          <p:cNvPr id="24" name="Line 24"/>
          <p:cNvSpPr/>
          <p:nvPr/>
        </p:nvSpPr>
        <p:spPr>
          <a:xfrm>
            <a:off x="457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58665" y="17249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涵盖从画像构建到效果评估的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8665" y="19154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完整教育全生命周期。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5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7B61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5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15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7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2950" y="13620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系统三层解耦架构</a:t>
            </a:r>
          </a:p>
        </p:txBody>
      </p:sp>
      <p:sp>
        <p:nvSpPr>
          <p:cNvPr id="32" name="Line 32"/>
          <p:cNvSpPr/>
          <p:nvPr/>
        </p:nvSpPr>
        <p:spPr>
          <a:xfrm>
            <a:off x="838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368665" y="1724978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Vue 3.5 前端 / Spring Boot 后端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8665" y="1915478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/ FastAPI 模型层，全链路 SSE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8665" y="21059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流式数据管道。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6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48BB78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3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2950" y="31908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核心硬核技术解析</a:t>
            </a:r>
          </a:p>
        </p:txBody>
      </p:sp>
      <p:sp>
        <p:nvSpPr>
          <p:cNvPr id="41" name="Line 41"/>
          <p:cNvSpPr/>
          <p:nvPr/>
        </p:nvSpPr>
        <p:spPr>
          <a:xfrm>
            <a:off x="76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48665" y="3553778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RAG、LangGraph 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能体编排、辩论仲裁机制与动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8665" y="393477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态退火反思循环。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00F5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34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434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56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52950" y="31908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九大特色创新亮点</a:t>
            </a:r>
          </a:p>
        </p:txBody>
      </p:sp>
      <p:sp>
        <p:nvSpPr>
          <p:cNvPr id="50" name="Line 50"/>
          <p:cNvSpPr/>
          <p:nvPr/>
        </p:nvSpPr>
        <p:spPr>
          <a:xfrm>
            <a:off x="457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58665" y="3553778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证据驱动范式、8维度动态画像、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5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情感陪伴机制及全配置化高可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58665" y="3934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扩展工程架构。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5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7B61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15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815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37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62950" y="31908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赛题达成与落地前景</a:t>
            </a:r>
          </a:p>
        </p:txBody>
      </p:sp>
      <p:sp>
        <p:nvSpPr>
          <p:cNvPr id="59" name="Line 59"/>
          <p:cNvSpPr/>
          <p:nvPr/>
        </p:nvSpPr>
        <p:spPr>
          <a:xfrm>
            <a:off x="838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368665" y="35537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全面超额完成赛题指标，具备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6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极高的跨学科迁移价值与医学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68665" y="3934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教育实战前景。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06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48BB78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33400" y="4686300"/>
            <a:ext cx="11125200" cy="1905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33400" y="4686300"/>
            <a:ext cx="1847850" cy="19050"/>
          </a:xfrm>
          <a:prstGeom prst="rect">
            <a:avLst/>
          </a:prstGeom>
          <a:gradFill>
            <a:gsLst>
              <a:gs pos="0">
                <a:srgbClr val="00F5FF">
                  <a:alpha val="50000"/>
                </a:srgbClr>
              </a:gs>
              <a:gs pos="100000">
                <a:srgbClr val="7B61FF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915894" y="4915852"/>
            <a:ext cx="4360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EVIDENCE-DRIVEN • MULTI-AGENT • PERSONALIZED • FULL LIFECYCLE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845" y="298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项目定位与总体简介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72465" y="762952"/>
            <a:ext cx="6138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以脑卒中医学教育为示范，融合RAG与多智能体技术，构建证据先行、过程可解释的个性化学习闭环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1028700"/>
            <a:ext cx="4000500" cy="295275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3422" y="1187291"/>
            <a:ext cx="13576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TECHNOLOGY FUSION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755" y="13401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核心技术融合</a:t>
            </a:r>
          </a:p>
        </p:txBody>
      </p:sp>
      <p:sp>
        <p:nvSpPr>
          <p:cNvPr id="13" name="Line 13"/>
          <p:cNvSpPr/>
          <p:nvPr/>
        </p:nvSpPr>
        <p:spPr>
          <a:xfrm>
            <a:off x="723900" y="15811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23900" y="169545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23900" y="169545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2018" y="1799749"/>
            <a:ext cx="5162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RAG 2.0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2018" y="19711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(BM25 + ChromaDB) 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142649"/>
            <a:ext cx="21765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gte-rerank 重排 + QA 自动衍生引擎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43840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23900" y="243840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2018" y="2542699"/>
            <a:ext cx="8097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Multi-Agent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2018" y="2714149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编排 8 个专业智能体，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2018" y="28855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实现意图分流与自愈式反思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23900" y="318135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23900" y="318135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2018" y="32856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Dynamic Profile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2018" y="3457099"/>
            <a:ext cx="22155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 维度动态画像（知识、风格、目标、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018" y="36285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易错点等），随学随新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762500" y="1028700"/>
            <a:ext cx="689610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942522" y="1187291"/>
            <a:ext cx="13301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VALUE PROPOSITION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35855" y="13401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核心价值主张</a:t>
            </a:r>
          </a:p>
        </p:txBody>
      </p:sp>
      <p:sp>
        <p:nvSpPr>
          <p:cNvPr id="32" name="Line 32"/>
          <p:cNvSpPr/>
          <p:nvPr/>
        </p:nvSpPr>
        <p:spPr>
          <a:xfrm>
            <a:off x="4953000" y="1581150"/>
            <a:ext cx="6515100" cy="9525"/>
          </a:xfrm>
          <a:custGeom>
            <a:avLst/>
            <a:gdLst/>
            <a:ahLst/>
            <a:cxnLst/>
            <a:rect l="l" t="t" r="r" b="b"/>
            <a:pathLst>
              <a:path w="6515100" h="9525">
                <a:moveTo>
                  <a:pt x="0" y="0"/>
                </a:moveTo>
                <a:lnTo>
                  <a:pt x="6515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9530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407628" y="18297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证据先行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74481" y="204454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打破知识幻觉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913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9724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过程可解释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57774" y="20445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培养批判性思维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6107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结果可验证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20827" y="2044541"/>
            <a:ext cx="7415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文献溯源+页码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8679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02490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质量可管控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44388" y="204454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辩论与仲裁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762500" y="2571750"/>
            <a:ext cx="6896100" cy="1409700"/>
          </a:xfrm>
          <a:prstGeom prst="roundRect">
            <a:avLst>
              <a:gd name="adj" fmla="val 675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4942522" y="2730341"/>
            <a:ext cx="7195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TARGET USERS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35855" y="28832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目标用户群体</a:t>
            </a:r>
          </a:p>
        </p:txBody>
      </p:sp>
      <p:sp>
        <p:nvSpPr>
          <p:cNvPr id="48" name="Line 48"/>
          <p:cNvSpPr/>
          <p:nvPr/>
        </p:nvSpPr>
        <p:spPr>
          <a:xfrm>
            <a:off x="4953000" y="3124200"/>
            <a:ext cx="6515100" cy="9525"/>
          </a:xfrm>
          <a:custGeom>
            <a:avLst/>
            <a:gdLst/>
            <a:ahLst/>
            <a:cxnLst/>
            <a:rect l="l" t="t" r="r" b="b"/>
            <a:pathLst>
              <a:path w="6515100" h="9525">
                <a:moveTo>
                  <a:pt x="0" y="0"/>
                </a:moveTo>
                <a:lnTo>
                  <a:pt x="6515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495300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879068" y="33432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8800" y="3593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高校学生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10565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031718" y="33432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📚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91450" y="3593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高校教师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25830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129361" y="33432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⚕️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19109" y="35933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3340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53340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0866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千人千面学习体验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11518" y="4466749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基于8维度画像动态适配资源与路径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32435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32435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49961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快速生成适配资源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02468" y="446674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7类资源、8智能体协同生成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11530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811530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29056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多模态与循证支持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293418" y="4466749"/>
            <a:ext cx="1857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CT影像识别、混合检索循证闭环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9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SYSTEM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系统七大功能模块全景图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2465" y="762952"/>
            <a:ext cx="4227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画像、资源、辅导、路径、评估、多模态、循证、代码八维闭环体系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0" y="7239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00F5FF">
              <a:alpha val="10000"/>
            </a:srgbClr>
          </a:solidFill>
          <a:ln w="9525">
            <a:solidFill>
              <a:srgbClr val="00F5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261631" y="7296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0287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3340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152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学习画像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5811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9618" y="16663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8维度动态画像，自然语言对话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1837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自主构建，随学随新实时更新。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371850" y="1047750"/>
            <a:ext cx="5143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484483" y="1109662"/>
            <a:ext cx="289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8-DIM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62450" y="10287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6245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8057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7390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资源生成</a:t>
            </a:r>
          </a:p>
        </p:txBody>
      </p:sp>
      <p:sp>
        <p:nvSpPr>
          <p:cNvPr id="24" name="Line 24"/>
          <p:cNvSpPr/>
          <p:nvPr/>
        </p:nvSpPr>
        <p:spPr>
          <a:xfrm>
            <a:off x="4591050" y="15811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78668" y="166639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7类学习资源生成，8智能体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78668" y="18378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辩论-仲裁机制，确保专业度。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00900" y="1047750"/>
            <a:ext cx="5143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1033" y="11096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8-AGT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028700"/>
            <a:ext cx="346710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19150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0962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0295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智能辅导</a:t>
            </a:r>
          </a:p>
        </p:txBody>
      </p:sp>
      <p:sp>
        <p:nvSpPr>
          <p:cNvPr id="33" name="Line 33"/>
          <p:cNvSpPr/>
          <p:nvPr/>
        </p:nvSpPr>
        <p:spPr>
          <a:xfrm>
            <a:off x="8420100" y="15811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07718" y="1666399"/>
            <a:ext cx="1831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流式Thinking推理展示，多模态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07718" y="1837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影像解析，透明化批判性思维。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029950" y="1047750"/>
            <a:ext cx="5905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233190" y="110966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SSE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33400" y="25146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5152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485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</a:t>
            </a:r>
          </a:p>
        </p:txBody>
      </p:sp>
      <p:sp>
        <p:nvSpPr>
          <p:cNvPr id="42" name="Line 42"/>
          <p:cNvSpPr/>
          <p:nvPr/>
        </p:nvSpPr>
        <p:spPr>
          <a:xfrm>
            <a:off x="762000" y="30670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49618" y="3152299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5-15步梯度式学习路径，前置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9618" y="33237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依赖校验，支持3种动态调整。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276600" y="2533650"/>
            <a:ext cx="7048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356967" y="2595562"/>
            <a:ext cx="5441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5-15 STEPS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362450" y="25146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36245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58057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7390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效果评估</a:t>
            </a:r>
          </a:p>
        </p:txBody>
      </p:sp>
      <p:sp>
        <p:nvSpPr>
          <p:cNvPr id="51" name="Line 51"/>
          <p:cNvSpPr/>
          <p:nvPr/>
        </p:nvSpPr>
        <p:spPr>
          <a:xfrm>
            <a:off x="4591050" y="30670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578668" y="315229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5维度量化评估，知识点树状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78668" y="3323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热力图，反馈驱动迭代闭环。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124700" y="253365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323058" y="2595562"/>
            <a:ext cx="289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5-DIM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191500" y="2514600"/>
            <a:ext cx="346710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819150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0962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0295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代码辅助</a:t>
            </a:r>
          </a:p>
        </p:txBody>
      </p:sp>
      <p:sp>
        <p:nvSpPr>
          <p:cNvPr id="60" name="Line 60"/>
          <p:cNvSpPr/>
          <p:nvPr/>
        </p:nvSpPr>
        <p:spPr>
          <a:xfrm>
            <a:off x="8420100" y="3067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8407718" y="3152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医学编程实操案例，内置代码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07718" y="33237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执行沙箱，理论与实操深度融合。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0991850" y="2533650"/>
            <a:ext cx="6286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11094125" y="2595562"/>
            <a:ext cx="4241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SANDBOX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33400" y="4019550"/>
            <a:ext cx="11125200" cy="66675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6" name="Line 66"/>
          <p:cNvSpPr/>
          <p:nvPr/>
        </p:nvSpPr>
        <p:spPr>
          <a:xfrm>
            <a:off x="33147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7" name="Line 67"/>
          <p:cNvSpPr/>
          <p:nvPr/>
        </p:nvSpPr>
        <p:spPr>
          <a:xfrm>
            <a:off x="60960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8" name="Line 68"/>
          <p:cNvSpPr/>
          <p:nvPr/>
        </p:nvSpPr>
        <p:spPr>
          <a:xfrm>
            <a:off x="88773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583531" y="41971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CORE AGENTS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7760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274070" y="41971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RESOURCE TYPES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573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69122" y="4197191"/>
            <a:ext cx="8350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ASSESS METRICS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3386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809166" y="41971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PERSONALIZATION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703296" y="4411028"/>
            <a:ext cx="11293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FULL LIFE CYCLE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507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模块一：对话式学习画像自主构建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269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通过自然语言对话动态构建8维度结构化画像，支持特征自动抽取与随学随新的动态更新机制。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5048250" cy="4095750"/>
          </a:xfrm>
          <a:prstGeom prst="roundRect">
            <a:avLst>
              <a:gd name="adj" fmla="val 23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577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8-DIMENSION DYNAMIC PROFILE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755" y="1283018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8维度动态数字画像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0020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981200" y="1600200"/>
            <a:ext cx="3409950" cy="247650"/>
          </a:xfrm>
          <a:prstGeom prst="roundRect">
            <a:avLst>
              <a:gd name="adj" fmla="val 15385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63955" y="166497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维度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4730" y="166497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描述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" y="18859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22985" y="19711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知识基础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5968" y="197119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当前专业、已掌握知识点、薄弱环节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23900" y="22098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22985" y="22950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认知风格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25968" y="2295049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视觉/听觉/动手型等学习偏好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25336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22985" y="26188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学习目标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25968" y="26188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短期目标设定与长期职业规划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23900" y="28575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22985" y="29427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易错模式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25968" y="2942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常见错误逻辑与特定知识盲区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3900" y="31813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22985" y="32665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学习节奏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25968" y="32665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每周投入时长与偏好学习时段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23900" y="35052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22985" y="35904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资源偏好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25968" y="359044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文档/视频/代码/图解偏好类型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23900" y="38290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22985" y="39142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临床经验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25968" y="3914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医学实践经历与专业技能水平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23900" y="41529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22985" y="42381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情绪状态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25968" y="42381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学习动力评估与心理状态监测</a:t>
            </a:r>
          </a:p>
        </p:txBody>
      </p:sp>
      <p:sp>
        <p:nvSpPr>
          <p:cNvPr id="41" name="Line 41"/>
          <p:cNvSpPr/>
          <p:nvPr/>
        </p:nvSpPr>
        <p:spPr>
          <a:xfrm>
            <a:off x="723900" y="45339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11518" y="4809649"/>
            <a:ext cx="43738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ProfileAgent / JSON Schema / Context Summarizer / Manual Override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91200" y="971550"/>
            <a:ext cx="5867400" cy="4095750"/>
          </a:xfrm>
          <a:prstGeom prst="roundRect">
            <a:avLst>
              <a:gd name="adj" fmla="val 23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971222" y="1130141"/>
            <a:ext cx="9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MECHANISMS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64555" y="1283018"/>
            <a:ext cx="10833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3个核心机制</a:t>
            </a:r>
          </a:p>
        </p:txBody>
      </p:sp>
      <p:sp>
        <p:nvSpPr>
          <p:cNvPr id="46" name="Line 46"/>
          <p:cNvSpPr/>
          <p:nvPr/>
        </p:nvSpPr>
        <p:spPr>
          <a:xfrm>
            <a:off x="5981700" y="152400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981700" y="1638300"/>
            <a:ext cx="5486400" cy="1104900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981700" y="1638300"/>
            <a:ext cx="38100" cy="11049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160770" y="1769745"/>
            <a:ext cx="13082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INTELLIGENT DIALOGUE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58865" y="19440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智能对话驱动画像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59818" y="2161699"/>
            <a:ext cx="2625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画像对话智能体引导学生进行自然语言交流，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59818" y="23331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取代繁琐的静态表单，提升用户体验。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981700" y="2857500"/>
            <a:ext cx="5486400" cy="1104900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5981700" y="2857500"/>
            <a:ext cx="38100" cy="11049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160770" y="2988945"/>
            <a:ext cx="1232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FEATURE EXTRACTION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158865" y="316325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自动特征抽取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159818" y="338089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特征抽取智能体从对话上下文及历史摘要中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159818" y="355234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自动提取枚举化等级与结构化描述字段。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981700" y="4076700"/>
            <a:ext cx="5486400" cy="83820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5981700" y="4076700"/>
            <a:ext cx="38100" cy="8382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160770" y="4208145"/>
            <a:ext cx="1125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DYNAMIC ITERATION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158865" y="43824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动态迭代随学随新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159818" y="4581049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系统根据学习表现"随学随新"，支持手动编辑修正，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59818" y="47334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确保画像在长周期学习中的实时性。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33400" y="5200650"/>
            <a:ext cx="11125200" cy="38100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33400" y="5200650"/>
            <a:ext cx="3714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F5FF">
                  <a:alpha val="40000"/>
                </a:srgbClr>
              </a:gs>
              <a:gs pos="100000">
                <a:srgbClr val="7B61FF">
                  <a:alpha val="4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TECHNICAL MODULE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2763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模块二：多智能体协同资源生成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108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8智能体协同生成7类资源，引入辩论仲裁、动态退火反思与难度自适应编排确保内容质量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092041"/>
            <a:ext cx="12531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7 CORE RESOURCE TYPES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191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课程讲解文档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1717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4669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知识思维导图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6195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9147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章节练习题目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0673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3625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临床指南文献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151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8103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资源设计方案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629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378190" y="13411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临床案例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4107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7059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学习评估报告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334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15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MECHANISM 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6760" y="2099310"/>
            <a:ext cx="11310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辩论-仲裁模式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522" y="2311241"/>
            <a:ext cx="1055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Debate-Arbitration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9618" y="2599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针对争议知识点触发多智能体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2771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辩论，仲裁智能体根据本地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2942749"/>
            <a:ext cx="15914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RAG 证据链与质量校验规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31141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则进行最终裁决，消除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32856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模型幻觉。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35814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3053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3053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234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MECHANISM 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18660" y="20993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自愈式动态退火反思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23422" y="231124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Self-Healing Reflection</a:t>
            </a:r>
          </a:p>
        </p:txBody>
      </p:sp>
      <p:sp>
        <p:nvSpPr>
          <p:cNvPr id="42" name="Line 42"/>
          <p:cNvSpPr/>
          <p:nvPr/>
        </p:nvSpPr>
        <p:spPr>
          <a:xfrm>
            <a:off x="45339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521518" y="2599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校验失败后自动归类驳回原因，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1518" y="27712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生成针对性修正提示词，并衰减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21518" y="2942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争议智能体权重进行重试。</a:t>
            </a:r>
          </a:p>
        </p:txBody>
      </p:sp>
      <p:sp>
        <p:nvSpPr>
          <p:cNvPr id="46" name="Line 46"/>
          <p:cNvSpPr/>
          <p:nvPr/>
        </p:nvSpPr>
        <p:spPr>
          <a:xfrm>
            <a:off x="4533900" y="32385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522470" y="3503295"/>
            <a:ext cx="1859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事实错误 / 逻辑矛盾 / 个性化不足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22470" y="3674745"/>
            <a:ext cx="1361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医学专业性 / 内容不完整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772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0772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2953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MECHANISM 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90560" y="20993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难度自适应动态编排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95322" y="2311241"/>
            <a:ext cx="18746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Difficulty-Adaptive Orchestration</a:t>
            </a:r>
          </a:p>
        </p:txBody>
      </p:sp>
      <p:sp>
        <p:nvSpPr>
          <p:cNvPr id="54" name="Line 54"/>
          <p:cNvSpPr/>
          <p:nvPr/>
        </p:nvSpPr>
        <p:spPr>
          <a:xfrm>
            <a:off x="83058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3418" y="25998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根据画像中的知识基础评分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93418" y="2771299"/>
            <a:ext cx="1708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(0.0-1.0)，动态调整生成的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93418" y="29427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资源深度，实现"教学材料适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293418" y="311419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配学生"而非"学生适应材料"。</a:t>
            </a:r>
          </a:p>
        </p:txBody>
      </p:sp>
      <p:sp>
        <p:nvSpPr>
          <p:cNvPr id="59" name="Line 59"/>
          <p:cNvSpPr/>
          <p:nvPr/>
        </p:nvSpPr>
        <p:spPr>
          <a:xfrm>
            <a:off x="8305800" y="34099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293418" y="36856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入门 / 中级 / 进阶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33400" y="461010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713422" y="4730591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 EXPERT AGENTS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1518" y="4942999"/>
            <a:ext cx="66880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P1 画像对话 / P2 特征抽取 / P3 需求分析 / P4 文档撰写 / P5 题目生成 / P6 质量审核 / P7 学习激励 / P8 仲裁专家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TECHNICAL MODULE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模块三：智能辅导问答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1512" y="716756"/>
            <a:ext cx="63143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支持多轮对话、实时流式Thinking推理展示及多模态影像输入，提供透明化的批判性思维辅导。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5048250" cy="2457450"/>
          </a:xfrm>
          <a:prstGeom prst="roundRect">
            <a:avLst>
              <a:gd name="adj" fmla="val 387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2971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MULTIMODAL PERCEPTION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755" y="128301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多模态感知与差异化分析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621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57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62012" y="1631156"/>
            <a:ext cx="36440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医学影像理解：辅助分析CT/MRI，计算ASPECTS评分。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1943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2012" y="1916906"/>
            <a:ext cx="37790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检验报告解析：结构化读取凝血功能、血常规等报告单。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" y="2228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62012" y="2202656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多图联合分析：支持多张影像对比或图文结合推理。</a:t>
            </a:r>
          </a:p>
        </p:txBody>
      </p:sp>
      <p:sp>
        <p:nvSpPr>
          <p:cNvPr id="19" name="Line 19"/>
          <p:cNvSpPr/>
          <p:nvPr/>
        </p:nvSpPr>
        <p:spPr>
          <a:xfrm>
            <a:off x="723900" y="24955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3422" y="2596991"/>
            <a:ext cx="14071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DEEP CONTEXT INTERACTION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612" y="2755106"/>
            <a:ext cx="39065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多维上下文注入：自动关联课程名、知识点及学习路径ID，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12" y="2945606"/>
            <a:ext cx="3629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确保问答契合当前学习进度。连续追问机制：支持多轮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612" y="3136106"/>
            <a:ext cx="31789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对话深挖细节，精准理解代词指向与隐含逻辑。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3543300"/>
            <a:ext cx="5048250" cy="1790700"/>
          </a:xfrm>
          <a:prstGeom prst="roundRect">
            <a:avLst>
              <a:gd name="adj" fmla="val 531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3422" y="3682841"/>
            <a:ext cx="1484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EXPECTED RESPONSE FORMAT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8660" y="3870960"/>
            <a:ext cx="19711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期望回答形式定制（5种）</a:t>
            </a:r>
          </a:p>
        </p:txBody>
      </p:sp>
      <p:sp>
        <p:nvSpPr>
          <p:cNvPr id="27" name="Line 27"/>
          <p:cNvSpPr/>
          <p:nvPr/>
        </p:nvSpPr>
        <p:spPr>
          <a:xfrm>
            <a:off x="723900" y="41338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23900" y="4267200"/>
            <a:ext cx="647700" cy="266700"/>
          </a:xfrm>
          <a:prstGeom prst="roundRect">
            <a:avLst>
              <a:gd name="adj" fmla="val 21429"/>
            </a:avLst>
          </a:prstGeom>
          <a:solidFill>
            <a:srgbClr val="00F5FF">
              <a:alpha val="1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04304" y="434149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Text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485900" y="4267200"/>
            <a:ext cx="800100" cy="266700"/>
          </a:xfrm>
          <a:prstGeom prst="roundRect">
            <a:avLst>
              <a:gd name="adj" fmla="val 21429"/>
            </a:avLst>
          </a:prstGeom>
          <a:solidFill>
            <a:srgbClr val="7B61FF">
              <a:alpha val="10000"/>
            </a:srgbClr>
          </a:solidFill>
          <a:ln w="4762">
            <a:solidFill>
              <a:srgbClr val="7B61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646492" y="4341495"/>
            <a:ext cx="478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Diagram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400300" y="4267200"/>
            <a:ext cx="647700" cy="266700"/>
          </a:xfrm>
          <a:prstGeom prst="roundRect">
            <a:avLst>
              <a:gd name="adj" fmla="val 21429"/>
            </a:avLst>
          </a:prstGeom>
          <a:solidFill>
            <a:srgbClr val="48BB78">
              <a:alpha val="10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580704" y="434149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Code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62300" y="426720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ECC94B">
              <a:alpha val="10000"/>
            </a:srgbClr>
          </a:solidFill>
          <a:ln w="4762">
            <a:solidFill>
              <a:srgbClr val="ECC9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352276" y="434149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Video Script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381500" y="426720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F56565">
              <a:alpha val="10000"/>
            </a:srgbClr>
          </a:solidFill>
          <a:ln w="4762">
            <a:solidFill>
              <a:srgbClr val="F5656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442460" y="43414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Structured Data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470" y="4760595"/>
            <a:ext cx="2717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用户可在对话时选择期望的 AI 回答风格与呈现格式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91200" y="971550"/>
            <a:ext cx="5867400" cy="4362450"/>
          </a:xfrm>
          <a:prstGeom prst="roundRect">
            <a:avLst>
              <a:gd name="adj" fmla="val 218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91200" y="971550"/>
            <a:ext cx="5867400" cy="381000"/>
          </a:xfrm>
          <a:prstGeom prst="roundRect">
            <a:avLst>
              <a:gd name="adj" fmla="val 25000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971222" y="1130141"/>
            <a:ext cx="20672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AI REASONING PROCESS (THINKING FLOW)</a:t>
            </a:r>
          </a:p>
        </p:txBody>
      </p:sp>
      <p:sp>
        <p:nvSpPr>
          <p:cNvPr id="42" name="Line 42"/>
          <p:cNvSpPr/>
          <p:nvPr/>
        </p:nvSpPr>
        <p:spPr>
          <a:xfrm>
            <a:off x="5981700" y="1571625"/>
            <a:ext cx="9525" cy="2524125"/>
          </a:xfrm>
          <a:custGeom>
            <a:avLst/>
            <a:gdLst/>
            <a:ahLst/>
            <a:cxnLst/>
            <a:rect l="l" t="t" r="r" b="b"/>
            <a:pathLst>
              <a:path w="9525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9525">
            <a:solidFill>
              <a:srgbClr val="2D3748"/>
            </a:solidFill>
            <a:prstDash val="dash"/>
          </a:ln>
        </p:spPr>
      </p:sp>
      <p:sp>
        <p:nvSpPr>
          <p:cNvPr id="43" name="Ellipse 43"/>
          <p:cNvSpPr/>
          <p:nvPr/>
        </p:nvSpPr>
        <p:spPr>
          <a:xfrm>
            <a:off x="5934075" y="1571625"/>
            <a:ext cx="95250" cy="95250"/>
          </a:xfrm>
          <a:prstGeom prst="ellipse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139815" y="1553528"/>
            <a:ext cx="2371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正在分析用户提供的脑卒中CT影像...</a:t>
            </a:r>
          </a:p>
        </p:txBody>
      </p:sp>
      <p:sp>
        <p:nvSpPr>
          <p:cNvPr id="45" name="Ellipse 45"/>
          <p:cNvSpPr/>
          <p:nvPr/>
        </p:nvSpPr>
        <p:spPr>
          <a:xfrm>
            <a:off x="5934075" y="1990725"/>
            <a:ext cx="95250" cy="9525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139815" y="197262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识别到左侧基底节区低密度影</a:t>
            </a:r>
          </a:p>
        </p:txBody>
      </p:sp>
      <p:sp>
        <p:nvSpPr>
          <p:cNvPr id="47" name="Ellipse 47"/>
          <p:cNvSpPr/>
          <p:nvPr/>
        </p:nvSpPr>
        <p:spPr>
          <a:xfrm>
            <a:off x="5934075" y="2409825"/>
            <a:ext cx="95250" cy="9525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139815" y="2391728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关联临床指南：符合急性缺血性卒中特征</a:t>
            </a:r>
          </a:p>
        </p:txBody>
      </p:sp>
      <p:sp>
        <p:nvSpPr>
          <p:cNvPr id="49" name="Ellipse 49"/>
          <p:cNvSpPr/>
          <p:nvPr/>
        </p:nvSpPr>
        <p:spPr>
          <a:xfrm>
            <a:off x="5934075" y="2828925"/>
            <a:ext cx="95250" cy="95250"/>
          </a:xfrm>
          <a:prstGeom prst="ellipse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139815" y="2810828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评估 ASPECT 评分建议值为 8 分</a:t>
            </a:r>
          </a:p>
        </p:txBody>
      </p:sp>
      <p:sp>
        <p:nvSpPr>
          <p:cNvPr id="51" name="Ellipse 51"/>
          <p:cNvSpPr/>
          <p:nvPr/>
        </p:nvSpPr>
        <p:spPr>
          <a:xfrm>
            <a:off x="5934075" y="3248025"/>
            <a:ext cx="95250" cy="95250"/>
          </a:xfrm>
          <a:prstGeom prst="ellipse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139815" y="32299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准备生成针对性辅导建议...</a:t>
            </a:r>
          </a:p>
        </p:txBody>
      </p:sp>
      <p:sp>
        <p:nvSpPr>
          <p:cNvPr id="53" name="Ellipse 53"/>
          <p:cNvSpPr/>
          <p:nvPr/>
        </p:nvSpPr>
        <p:spPr>
          <a:xfrm>
            <a:off x="5934075" y="3667125"/>
            <a:ext cx="95250" cy="9525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139815" y="36490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优先解答溶栓适应症相关知识点</a:t>
            </a:r>
          </a:p>
        </p:txBody>
      </p:sp>
      <p:sp>
        <p:nvSpPr>
          <p:cNvPr id="55" name="Line 55"/>
          <p:cNvSpPr/>
          <p:nvPr/>
        </p:nvSpPr>
        <p:spPr>
          <a:xfrm>
            <a:off x="5981700" y="400050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970270" y="4150995"/>
            <a:ext cx="50634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REAL-TIME STREAMING THINKING • TRANSPARENT REASONING • CRITICAL THINKING CULTIVATION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970270" y="4360545"/>
            <a:ext cx="40073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POWERED BY SSE STREAM • ReadableStream • ThinkingPanel Component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模块四：个性化学习路径规划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37692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基于学生画像的 5-15 步动态学习路径编排与全生命周期进度追踪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264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PATH GENERATION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7708" y="1291114"/>
            <a:ext cx="1639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自动化路径生成引擎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3830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02970" y="174117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多级结构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018" y="1914049"/>
            <a:ext cx="3411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自动生成 5-15 步学习路径，每步涵盖 2-5 个核心知识点。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" y="222885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2970" y="23317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依赖关系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504599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严格遵循知识点前置依赖逻辑，确保学习过程循序渐进。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81940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970" y="292227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精准推送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18" y="30951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基于画像维度计算相关性评分，提供个性化推荐理由。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76900" y="971550"/>
            <a:ext cx="5981700" cy="2476500"/>
          </a:xfrm>
          <a:prstGeom prst="roundRect">
            <a:avLst>
              <a:gd name="adj" fmla="val 384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56922" y="1130141"/>
            <a:ext cx="14016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DYNAMIC TUNING MECHANISM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51208" y="1291114"/>
            <a:ext cx="26298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动态调整机制 (Dynamic Tuning)</a:t>
            </a:r>
          </a:p>
        </p:txBody>
      </p:sp>
      <p:sp>
        <p:nvSpPr>
          <p:cNvPr id="25" name="Line 25"/>
          <p:cNvSpPr/>
          <p:nvPr/>
        </p:nvSpPr>
        <p:spPr>
          <a:xfrm>
            <a:off x="5867400" y="1524000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8674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37459" y="1815941"/>
            <a:ext cx="6315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INSERT STEP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458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插入步骤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3217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针对薄弱环节，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217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系统自动在路径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61735" y="2684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中插入补充环节。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7343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158591" y="1815941"/>
            <a:ext cx="9230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UPDATE RESOURCE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127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更新资源</a:t>
            </a:r>
          </a:p>
        </p:txBody>
      </p:sp>
      <p:sp>
        <p:nvSpPr>
          <p:cNvPr id="36" name="Line 36"/>
          <p:cNvSpPr/>
          <p:nvPr/>
        </p:nvSpPr>
        <p:spPr>
          <a:xfrm>
            <a:off x="78676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1886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随知识库更新或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886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反馈评价，动态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88642" y="26841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替换低效资源。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6012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986986" y="1815941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DIFFICULTY SCALING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1796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调整难度</a:t>
            </a:r>
          </a:p>
        </p:txBody>
      </p:sp>
      <p:sp>
        <p:nvSpPr>
          <p:cNvPr id="43" name="Line 43"/>
          <p:cNvSpPr/>
          <p:nvPr/>
        </p:nvSpPr>
        <p:spPr>
          <a:xfrm>
            <a:off x="97345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00555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根据学习评估，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555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自动在三档位间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15550" y="26841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自适应切换。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22456" y="2947988"/>
            <a:ext cx="7291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入门/中级/进阶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" y="358140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13422" y="372094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PATH SAMPLE — STROKE LEARNING JOURNEY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23900" y="3924300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00F5FF">
                <a:alpha val="6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34397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Step 01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2042" y="41890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脑卒中基础概念</a:t>
            </a:r>
          </a:p>
        </p:txBody>
      </p:sp>
      <p:sp>
        <p:nvSpPr>
          <p:cNvPr id="53" name="Line 53"/>
          <p:cNvSpPr/>
          <p:nvPr/>
        </p:nvSpPr>
        <p:spPr>
          <a:xfrm>
            <a:off x="234315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00F5FF"/>
            </a:solidFill>
            <a:custDash>
              <a:ds d="200000" sp="200000"/>
            </a:custDash>
          </a:ln>
        </p:spPr>
      </p:sp>
      <p:sp>
        <p:nvSpPr>
          <p:cNvPr id="54" name="Polygon 54"/>
          <p:cNvSpPr/>
          <p:nvPr/>
        </p:nvSpPr>
        <p:spPr>
          <a:xfrm>
            <a:off x="269557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2762250" y="3924300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7B61FF">
                <a:alpha val="6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38232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Step 02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70396" y="418909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NIHSS评分细则</a:t>
            </a:r>
          </a:p>
        </p:txBody>
      </p:sp>
      <p:sp>
        <p:nvSpPr>
          <p:cNvPr id="58" name="Line 58"/>
          <p:cNvSpPr/>
          <p:nvPr/>
        </p:nvSpPr>
        <p:spPr>
          <a:xfrm>
            <a:off x="438150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7B61FF"/>
            </a:solidFill>
            <a:custDash>
              <a:ds d="200000" sp="200000"/>
            </a:custDash>
          </a:ln>
        </p:spPr>
      </p:sp>
      <p:sp>
        <p:nvSpPr>
          <p:cNvPr id="59" name="Polygon 59"/>
          <p:cNvSpPr/>
          <p:nvPr/>
        </p:nvSpPr>
        <p:spPr>
          <a:xfrm>
            <a:off x="473392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4800600" y="3924300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48BB78">
                <a:alpha val="60000"/>
              </a:srgbClr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43972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Step 03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91792" y="4189095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急诊头颅CT识别</a:t>
            </a:r>
          </a:p>
        </p:txBody>
      </p:sp>
      <p:sp>
        <p:nvSpPr>
          <p:cNvPr id="63" name="Line 63"/>
          <p:cNvSpPr/>
          <p:nvPr/>
        </p:nvSpPr>
        <p:spPr>
          <a:xfrm>
            <a:off x="645795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48BB78"/>
            </a:solidFill>
            <a:custDash>
              <a:ds d="200000" sp="200000"/>
            </a:custDash>
          </a:ln>
        </p:spPr>
      </p:sp>
      <p:sp>
        <p:nvSpPr>
          <p:cNvPr id="64" name="Polygon 64"/>
          <p:cNvSpPr/>
          <p:nvPr/>
        </p:nvSpPr>
        <p:spPr>
          <a:xfrm>
            <a:off x="681037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132320" y="3998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...</a:t>
            </a:r>
          </a:p>
        </p:txBody>
      </p:sp>
      <p:sp>
        <p:nvSpPr>
          <p:cNvPr id="66" name="Rectangle 66"/>
          <p:cNvSpPr/>
          <p:nvPr/>
        </p:nvSpPr>
        <p:spPr>
          <a:xfrm>
            <a:off x="76200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48BB78">
              <a:alpha val="20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8890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已完成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6106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00F5FF">
              <a:alpha val="2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8796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进行中</a:t>
            </a:r>
          </a:p>
        </p:txBody>
      </p:sp>
      <p:sp>
        <p:nvSpPr>
          <p:cNvPr id="70" name="Rectangle 70"/>
          <p:cNvSpPr/>
          <p:nvPr/>
        </p:nvSpPr>
        <p:spPr>
          <a:xfrm>
            <a:off x="96012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4A5568">
              <a:alpha val="50000"/>
            </a:srgbClr>
          </a:solidFill>
          <a:ln w="4762">
            <a:solidFill>
              <a:srgbClr val="4A556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8702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待解锁</a:t>
            </a:r>
          </a:p>
        </p:txBody>
      </p:sp>
      <p:sp>
        <p:nvSpPr>
          <p:cNvPr id="72" name="Rectangle 72"/>
          <p:cNvSpPr/>
          <p:nvPr/>
        </p:nvSpPr>
        <p:spPr>
          <a:xfrm>
            <a:off x="533400" y="4610100"/>
            <a:ext cx="11125200" cy="1009650"/>
          </a:xfrm>
          <a:prstGeom prst="roundRect">
            <a:avLst>
              <a:gd name="adj" fmla="val 943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13422" y="4749641"/>
            <a:ext cx="18416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FULL LIFECYCLE PROGRESS TRACKING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10565" y="49158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全生命周期进度追踪</a:t>
            </a:r>
          </a:p>
        </p:txBody>
      </p:sp>
      <p:sp>
        <p:nvSpPr>
          <p:cNvPr id="75" name="Line 75"/>
          <p:cNvSpPr/>
          <p:nvPr/>
        </p:nvSpPr>
        <p:spPr>
          <a:xfrm>
            <a:off x="723900" y="5124450"/>
            <a:ext cx="10744200" cy="9525"/>
          </a:xfrm>
          <a:custGeom>
            <a:avLst/>
            <a:gdLst/>
            <a:ahLst/>
            <a:cxnLst/>
            <a:rect l="l" t="t" r="r" b="b"/>
            <a:pathLst>
              <a:path w="10744200" h="9525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723900" y="5219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02018" y="5228749"/>
            <a:ext cx="36522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状态记录：实时同步 待开始 / 进行中 / 已完成 三种完成状态。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23900" y="54102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02018" y="5419249"/>
            <a:ext cx="3665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时效分析：记录每个环节投入时长，分析学习效率与疲劳程度。</a:t>
            </a:r>
          </a:p>
        </p:txBody>
      </p:sp>
      <p:sp>
        <p:nvSpPr>
          <p:cNvPr id="80" name="Rectangle 80"/>
          <p:cNvSpPr/>
          <p:nvPr/>
        </p:nvSpPr>
        <p:spPr>
          <a:xfrm>
            <a:off x="5715000" y="5219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893118" y="5228749"/>
            <a:ext cx="3795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闭环反馈：自评反馈结果直接作用于画像更新，实现路径自进化。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TECHNICAL MODULE 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模块五：学习效果评估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0368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基于5维度量化评估与知识点热力图，实现评估结果自动触发路径调整与画像更新的闭环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4191000" cy="4191000"/>
          </a:xfrm>
          <a:prstGeom prst="roundRect">
            <a:avLst>
              <a:gd name="adj" fmla="val 227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6711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5-DIMENSION ASSESSMENT RADAR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8660" y="1299210"/>
            <a:ext cx="16350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5维度评估量化雷达图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390650" y="1714500"/>
            <a:ext cx="2476500" cy="247650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695450" y="2019300"/>
            <a:ext cx="1866900" cy="186690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2009775" y="2333625"/>
            <a:ext cx="1238250" cy="123825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314575" y="2638425"/>
            <a:ext cx="628650" cy="62865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7" name="Line 17"/>
          <p:cNvSpPr/>
          <p:nvPr/>
        </p:nvSpPr>
        <p:spPr>
          <a:xfrm>
            <a:off x="2628900" y="171450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1238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8" name="Line 18"/>
          <p:cNvSpPr/>
          <p:nvPr/>
        </p:nvSpPr>
        <p:spPr>
          <a:xfrm>
            <a:off x="2628900" y="2409825"/>
            <a:ext cx="1171575" cy="542925"/>
          </a:xfrm>
          <a:custGeom>
            <a:avLst/>
            <a:gdLst/>
            <a:ahLst/>
            <a:cxnLst/>
            <a:rect l="l" t="t" r="r" b="b"/>
            <a:pathLst>
              <a:path w="1171575" h="542925">
                <a:moveTo>
                  <a:pt x="0" y="542925"/>
                </a:moveTo>
                <a:lnTo>
                  <a:pt x="1171575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9" name="Line 19"/>
          <p:cNvSpPr/>
          <p:nvPr/>
        </p:nvSpPr>
        <p:spPr>
          <a:xfrm>
            <a:off x="2628900" y="2952750"/>
            <a:ext cx="723900" cy="895350"/>
          </a:xfrm>
          <a:custGeom>
            <a:avLst/>
            <a:gdLst/>
            <a:ahLst/>
            <a:cxnLst/>
            <a:rect l="l" t="t" r="r" b="b"/>
            <a:pathLst>
              <a:path w="723900" h="895350">
                <a:moveTo>
                  <a:pt x="0" y="0"/>
                </a:moveTo>
                <a:lnTo>
                  <a:pt x="723900" y="8953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0" name="Line 20"/>
          <p:cNvSpPr/>
          <p:nvPr/>
        </p:nvSpPr>
        <p:spPr>
          <a:xfrm>
            <a:off x="1905000" y="2952750"/>
            <a:ext cx="723900" cy="895350"/>
          </a:xfrm>
          <a:custGeom>
            <a:avLst/>
            <a:gdLst/>
            <a:ahLst/>
            <a:cxnLst/>
            <a:rect l="l" t="t" r="r" b="b"/>
            <a:pathLst>
              <a:path w="723900" h="895350">
                <a:moveTo>
                  <a:pt x="72390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1" name="Line 21"/>
          <p:cNvSpPr/>
          <p:nvPr/>
        </p:nvSpPr>
        <p:spPr>
          <a:xfrm>
            <a:off x="1457325" y="2409825"/>
            <a:ext cx="1171575" cy="542925"/>
          </a:xfrm>
          <a:custGeom>
            <a:avLst/>
            <a:gdLst/>
            <a:ahLst/>
            <a:cxnLst/>
            <a:rect l="l" t="t" r="r" b="b"/>
            <a:pathLst>
              <a:path w="1171575" h="542925">
                <a:moveTo>
                  <a:pt x="1171575" y="54292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1743075" y="1962150"/>
            <a:ext cx="1771650" cy="1638300"/>
          </a:xfrm>
          <a:custGeom>
            <a:avLst/>
            <a:gdLst/>
            <a:ahLst/>
            <a:cxnLst/>
            <a:rect l="l" t="t" r="r" b="b"/>
            <a:pathLst>
              <a:path w="1771650" h="1638300">
                <a:moveTo>
                  <a:pt x="885825" y="0"/>
                </a:moveTo>
                <a:lnTo>
                  <a:pt x="1771650" y="542925"/>
                </a:lnTo>
                <a:lnTo>
                  <a:pt x="1457325" y="1638300"/>
                </a:lnTo>
                <a:lnTo>
                  <a:pt x="314325" y="1638300"/>
                </a:lnTo>
                <a:lnTo>
                  <a:pt x="0" y="542925"/>
                </a:lnTo>
                <a:close/>
              </a:path>
            </a:pathLst>
          </a:custGeom>
          <a:solidFill>
            <a:srgbClr val="00F5FF">
              <a:alpha val="12000"/>
            </a:srgbClr>
          </a:solidFill>
          <a:ln w="14288">
            <a:solidFill>
              <a:srgbClr val="00F5FF">
                <a:alpha val="6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317432" y="15411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知识掌握度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41445" y="22650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技能应用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55670" y="388429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学习一致性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9210" y="38842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学习效率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010" y="22650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应用能力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1857" y="2928938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SCORE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0" y="971550"/>
            <a:ext cx="6705600" cy="4191000"/>
          </a:xfrm>
          <a:prstGeom prst="roundRect">
            <a:avLst>
              <a:gd name="adj" fmla="val 227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133022" y="1130141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DIMENSION DETAILS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28260" y="12992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评估维度详情</a:t>
            </a:r>
          </a:p>
        </p:txBody>
      </p:sp>
      <p:sp>
        <p:nvSpPr>
          <p:cNvPr id="32" name="Line 32"/>
          <p:cNvSpPr/>
          <p:nvPr/>
        </p:nvSpPr>
        <p:spPr>
          <a:xfrm>
            <a:off x="5143500" y="1524000"/>
            <a:ext cx="6324600" cy="9525"/>
          </a:xfrm>
          <a:custGeom>
            <a:avLst/>
            <a:gdLst/>
            <a:ahLst/>
            <a:cxnLst/>
            <a:rect l="l" t="t" r="r" b="b"/>
            <a:pathLst>
              <a:path w="6324600" h="9525">
                <a:moveTo>
                  <a:pt x="0" y="0"/>
                </a:moveTo>
                <a:lnTo>
                  <a:pt x="63246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5143500" y="16192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143500" y="16192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03520" y="1712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知识掌握度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02568" y="1894999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基于练习批改与知识点树状热力图，精准刻画知识盲区。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143500" y="23050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ECC94B">
                <a:alpha val="40000"/>
              </a:srgbClr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143500" y="23050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303520" y="23983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学习效率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02568" y="25807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综合计算时间投入与知识获取成效比，优化学习节奏。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143500" y="29908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143500" y="29908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303520" y="30841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技能应用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02568" y="32665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评估在脑卒中临床模拟场景下的决策能力与实操水平。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143500" y="36766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5143500" y="36766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303520" y="37699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学习一致性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02568" y="39523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分析学习习惯的稳定性，识别潜在的动力衰减预警。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33400" y="5314950"/>
            <a:ext cx="11125200" cy="762000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13422" y="5454491"/>
            <a:ext cx="2331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AUTO ASSESSMENT FEEDBACK LOOP (4 STEPS)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2390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369219" y="57240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实时测验批改</a:t>
            </a:r>
          </a:p>
        </p:txBody>
      </p:sp>
      <p:sp>
        <p:nvSpPr>
          <p:cNvPr id="53" name="Line 53"/>
          <p:cNvSpPr/>
          <p:nvPr/>
        </p:nvSpPr>
        <p:spPr>
          <a:xfrm>
            <a:off x="281940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303847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310515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685461" y="57240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多维掌握度分析</a:t>
            </a:r>
          </a:p>
        </p:txBody>
      </p:sp>
      <p:sp>
        <p:nvSpPr>
          <p:cNvPr id="57" name="Line 57"/>
          <p:cNvSpPr/>
          <p:nvPr/>
        </p:nvSpPr>
        <p:spPr>
          <a:xfrm>
            <a:off x="520065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541972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48640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131719" y="57240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画像特征刷新</a:t>
            </a:r>
          </a:p>
        </p:txBody>
      </p:sp>
      <p:sp>
        <p:nvSpPr>
          <p:cNvPr id="61" name="Line 61"/>
          <p:cNvSpPr/>
          <p:nvPr/>
        </p:nvSpPr>
        <p:spPr>
          <a:xfrm>
            <a:off x="758190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780097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67650" y="5638800"/>
            <a:ext cx="2476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8638461" y="57240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路径动态重规划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系统三层解耦架构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049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采用Vue 3.5前端、WebFlux后端与FastAPI模型层架构，构建全链路SSE流式数据管道。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1104900"/>
          </a:xfrm>
          <a:prstGeom prst="roundRect">
            <a:avLst>
              <a:gd name="adj" fmla="val 862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23972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FULL-CHAIN SSE STREAMING PIPELINE (6 STEPS)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642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1. 用户输入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529" y="1606391"/>
            <a:ext cx="11155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前端 ReadableStream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179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多模态图片上传</a:t>
            </a:r>
          </a:p>
        </p:txBody>
      </p:sp>
      <p:sp>
        <p:nvSpPr>
          <p:cNvPr id="15" name="Line 15"/>
          <p:cNvSpPr/>
          <p:nvPr/>
        </p:nvSpPr>
        <p:spPr>
          <a:xfrm>
            <a:off x="21907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23145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3812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82161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2. 鉴权限流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10898" y="160639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JWT + Redisson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0137" y="1777841"/>
            <a:ext cx="989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并发信号量 Max:20</a:t>
            </a:r>
          </a:p>
        </p:txBody>
      </p:sp>
      <p:sp>
        <p:nvSpPr>
          <p:cNvPr id="21" name="Line 21"/>
          <p:cNvSpPr/>
          <p:nvPr/>
        </p:nvSpPr>
        <p:spPr>
          <a:xfrm>
            <a:off x="384810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397192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0386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789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3. 异步调用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8248" y="160639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Java WebClient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649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端到端流式链路</a:t>
            </a:r>
          </a:p>
        </p:txBody>
      </p:sp>
      <p:sp>
        <p:nvSpPr>
          <p:cNvPr id="27" name="Line 27"/>
          <p:cNvSpPr/>
          <p:nvPr/>
        </p:nvSpPr>
        <p:spPr>
          <a:xfrm>
            <a:off x="55054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56292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6959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31301" y="1443038"/>
            <a:ext cx="7961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4. 多智能体推理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07334" y="1606391"/>
            <a:ext cx="10440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LangGraph Astream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51339" y="1777841"/>
            <a:ext cx="956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thinking/token 流</a:t>
            </a:r>
          </a:p>
        </p:txBody>
      </p:sp>
      <p:sp>
        <p:nvSpPr>
          <p:cNvPr id="33" name="Line 33"/>
          <p:cNvSpPr/>
          <p:nvPr/>
        </p:nvSpPr>
        <p:spPr>
          <a:xfrm>
            <a:off x="716280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ECC94B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728662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ECC94B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3533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7936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5. 事件翻译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96700" y="160639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FastAPI 标准化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04951" y="1777841"/>
            <a:ext cx="763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Java Flux 透传</a:t>
            </a:r>
          </a:p>
        </p:txBody>
      </p:sp>
      <p:sp>
        <p:nvSpPr>
          <p:cNvPr id="39" name="Line 39"/>
          <p:cNvSpPr/>
          <p:nvPr/>
        </p:nvSpPr>
        <p:spPr>
          <a:xfrm>
            <a:off x="88201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F56565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89439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F56565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0106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45101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6. 实时渲染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04544" y="16063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Vue 3 打字机效果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4854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毫秒级响应展示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33400" y="222885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533400" y="2228850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00F5FF">
              <a:alpha val="8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66144" y="26350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LAYER 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1225" y="28284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前端交互层</a:t>
            </a:r>
          </a:p>
        </p:txBody>
      </p:sp>
      <p:sp>
        <p:nvSpPr>
          <p:cNvPr id="49" name="Line 49"/>
          <p:cNvSpPr/>
          <p:nvPr/>
        </p:nvSpPr>
        <p:spPr>
          <a:xfrm>
            <a:off x="1752600" y="2286000"/>
            <a:ext cx="9525" cy="1028700"/>
          </a:xfrm>
          <a:custGeom>
            <a:avLst/>
            <a:gdLst/>
            <a:ahLst/>
            <a:cxnLst/>
            <a:rect l="l" t="t" r="r" b="b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930718" y="2352199"/>
            <a:ext cx="56609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ReadableStream 的流式数据接收，ThinkingPanel 推理透明化展示与 Markdown 安全渲染。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0718" y="2561749"/>
            <a:ext cx="2618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技术栈：Vue 3.5 / Vite 7.1 / Pinia / Fetch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9431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229802" y="28813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Vue 3.5</a:t>
            </a:r>
          </a:p>
        </p:txBody>
      </p:sp>
      <p:sp>
        <p:nvSpPr>
          <p:cNvPr id="54" name="Rectangle 54"/>
          <p:cNvSpPr/>
          <p:nvPr/>
        </p:nvSpPr>
        <p:spPr>
          <a:xfrm>
            <a:off x="30099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281601" y="2881312"/>
            <a:ext cx="4090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Vite 7.1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0767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4430911" y="2881312"/>
            <a:ext cx="244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Pinia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1435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387697" y="2881312"/>
            <a:ext cx="4641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Fetch API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33400" y="352425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533400" y="3524250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7B61FF">
              <a:alpha val="8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66144" y="39304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LAYER 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1225" y="41238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后端服务层</a:t>
            </a:r>
          </a:p>
        </p:txBody>
      </p:sp>
      <p:sp>
        <p:nvSpPr>
          <p:cNvPr id="64" name="Line 64"/>
          <p:cNvSpPr/>
          <p:nvPr/>
        </p:nvSpPr>
        <p:spPr>
          <a:xfrm>
            <a:off x="1752600" y="3581400"/>
            <a:ext cx="9525" cy="1028700"/>
          </a:xfrm>
          <a:custGeom>
            <a:avLst/>
            <a:gdLst/>
            <a:ahLst/>
            <a:cxnLst/>
            <a:rect l="l" t="t" r="r" b="b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930718" y="3647599"/>
            <a:ext cx="4919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Spring WebFlux 异步非阻塞架构，集成 Redisson 分布式限流与 JWT 自动续期机制。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30718" y="3857149"/>
            <a:ext cx="3366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技术栈：Java 21 / Spring Boot 3.3 / Redis / WebClient</a:t>
            </a:r>
          </a:p>
        </p:txBody>
      </p:sp>
      <p:sp>
        <p:nvSpPr>
          <p:cNvPr id="67" name="Rectangle 67"/>
          <p:cNvSpPr/>
          <p:nvPr/>
        </p:nvSpPr>
        <p:spPr>
          <a:xfrm>
            <a:off x="1943100" y="41148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2325052" y="41767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Java 21</a:t>
            </a:r>
          </a:p>
        </p:txBody>
      </p:sp>
      <p:sp>
        <p:nvSpPr>
          <p:cNvPr id="69" name="Rectangle 69"/>
          <p:cNvSpPr/>
          <p:nvPr/>
        </p:nvSpPr>
        <p:spPr>
          <a:xfrm>
            <a:off x="3200400" y="4114800"/>
            <a:ext cx="1524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3577828" y="4176712"/>
            <a:ext cx="7691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Spring Boot 3.3</a:t>
            </a:r>
          </a:p>
        </p:txBody>
      </p:sp>
      <p:sp>
        <p:nvSpPr>
          <p:cNvPr id="71" name="Rectangle 71"/>
          <p:cNvSpPr/>
          <p:nvPr/>
        </p:nvSpPr>
        <p:spPr>
          <a:xfrm>
            <a:off x="4838700" y="41148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5180409" y="4176712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33400" y="4819650"/>
            <a:ext cx="11125200" cy="1219200"/>
          </a:xfrm>
          <a:prstGeom prst="roundRect">
            <a:avLst>
              <a:gd name="adj" fmla="val 7812"/>
            </a:avLst>
          </a:prstGeom>
          <a:solidFill>
            <a:srgbClr val="1A2332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533400" y="4819650"/>
            <a:ext cx="1143000" cy="1219200"/>
          </a:xfrm>
          <a:prstGeom prst="roundRect">
            <a:avLst>
              <a:gd name="adj" fmla="val 8333"/>
            </a:avLst>
          </a:prstGeom>
          <a:solidFill>
            <a:srgbClr val="48BB78">
              <a:alpha val="8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66144" y="52258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LAYER 03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1225" y="54192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模型推理层</a:t>
            </a:r>
          </a:p>
        </p:txBody>
      </p:sp>
      <p:sp>
        <p:nvSpPr>
          <p:cNvPr id="77" name="Line 77"/>
          <p:cNvSpPr/>
          <p:nvPr/>
        </p:nvSpPr>
        <p:spPr>
          <a:xfrm>
            <a:off x="1752600" y="4876800"/>
            <a:ext cx="9525" cy="1104900"/>
          </a:xfrm>
          <a:custGeom>
            <a:avLst/>
            <a:gdLst/>
            <a:ahLst/>
            <a:cxnLst/>
            <a:rect l="l" t="t" r="r" b="b"/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1930718" y="4942999"/>
            <a:ext cx="5049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LangGraph 状态机编排，支持 RAG 混合检索、意图智能分流与 8 智能体并行协同推理。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930718" y="5152549"/>
            <a:ext cx="5329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核心优势：SSEEventCache 滑动窗口缓存 + Last-Event-ID 断线续传，确保长文本稳定性。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930718" y="5362099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技术栈：Python 3.11 / FastAPI / LangGraph / ChromaDB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943100" y="56007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2262664" y="5662612"/>
            <a:ext cx="599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Python 3.11</a:t>
            </a:r>
          </a:p>
        </p:txBody>
      </p:sp>
      <p:sp>
        <p:nvSpPr>
          <p:cNvPr id="83" name="Rectangle 83"/>
          <p:cNvSpPr/>
          <p:nvPr/>
        </p:nvSpPr>
        <p:spPr>
          <a:xfrm>
            <a:off x="3295650" y="56007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3582352" y="56626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85" name="Rectangle 85"/>
          <p:cNvSpPr/>
          <p:nvPr/>
        </p:nvSpPr>
        <p:spPr>
          <a:xfrm>
            <a:off x="4362450" y="56007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4676894" y="566261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LangGraph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619750" y="56007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5951696" y="56626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ChromaDB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TECHNOLOGY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6575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核心技术：RAG混合检索与证据重排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46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结合向量与BM25混合检索、QA自动衍生引擎及多模型重排，实现精准的文献溯源与知识召回。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918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HYBRID RETRIEVAL PIPELINE (4 STEPS)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2954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42901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1. 双路并发检索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371" y="157924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ChromaDB向量 + BM25关键词</a:t>
            </a:r>
          </a:p>
        </p:txBody>
      </p:sp>
      <p:sp>
        <p:nvSpPr>
          <p:cNvPr id="14" name="Line 14"/>
          <p:cNvSpPr/>
          <p:nvPr/>
        </p:nvSpPr>
        <p:spPr>
          <a:xfrm>
            <a:off x="30099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1718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238500" y="1295400"/>
            <a:ext cx="2095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84836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2. 混合结果去重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34752" y="15792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融合召回，消除冗余</a:t>
            </a:r>
          </a:p>
        </p:txBody>
      </p:sp>
      <p:sp>
        <p:nvSpPr>
          <p:cNvPr id="19" name="Line 19"/>
          <p:cNvSpPr/>
          <p:nvPr/>
        </p:nvSpPr>
        <p:spPr>
          <a:xfrm>
            <a:off x="53340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54959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562600" y="12954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163756" y="1415891"/>
            <a:ext cx="10836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3. gte-rerank 重排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54102" y="15792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深度语义相关性评分</a:t>
            </a:r>
          </a:p>
        </p:txBody>
      </p:sp>
      <p:sp>
        <p:nvSpPr>
          <p:cNvPr id="24" name="Line 24"/>
          <p:cNvSpPr/>
          <p:nvPr/>
        </p:nvSpPr>
        <p:spPr>
          <a:xfrm>
            <a:off x="78486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0105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77200" y="1295400"/>
            <a:ext cx="24384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5851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4. 精准溯源标注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35901" y="1579245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文献名称 + 页码标签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2038350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33400" y="20383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1522" y="21778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ENHANCEMENT 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6760" y="2346960"/>
            <a:ext cx="1307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QA 自动衍生引擎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22" y="2558891"/>
            <a:ext cx="1522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Recall Boost + Auto-Labeling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274320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49618" y="2828449"/>
            <a:ext cx="3307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自动从 PDF 文档中衍生结构化问答对，并关联原文页码，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618" y="29998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解决长文本语义碎片化问题，大幅提升冷启动场景下的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9618" y="31713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知识检索召回率。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344805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9618" y="3609499"/>
            <a:ext cx="1410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检索召回率提升约 35%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67450" y="2038350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267450" y="20383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485572" y="21778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ENHANCEMENT 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80810" y="2346960"/>
            <a:ext cx="15258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多模型 Rerank 容灾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85572" y="2558891"/>
            <a:ext cx="16986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Fault Tolerance + Hybrid Models</a:t>
            </a:r>
          </a:p>
        </p:txBody>
      </p:sp>
      <p:sp>
        <p:nvSpPr>
          <p:cNvPr id="45" name="Line 45"/>
          <p:cNvSpPr/>
          <p:nvPr/>
        </p:nvSpPr>
        <p:spPr>
          <a:xfrm>
            <a:off x="6496050" y="274320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483668" y="2828449"/>
            <a:ext cx="32946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预设 4 个候选重排模型自动切换。当主模型响应异常时，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83668" y="29998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自动降级至备选模型或原始 BM25 结果，确保检索管道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83668" y="31713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的高可用性。</a:t>
            </a:r>
          </a:p>
        </p:txBody>
      </p:sp>
      <p:sp>
        <p:nvSpPr>
          <p:cNvPr id="49" name="Line 49"/>
          <p:cNvSpPr/>
          <p:nvPr/>
        </p:nvSpPr>
        <p:spPr>
          <a:xfrm>
            <a:off x="6496050" y="344805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483668" y="3609499"/>
            <a:ext cx="14240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服务可用性保障 99.9%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000500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13422" y="41400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PARALLEL RETRIEVAL • SUB-QUERY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9612" y="4298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并行检索管道</a:t>
            </a:r>
          </a:p>
        </p:txBody>
      </p:sp>
      <p:sp>
        <p:nvSpPr>
          <p:cNvPr id="54" name="Line 54"/>
          <p:cNvSpPr/>
          <p:nvPr/>
        </p:nvSpPr>
        <p:spPr>
          <a:xfrm>
            <a:off x="723900" y="451485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1518" y="460009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将复杂问题拆解为多个子意图并行检索。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1518" y="4771549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结合 MD5 键值与 300s TTL 缓存机制，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11518" y="4942999"/>
            <a:ext cx="26705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避免重复计算，显著降低首 Token 响应延迟。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1518" y="5190649"/>
            <a:ext cx="1212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响应时间降低 50%+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67450" y="4000500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447472" y="4140041"/>
            <a:ext cx="12586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LOCAL RAG + EVIDENCE TRACE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43662" y="4298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证据覆盖策略</a:t>
            </a:r>
          </a:p>
        </p:txBody>
      </p:sp>
      <p:sp>
        <p:nvSpPr>
          <p:cNvPr id="62" name="Line 62"/>
          <p:cNvSpPr/>
          <p:nvPr/>
        </p:nvSpPr>
        <p:spPr>
          <a:xfrm>
            <a:off x="6457950" y="451485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445568" y="460009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本地权威指南检索实现精准溯源，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445568" y="4771549"/>
            <a:ext cx="24690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混合检索与深度重排保障证据质量。双路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445568" y="4942999"/>
            <a:ext cx="2397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互补，构建"权威指南 + 精准溯源"闭环。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445568" y="5190649"/>
            <a:ext cx="1410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证据来源 100% 可溯源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CORE ENGINE 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48819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核心技术：八智能体协同推理与LangGraph拓扑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3489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基于LangGraph构建包含意图分类、动态编排、辩论仲裁及反思循环的复杂多智能体推理范式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781050"/>
          </a:xfrm>
          <a:prstGeom prst="roundRect">
            <a:avLst>
              <a:gd name="adj" fmla="val 1219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445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LANGGRAPH NODE TOPOLOGY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31445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00F5FF">
                <a:alpha val="7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64181" y="14173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IntentNode</a:t>
            </a:r>
          </a:p>
        </p:txBody>
      </p:sp>
      <p:sp>
        <p:nvSpPr>
          <p:cNvPr id="13" name="Line 13"/>
          <p:cNvSpPr/>
          <p:nvPr/>
        </p:nvSpPr>
        <p:spPr>
          <a:xfrm>
            <a:off x="20574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22193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13144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7B61FF">
                <a:alpha val="7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622899" y="14173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7B61FF"/>
                </a:solidFill>
                <a:latin typeface="Consolas"/>
                <a:ea typeface="Consolas"/>
                <a:cs typeface="Consolas"/>
              </a:rPr>
              <a:t>AnalysisNode</a:t>
            </a:r>
          </a:p>
        </p:txBody>
      </p:sp>
      <p:sp>
        <p:nvSpPr>
          <p:cNvPr id="17" name="Line 17"/>
          <p:cNvSpPr/>
          <p:nvPr/>
        </p:nvSpPr>
        <p:spPr>
          <a:xfrm>
            <a:off x="371475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387667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943350" y="131445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48BB78">
                <a:alpha val="7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284297" y="141732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8BB78"/>
                </a:solidFill>
                <a:latin typeface="Consolas"/>
                <a:ea typeface="Consolas"/>
                <a:cs typeface="Consolas"/>
              </a:rPr>
              <a:t>RetrieveNode</a:t>
            </a:r>
          </a:p>
        </p:txBody>
      </p:sp>
      <p:sp>
        <p:nvSpPr>
          <p:cNvPr id="21" name="Line 21"/>
          <p:cNvSpPr/>
          <p:nvPr/>
        </p:nvSpPr>
        <p:spPr>
          <a:xfrm>
            <a:off x="54102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5721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638800" y="1219200"/>
            <a:ext cx="22098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14288">
            <a:solidFill>
              <a:srgbClr val="ECC94B">
                <a:alpha val="8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02229" y="1331595"/>
            <a:ext cx="682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CC94B"/>
                </a:solidFill>
                <a:latin typeface="Consolas"/>
                <a:ea typeface="Consolas"/>
                <a:cs typeface="Consolas"/>
              </a:rPr>
              <a:t>ReasonNode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06609" y="1519238"/>
            <a:ext cx="10741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8-Agent Collaborative</a:t>
            </a:r>
          </a:p>
        </p:txBody>
      </p:sp>
      <p:sp>
        <p:nvSpPr>
          <p:cNvPr id="26" name="Line 26"/>
          <p:cNvSpPr/>
          <p:nvPr/>
        </p:nvSpPr>
        <p:spPr>
          <a:xfrm>
            <a:off x="78486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ECC94B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0105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ECC94B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77200" y="1314450"/>
            <a:ext cx="148590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F56565">
                <a:alpha val="7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442674" y="14173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56565"/>
                </a:solidFill>
                <a:latin typeface="Consolas"/>
                <a:ea typeface="Consolas"/>
                <a:cs typeface="Consolas"/>
              </a:rPr>
              <a:t>ValidateNode</a:t>
            </a:r>
          </a:p>
        </p:txBody>
      </p:sp>
      <p:sp>
        <p:nvSpPr>
          <p:cNvPr id="30" name="Line 30"/>
          <p:cNvSpPr/>
          <p:nvPr/>
        </p:nvSpPr>
        <p:spPr>
          <a:xfrm>
            <a:off x="95631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F56565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97250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F56565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9791700" y="13144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00F5FF">
                <a:alpha val="7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164604" y="1417320"/>
            <a:ext cx="682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ReportNode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33400" y="1866900"/>
            <a:ext cx="3524250" cy="430530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3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51522" y="20445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INTENT ROUTING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4855" y="225456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意图智能分流与动态编排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25527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7712" y="271700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通过 IntentNode 对用户输入进行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7712" y="298370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7类意图分类及 0.0-1.0 难度评分。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7712" y="32504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根据评分结果自动裁剪专家团队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7712" y="3517106"/>
            <a:ext cx="2226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（3-8名），实现算力按需分配。</a:t>
            </a:r>
          </a:p>
        </p:txBody>
      </p:sp>
      <p:sp>
        <p:nvSpPr>
          <p:cNvPr id="43" name="Line 43"/>
          <p:cNvSpPr/>
          <p:nvPr/>
        </p:nvSpPr>
        <p:spPr>
          <a:xfrm>
            <a:off x="762000" y="3886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51522" y="40257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分流通道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620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00F5FF">
                <a:alpha val="6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677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极速通道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7907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7B61FF">
                <a:alpha val="60000"/>
              </a:srgbClr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9964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深度推理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28194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0251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专家矩阵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343400" y="1866900"/>
            <a:ext cx="3524250" cy="430530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434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561522" y="2044541"/>
            <a:ext cx="10770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DEBATE-ARBITRATION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54855" y="2254568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辩论-仲裁质量管控</a:t>
            </a:r>
          </a:p>
        </p:txBody>
      </p:sp>
      <p:sp>
        <p:nvSpPr>
          <p:cNvPr id="55" name="Line 55"/>
          <p:cNvSpPr/>
          <p:nvPr/>
        </p:nvSpPr>
        <p:spPr>
          <a:xfrm>
            <a:off x="4572000" y="25527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4557712" y="2717006"/>
            <a:ext cx="2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在 ReasonNode 中引入多智能体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57712" y="29837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辩论模式。当存在争议观点时，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57712" y="325040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由仲裁智能体依据外部证据链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57712" y="3517106"/>
            <a:ext cx="16262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（RAG）进行裁决，有效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557712" y="378380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减少单一模型的幻觉与偏见。</a:t>
            </a:r>
          </a:p>
        </p:txBody>
      </p:sp>
      <p:sp>
        <p:nvSpPr>
          <p:cNvPr id="61" name="Line 61"/>
          <p:cNvSpPr/>
          <p:nvPr/>
        </p:nvSpPr>
        <p:spPr>
          <a:xfrm>
            <a:off x="4572000" y="41529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4561522" y="42924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裁决机制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572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4679632" y="457009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证据链裁决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5245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921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多轮辩论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446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中立仲裁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153400" y="1866900"/>
            <a:ext cx="3505200" cy="4305300"/>
          </a:xfrm>
          <a:prstGeom prst="roundRect">
            <a:avLst>
              <a:gd name="adj" fmla="val 27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815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371522" y="2044541"/>
            <a:ext cx="1324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SELF-HEALING VALIDATION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64855" y="225456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自愈式反思校验与退火</a:t>
            </a:r>
          </a:p>
        </p:txBody>
      </p:sp>
      <p:sp>
        <p:nvSpPr>
          <p:cNvPr id="73" name="Line 73"/>
          <p:cNvSpPr/>
          <p:nvPr/>
        </p:nvSpPr>
        <p:spPr>
          <a:xfrm>
            <a:off x="8382000" y="25527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8367712" y="2717006"/>
            <a:ext cx="20388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ValidateNode 执行规则引擎与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367712" y="29837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LLM双层校验。未通过时触发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7712" y="32504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退火：分类驳回原因、生成修正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367712" y="35171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提示词并衰减错误智能体权重，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367712" y="3783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开启反思重试循环。</a:t>
            </a:r>
          </a:p>
        </p:txBody>
      </p:sp>
      <p:sp>
        <p:nvSpPr>
          <p:cNvPr id="79" name="Line 79"/>
          <p:cNvSpPr/>
          <p:nvPr/>
        </p:nvSpPr>
        <p:spPr>
          <a:xfrm>
            <a:off x="8382000" y="41529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8371522" y="42924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校验层次</a:t>
            </a:r>
          </a:p>
        </p:txBody>
      </p:sp>
      <p:sp>
        <p:nvSpPr>
          <p:cNvPr id="81" name="Rectangle 81"/>
          <p:cNvSpPr/>
          <p:nvPr/>
        </p:nvSpPr>
        <p:spPr>
          <a:xfrm>
            <a:off x="8382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85496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规则引擎</a:t>
            </a:r>
          </a:p>
        </p:txBody>
      </p:sp>
      <p:sp>
        <p:nvSpPr>
          <p:cNvPr id="83" name="Rectangle 83"/>
          <p:cNvSpPr/>
          <p:nvPr/>
        </p:nvSpPr>
        <p:spPr>
          <a:xfrm>
            <a:off x="9334500" y="4495800"/>
            <a:ext cx="9525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9448276" y="457009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LLM双层校验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04013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105689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动态退火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92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TECHNICAL MODULE 016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智能体动态编排规则矩阵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43153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根据意图类型与难度评分，动态调度专家组合，实现算力与质量的最优平衡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4038600"/>
          </a:xfrm>
          <a:prstGeom prst="roundRect">
            <a:avLst>
              <a:gd name="adj" fmla="val 235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11125200" cy="457200"/>
          </a:xfrm>
          <a:prstGeom prst="roundRect">
            <a:avLst>
              <a:gd name="adj" fmla="val 20833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2532" y="1142524"/>
            <a:ext cx="5981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INTENT 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33983" y="1142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意图类型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7486" y="1142524"/>
            <a:ext cx="2523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编排专家组合 (EXPERT ORCHESTRATION)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583" y="1142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节点规模</a:t>
            </a:r>
          </a:p>
        </p:txBody>
      </p:sp>
      <p:sp>
        <p:nvSpPr>
          <p:cNvPr id="15" name="Line 15"/>
          <p:cNvSpPr/>
          <p:nvPr/>
        </p:nvSpPr>
        <p:spPr>
          <a:xfrm>
            <a:off x="20574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Line 16"/>
          <p:cNvSpPr/>
          <p:nvPr/>
        </p:nvSpPr>
        <p:spPr>
          <a:xfrm>
            <a:off x="36576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7" name="Line 17"/>
          <p:cNvSpPr/>
          <p:nvPr/>
        </p:nvSpPr>
        <p:spPr>
          <a:xfrm>
            <a:off x="105156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42925" y="144780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42925" y="1447800"/>
            <a:ext cx="47625" cy="62865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8930" y="1696402"/>
            <a:ext cx="5853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PROFILE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26030" y="16392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画像构建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60616" y="18349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0.0-0.4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71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055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14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198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特征抽取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57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41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87523" y="16154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42925" y="2095500"/>
            <a:ext cx="11106150" cy="762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42925" y="2095500"/>
            <a:ext cx="47625" cy="7620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20123" y="2420302"/>
            <a:ext cx="702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7B61FF"/>
                </a:solidFill>
                <a:latin typeface="Consolas"/>
                <a:ea typeface="Consolas"/>
                <a:cs typeface="Consolas"/>
              </a:rPr>
              <a:t>RESOURCE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26030" y="23250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资源生成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60616" y="25588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0.5-1.0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771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055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914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198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57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341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文档撰写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771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055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题目生成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914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198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057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341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87523" y="23393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42925" y="287655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542925" y="2876550"/>
            <a:ext cx="47625" cy="62865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41413" y="312515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8BB78"/>
                </a:solidFill>
                <a:latin typeface="Consolas"/>
                <a:ea typeface="Consolas"/>
                <a:cs typeface="Consolas"/>
              </a:rPr>
              <a:t>TUTOR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26030" y="30680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智能辅导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60616" y="32637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0.3-0.7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771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055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14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198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57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41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200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484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887523" y="30441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42925" y="3524250"/>
            <a:ext cx="11106150" cy="762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542925" y="3524250"/>
            <a:ext cx="47625" cy="762000"/>
          </a:xfrm>
          <a:prstGeom prst="rect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115685" y="3849052"/>
            <a:ext cx="511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CC94B"/>
                </a:solidFill>
                <a:latin typeface="Consolas"/>
                <a:ea typeface="Consolas"/>
                <a:cs typeface="Consolas"/>
              </a:rPr>
              <a:t>ASSESS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26030" y="37538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学习评估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60616" y="39876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0.4-0.8</a:t>
            </a:r>
          </a:p>
        </p:txBody>
      </p:sp>
      <p:sp>
        <p:nvSpPr>
          <p:cNvPr id="67" name="Rectangle 67"/>
          <p:cNvSpPr/>
          <p:nvPr/>
        </p:nvSpPr>
        <p:spPr>
          <a:xfrm>
            <a:off x="3771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4055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特征抽取</a:t>
            </a:r>
          </a:p>
        </p:txBody>
      </p:sp>
      <p:sp>
        <p:nvSpPr>
          <p:cNvPr id="69" name="Rectangle 69"/>
          <p:cNvSpPr/>
          <p:nvPr/>
        </p:nvSpPr>
        <p:spPr>
          <a:xfrm>
            <a:off x="4914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5198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057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341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题目生成</a:t>
            </a:r>
          </a:p>
        </p:txBody>
      </p:sp>
      <p:sp>
        <p:nvSpPr>
          <p:cNvPr id="73" name="Rectangle 73"/>
          <p:cNvSpPr/>
          <p:nvPr/>
        </p:nvSpPr>
        <p:spPr>
          <a:xfrm>
            <a:off x="3771900" y="39338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055745" y="39971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75" name="Rectangle 75"/>
          <p:cNvSpPr/>
          <p:nvPr/>
        </p:nvSpPr>
        <p:spPr>
          <a:xfrm>
            <a:off x="4914900" y="39338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5198745" y="39971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87523" y="37680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42925" y="430530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79" name="Rectangle 79"/>
          <p:cNvSpPr/>
          <p:nvPr/>
        </p:nvSpPr>
        <p:spPr>
          <a:xfrm>
            <a:off x="542925" y="4305300"/>
            <a:ext cx="47625" cy="628650"/>
          </a:xfrm>
          <a:prstGeom prst="rect">
            <a:avLst/>
          </a:prstGeom>
          <a:solidFill>
            <a:srgbClr val="F56565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196545" y="4553902"/>
            <a:ext cx="350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56565"/>
                </a:solidFill>
                <a:latin typeface="Consolas"/>
                <a:ea typeface="Consolas"/>
                <a:cs typeface="Consolas"/>
              </a:rPr>
              <a:t>PATH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526030" y="44967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360616" y="46924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0.3-0.6</a:t>
            </a:r>
          </a:p>
        </p:txBody>
      </p:sp>
      <p:sp>
        <p:nvSpPr>
          <p:cNvPr id="83" name="Rectangle 83"/>
          <p:cNvSpPr/>
          <p:nvPr/>
        </p:nvSpPr>
        <p:spPr>
          <a:xfrm>
            <a:off x="3771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4055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85" name="Rectangle 85"/>
          <p:cNvSpPr/>
          <p:nvPr/>
        </p:nvSpPr>
        <p:spPr>
          <a:xfrm>
            <a:off x="4914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5198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057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6341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89" name="Rectangle 89"/>
          <p:cNvSpPr/>
          <p:nvPr/>
        </p:nvSpPr>
        <p:spPr>
          <a:xfrm>
            <a:off x="7200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7484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7523" y="44729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92" name="Rectangle 92"/>
          <p:cNvSpPr/>
          <p:nvPr/>
        </p:nvSpPr>
        <p:spPr>
          <a:xfrm>
            <a:off x="533400" y="5162550"/>
            <a:ext cx="11125200" cy="1009650"/>
          </a:xfrm>
          <a:prstGeom prst="roundRect">
            <a:avLst>
              <a:gd name="adj" fmla="val 9434"/>
            </a:avLst>
          </a:prstGeom>
          <a:solidFill>
            <a:srgbClr val="1A2332"/>
          </a:solidFill>
          <a:ln w="9525">
            <a:solidFill>
              <a:srgbClr val="ECC94B">
                <a:alpha val="40000"/>
              </a:srgbClr>
            </a:solidFill>
          </a:ln>
        </p:spPr>
      </p:sp>
      <p:sp>
        <p:nvSpPr>
          <p:cNvPr id="93" name="Rectangle 93"/>
          <p:cNvSpPr/>
          <p:nvPr/>
        </p:nvSpPr>
        <p:spPr>
          <a:xfrm>
            <a:off x="533400" y="5162550"/>
            <a:ext cx="47625" cy="10096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51522" y="5302091"/>
            <a:ext cx="24742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DYNAMIC EXPANSION RULE — ARBITRATION TRIGGER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48665" y="55064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动态扩展规则</a:t>
            </a:r>
          </a:p>
        </p:txBody>
      </p:sp>
      <p:sp>
        <p:nvSpPr>
          <p:cNvPr id="96" name="Line 96"/>
          <p:cNvSpPr/>
          <p:nvPr/>
        </p:nvSpPr>
        <p:spPr>
          <a:xfrm>
            <a:off x="762000" y="5715000"/>
            <a:ext cx="10706100" cy="9525"/>
          </a:xfrm>
          <a:custGeom>
            <a:avLst/>
            <a:gdLst/>
            <a:ahLst/>
            <a:cxnLst/>
            <a:rect l="l" t="t" r="r" b="b"/>
            <a:pathLst>
              <a:path w="10706100" h="9525">
                <a:moveTo>
                  <a:pt x="0" y="0"/>
                </a:moveTo>
                <a:lnTo>
                  <a:pt x="1070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749618" y="5800249"/>
            <a:ext cx="6317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当辩论模式开启且系统评估的任务难度评分 ≥ 0.6 时，仲裁智能体 (Arbitration Agent) 将自动加入工作流，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9618" y="597169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依据证据链对专家争议观点进行最终裁决。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981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INNOVATION HIGHLIGHTS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九大创新亮点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3665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核心技术突破与教育范式革新：驱动个性化学习体验跨越式升级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HIGHLIGHT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13073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证据驱动教育推理范式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15240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618" y="1609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打破知识幻觉，模型生成前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17806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强制依赖外部专业知识库。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2330291"/>
            <a:ext cx="1324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EVIDENCE-FIRST PARADIGM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43400" y="9715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4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56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HIGHLIGHT 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7712" y="130730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辩论-仲裁质量管控</a:t>
            </a:r>
          </a:p>
        </p:txBody>
      </p:sp>
      <p:sp>
        <p:nvSpPr>
          <p:cNvPr id="21" name="Line 21"/>
          <p:cNvSpPr/>
          <p:nvPr/>
        </p:nvSpPr>
        <p:spPr>
          <a:xfrm>
            <a:off x="4572000" y="15240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559618" y="1609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多专家并行推理与动态退火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9618" y="17806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反思，确保医学内容严谨性。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1522" y="2330291"/>
            <a:ext cx="12531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DEBATE-ARBITRATION QC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53400" y="9715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15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7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HIGHLIGHT 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7712" y="1307306"/>
            <a:ext cx="15328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对话式8维度动态画像</a:t>
            </a:r>
          </a:p>
        </p:txBody>
      </p:sp>
      <p:sp>
        <p:nvSpPr>
          <p:cNvPr id="29" name="Line 29"/>
          <p:cNvSpPr/>
          <p:nvPr/>
        </p:nvSpPr>
        <p:spPr>
          <a:xfrm>
            <a:off x="8382000" y="15240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69618" y="16092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超越赛题要求，实现认知风格、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17806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临床经验等全方位刻画。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1522" y="233029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8-DIM CONVERSATIONAL PROFILE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27241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3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HIGHLIGHT 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712" y="30599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极速通道与深度双路径</a:t>
            </a:r>
          </a:p>
        </p:txBody>
      </p:sp>
      <p:sp>
        <p:nvSpPr>
          <p:cNvPr id="37" name="Line 37"/>
          <p:cNvSpPr/>
          <p:nvPr/>
        </p:nvSpPr>
        <p:spPr>
          <a:xfrm>
            <a:off x="762000" y="32766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49618" y="3361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意图智能分流，兼顾基础知识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618" y="3533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秒回与复杂需求深度推理。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522" y="4082891"/>
            <a:ext cx="11981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DUAL-CHANNEL ROUTING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43400" y="27241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434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56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HIGHLIGHT 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57712" y="305990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学习激励与情感陪伴</a:t>
            </a:r>
          </a:p>
        </p:txBody>
      </p:sp>
      <p:sp>
        <p:nvSpPr>
          <p:cNvPr id="45" name="Line 45"/>
          <p:cNvSpPr/>
          <p:nvPr/>
        </p:nvSpPr>
        <p:spPr>
          <a:xfrm>
            <a:off x="4572000" y="32766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4559618" y="3361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基于情绪状态维度适时介入，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9618" y="3533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实现从知识传递到情感陪伴。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1522" y="4082891"/>
            <a:ext cx="18141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EMOTIONAL COMPANION MECHANISM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153400" y="27241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15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37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HIGHLIGHT 06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67712" y="30599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五维学习闭环生态</a:t>
            </a:r>
          </a:p>
        </p:txBody>
      </p:sp>
      <p:sp>
        <p:nvSpPr>
          <p:cNvPr id="53" name="Line 53"/>
          <p:cNvSpPr/>
          <p:nvPr/>
        </p:nvSpPr>
        <p:spPr>
          <a:xfrm>
            <a:off x="8382000" y="32766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369618" y="33618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画像-资源-路径-评估-反馈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69618" y="3533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形成持续进化的学习全链路。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71522" y="408289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5-DIM LEARNING LOOP ECOSYSTEM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33400" y="44767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3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HIGHLIGHT 07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7712" y="4812506"/>
            <a:ext cx="15565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智能体共享记忆系统</a:t>
            </a:r>
          </a:p>
        </p:txBody>
      </p:sp>
      <p:sp>
        <p:nvSpPr>
          <p:cNvPr id="61" name="Line 61"/>
          <p:cNvSpPr/>
          <p:nvPr/>
        </p:nvSpPr>
        <p:spPr>
          <a:xfrm>
            <a:off x="762000" y="5029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749618" y="5114449"/>
            <a:ext cx="1649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信任加权共识与元记忆熵过滤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49618" y="52858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沉淀群体教学经验。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1522" y="5835491"/>
            <a:ext cx="1594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SHARED MEMORY CONSENSUS</a:t>
            </a:r>
          </a:p>
        </p:txBody>
      </p:sp>
      <p:sp>
        <p:nvSpPr>
          <p:cNvPr id="65" name="Rectangle 65"/>
          <p:cNvSpPr/>
          <p:nvPr/>
        </p:nvSpPr>
        <p:spPr>
          <a:xfrm>
            <a:off x="4343400" y="44767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434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456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HIGHLIGHT 08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557712" y="48125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医学代码辅助开发能力</a:t>
            </a:r>
          </a:p>
        </p:txBody>
      </p:sp>
      <p:sp>
        <p:nvSpPr>
          <p:cNvPr id="69" name="Line 69"/>
          <p:cNvSpPr/>
          <p:nvPr/>
        </p:nvSpPr>
        <p:spPr>
          <a:xfrm>
            <a:off x="4572000" y="5029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4559618" y="51144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融合理论与实操，培养医学生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559618" y="52858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临床数据分析编程素养。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61522" y="583549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MEDICAL CODE ASSISTANT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153400" y="44767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815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37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HIGHLIGHT 09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7712" y="481250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全配置化高扩展架构</a:t>
            </a:r>
          </a:p>
        </p:txBody>
      </p:sp>
      <p:sp>
        <p:nvSpPr>
          <p:cNvPr id="77" name="Line 77"/>
          <p:cNvSpPr/>
          <p:nvPr/>
        </p:nvSpPr>
        <p:spPr>
          <a:xfrm>
            <a:off x="8382000" y="50292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8369618" y="5114449"/>
            <a:ext cx="16369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YAML驱动专家矩阵与规则，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369618" y="52858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支持快速跨学科场景迁移。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371522" y="5835491"/>
            <a:ext cx="15666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YAML-DRIVEN EXTENSIBLE ARCH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REQUIREMENTS COMPLIANCE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赛题要求达成情况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85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对标赛题各项要求，全面超额完成基础指标，并额外实现多模态、共享记忆、代码辅助等亮点。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23900" y="10668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ECC94B">
              <a:alpha val="15000"/>
            </a:srgbClr>
          </a:solidFill>
          <a:ln w="4762">
            <a:solidFill>
              <a:srgbClr val="ECC94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1494" y="11206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超额完成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1165" y="10963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动态学习画像构建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518" y="1361599"/>
            <a:ext cx="4744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对话式特征抽取，实现 8 维度画像（超额完成赛题 6 维度要求），支持随学随新。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55429" y="1219200"/>
            <a:ext cx="3681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8&gt;6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175260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33400" y="17526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23900" y="184785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1494" y="190166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1165" y="18773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多智能体架构设计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1518" y="2142649"/>
            <a:ext cx="4477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编排 8 个专业智能体，引入辩论-仲裁与动态退火反思机制。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80255" y="203263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5336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33400" y="25336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23900" y="26289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1494" y="26827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01165" y="265842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个性化资源生成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518" y="2923699"/>
            <a:ext cx="4477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生成 7 类资源（含代码实操），支持入门/中级/进阶难度自适应与质量审核。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80255" y="28136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33400" y="331470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33400" y="33147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23900" y="340995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01494" y="346376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01165" y="34394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路径规划与评估闭环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1518" y="3704749"/>
            <a:ext cx="44908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5-15 步动态路径，5 维度量化评估驱动画像更新，形成完整的学习反馈闭环。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80255" y="359473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40957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33400" y="40957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23900" y="41910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1494" y="42448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01165" y="4220528"/>
            <a:ext cx="10484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RAG 与流式交互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1518" y="4485799"/>
            <a:ext cx="4640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+ QA 衍生引擎，全链路 SSE 流式管道，支持实时 Thinking 推理展示。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80255" y="43757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33400" y="4876800"/>
            <a:ext cx="539115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533400" y="48768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23900" y="497205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0F5FF">
              <a:alpha val="1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77734" y="5025866"/>
            <a:ext cx="8353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额外亮点 PLUS+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05965" y="500157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多模态影像识别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1518" y="5266849"/>
            <a:ext cx="42112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集成 qwen-vl-max，支持 CT 影像识别、检验报告解析及多图联合分析。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267450" y="4876800"/>
            <a:ext cx="539115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267450" y="48768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457950" y="497205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7B61FF">
              <a:alpha val="10000"/>
            </a:srgbClr>
          </a:solidFill>
          <a:ln w="4762">
            <a:solidFill>
              <a:srgbClr val="7B61F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611784" y="5025866"/>
            <a:ext cx="8353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额外亮点 PLUS+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40015" y="5001578"/>
            <a:ext cx="11734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智能体共享记忆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445568" y="5266849"/>
            <a:ext cx="39772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ChromaDB 记忆存储与信任加权共识，跨会话沉淀经验形成群体智能。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33400" y="569595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11518" y="5838349"/>
            <a:ext cx="74356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系统不仅完美契合赛题各项功能与性能指标，更在医学专业性、循证严谨性及多模态交互方面展现了显著的工程深度与创新价值。</a:t>
            </a:r>
          </a:p>
        </p:txBody>
      </p:sp>
      <p:sp>
        <p:nvSpPr>
          <p:cNvPr id="58" name="Line 58"/>
          <p:cNvSpPr/>
          <p:nvPr/>
        </p:nvSpPr>
        <p:spPr>
          <a:xfrm>
            <a:off x="8382000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9" name="Line 59"/>
          <p:cNvSpPr/>
          <p:nvPr/>
        </p:nvSpPr>
        <p:spPr>
          <a:xfrm>
            <a:off x="9906000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483785" y="5838349"/>
            <a:ext cx="9394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100% 要求达成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50504" y="5838349"/>
            <a:ext cx="1034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3+ 额外创新维度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STRATEGIC VALUE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应用价值与落地前景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3554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面向高校个性化学习、医学专项教育及跨学科推广，提供具有技术示范意义的智能教育范本。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00F5FF">
                <a:alpha val="3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00F5F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24190" y="11087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高校个性化学习平台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409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11518" y="1513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覆盖学习全生命周期，显著提升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518" y="16854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自主学习效率与教学质量。</a:t>
            </a:r>
          </a:p>
        </p:txBody>
      </p:sp>
      <p:sp>
        <p:nvSpPr>
          <p:cNvPr id="15" name="Line 15"/>
          <p:cNvSpPr/>
          <p:nvPr/>
        </p:nvSpPr>
        <p:spPr>
          <a:xfrm>
            <a:off x="723900" y="19240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2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02018" y="20283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千人千面：基于8维度画像动态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1997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适配资源与路径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02018" y="2390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减负增效：自动化生成高质量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18" y="25617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练习与教学课件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" y="28194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40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智能教育核心引擎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43400" y="971550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7B61FF">
                <a:alpha val="30000"/>
              </a:srgb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343400" y="97155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7B61FF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418201" y="11087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医学教育专项应用</a:t>
            </a:r>
          </a:p>
        </p:txBody>
      </p:sp>
      <p:sp>
        <p:nvSpPr>
          <p:cNvPr id="28" name="Line 28"/>
          <p:cNvSpPr/>
          <p:nvPr/>
        </p:nvSpPr>
        <p:spPr>
          <a:xfrm>
            <a:off x="4533900" y="1409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21518" y="151399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以脑卒中为示范，贯通"理论学习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1518" y="168544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-临床思维-证据支撑"全链路。</a:t>
            </a:r>
          </a:p>
        </p:txBody>
      </p:sp>
      <p:sp>
        <p:nvSpPr>
          <p:cNvPr id="31" name="Line 31"/>
          <p:cNvSpPr/>
          <p:nvPr/>
        </p:nvSpPr>
        <p:spPr>
          <a:xfrm>
            <a:off x="4533900" y="19240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53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712018" y="20283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循证支撑：8级证据等级排序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12018" y="21997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确保医学严谨性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3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12018" y="239029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多模态解析：CT影像与检验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12018" y="25617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报告智能结构化辅助</a:t>
            </a:r>
          </a:p>
        </p:txBody>
      </p:sp>
      <p:sp>
        <p:nvSpPr>
          <p:cNvPr id="38" name="Line 38"/>
          <p:cNvSpPr/>
          <p:nvPr/>
        </p:nvSpPr>
        <p:spPr>
          <a:xfrm>
            <a:off x="4533900" y="28194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53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21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临床思维深度训练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153400" y="971550"/>
            <a:ext cx="350520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48BB78">
                <a:alpha val="30000"/>
              </a:srgbClr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8153400" y="971550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48BB78">
              <a:alpha val="8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02686" y="11087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跨学科迁移推广</a:t>
            </a:r>
          </a:p>
        </p:txBody>
      </p:sp>
      <p:sp>
        <p:nvSpPr>
          <p:cNvPr id="44" name="Line 44"/>
          <p:cNvSpPr/>
          <p:nvPr/>
        </p:nvSpPr>
        <p:spPr>
          <a:xfrm>
            <a:off x="8343900" y="140970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331518" y="15139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模块化与全配置化架构，支持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31518" y="16854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低成本迁移至多元教育场景。</a:t>
            </a:r>
          </a:p>
        </p:txBody>
      </p:sp>
      <p:sp>
        <p:nvSpPr>
          <p:cNvPr id="47" name="Line 47"/>
          <p:cNvSpPr/>
          <p:nvPr/>
        </p:nvSpPr>
        <p:spPr>
          <a:xfrm>
            <a:off x="8343900" y="19240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34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522018" y="20283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快速部署：更换知识库即可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22018" y="21997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适配法律、工程等领域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34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522018" y="2390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配置驱动：意图专家映射、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22018" y="25617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退火因子均可灵活调整</a:t>
            </a:r>
          </a:p>
        </p:txBody>
      </p:sp>
      <p:sp>
        <p:nvSpPr>
          <p:cNvPr id="54" name="Line 54"/>
          <p:cNvSpPr/>
          <p:nvPr/>
        </p:nvSpPr>
        <p:spPr>
          <a:xfrm>
            <a:off x="8343900" y="281940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834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02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高可扩展行业方案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33400" y="3886200"/>
            <a:ext cx="5391150" cy="1562100"/>
          </a:xfrm>
          <a:prstGeom prst="roundRect">
            <a:avLst>
              <a:gd name="adj" fmla="val 609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13422" y="4025741"/>
            <a:ext cx="1616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MEDICAL INFORMATICS LITERACY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8660" y="41948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医学信息素养培养</a:t>
            </a:r>
          </a:p>
        </p:txBody>
      </p:sp>
      <p:sp>
        <p:nvSpPr>
          <p:cNvPr id="60" name="Line 60"/>
          <p:cNvSpPr/>
          <p:nvPr/>
        </p:nvSpPr>
        <p:spPr>
          <a:xfrm>
            <a:off x="723900" y="441960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11518" y="4504849"/>
            <a:ext cx="43998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独创"理论+编程"融合模式，助力医学生掌握数据分析与临床决策代码能力。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2470" y="4798695"/>
            <a:ext cx="2561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代码沙箱安全调试环境 / 临床决策支持代码生成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2470" y="4970145"/>
            <a:ext cx="2681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医学影像语义识别编程 / 数据驱动的科研素养提升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67450" y="3886200"/>
            <a:ext cx="5391150" cy="1562100"/>
          </a:xfrm>
          <a:prstGeom prst="roundRect">
            <a:avLst>
              <a:gd name="adj" fmla="val 609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447472" y="4025741"/>
            <a:ext cx="19461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ARCHITECTURE SIGNIFICANCE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442710" y="41948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技术架构示范意义</a:t>
            </a:r>
          </a:p>
        </p:txBody>
      </p:sp>
      <p:sp>
        <p:nvSpPr>
          <p:cNvPr id="67" name="Line 67"/>
          <p:cNvSpPr/>
          <p:nvPr/>
        </p:nvSpPr>
        <p:spPr>
          <a:xfrm>
            <a:off x="6457950" y="441960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445568" y="4504849"/>
            <a:ext cx="3619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为生产级智能教育系统提供"三层解耦+流式交互"的标准范本。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446520" y="4798695"/>
            <a:ext cx="2381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全链路SSE：毫秒级响应，显著提升交互体验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46520" y="4970145"/>
            <a:ext cx="2417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LangGraph编排：解决复杂任务的长链条推理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33400" y="5600700"/>
            <a:ext cx="11125200" cy="476250"/>
          </a:xfrm>
          <a:prstGeom prst="roundRect">
            <a:avLst>
              <a:gd name="adj" fmla="val 20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4367403" y="5876449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RAG 混合检索 / 多智能体协同 / 流式数据管道 / 多模态分析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6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61FF">
                  <a:alpha val="8000"/>
                </a:srgbClr>
              </a:gs>
              <a:gs pos="100000">
                <a:srgbClr val="7B61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6" name="Line 6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33400" y="1333500"/>
            <a:ext cx="28575" cy="4191000"/>
          </a:xfrm>
          <a:prstGeom prst="rect">
            <a:avLst/>
          </a:prstGeom>
          <a:solidFill>
            <a:srgbClr val="00F5FF">
              <a:alpha val="5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75322" y="1911191"/>
            <a:ext cx="15996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Q &amp; A • DISCUSSION • FEEDBACK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220" y="2274570"/>
            <a:ext cx="384202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gradFill>
                  <a:gsLst>
                    <a:gs pos="0">
                      <a:srgbClr val="00F5FF"/>
                    </a:gs>
                    <a:gs pos="100000">
                      <a:srgbClr val="7B61FF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3152775"/>
            <a:ext cx="1068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致谢与 Q&amp;A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0560" y="3451860"/>
            <a:ext cx="6511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感谢评审专家的倾听，欢迎就LearnAgent系统的技术细节、工程实现与应用场景进行交流。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3848100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0" y="0"/>
                </a:moveTo>
                <a:lnTo>
                  <a:pt x="7315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512" y="3974306"/>
            <a:ext cx="40790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欢迎各位专家就系统架构、算法设计及行业落地提出宝贵意见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5322" y="4368641"/>
            <a:ext cx="11430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RECOMMENDED TOPICS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45720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85800" y="4572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4870" y="4684395"/>
            <a:ext cx="904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架构与流式通信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4870" y="4855845"/>
            <a:ext cx="20211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探讨 WebFlux 与 SSE 结合的高并发、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870" y="50272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全链路流式数据管道实现。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6775" y="5195888"/>
            <a:ext cx="1624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WebFlux • SSE • High Concurrency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67200" y="45720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267200" y="4572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46270" y="4684395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多智能体拓扑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6270" y="4855845"/>
            <a:ext cx="1769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的辩论仲裁机制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46270" y="50272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与动态退火反思循环细节。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48175" y="5195888"/>
            <a:ext cx="15192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LangGraph • Debate • Annealing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85800" y="54483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85800" y="54483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4870" y="5560695"/>
            <a:ext cx="7726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循证医学 RAG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4870" y="573214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BM25+向量双路召回、语义重排序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4870" y="590359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与精准文献溯源标注的策略。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775" y="6072188"/>
            <a:ext cx="13192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Hybrid RAG • BM25 • Rerank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267200" y="54483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ECC94B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4267200" y="54483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446270" y="55606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个性化闭环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46270" y="5732145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8维度动态画像构建与评估驱动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46270" y="59035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的学习路径自动更新机制。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48175" y="6072188"/>
            <a:ext cx="15742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Dynamic Profile • Path Evolution</a:t>
            </a:r>
          </a:p>
        </p:txBody>
      </p:sp>
      <p:sp>
        <p:nvSpPr>
          <p:cNvPr id="41" name="Ellipse 41"/>
          <p:cNvSpPr/>
          <p:nvPr/>
        </p:nvSpPr>
        <p:spPr>
          <a:xfrm>
            <a:off x="9144000" y="2667000"/>
            <a:ext cx="1524000" cy="1524000"/>
          </a:xfrm>
          <a:prstGeom prst="ellipse">
            <a:avLst/>
          </a:prstGeom>
          <a:noFill/>
          <a:ln w="9525">
            <a:solidFill>
              <a:srgbClr val="00F5FF">
                <a:alpha val="12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8763000" y="2286000"/>
            <a:ext cx="2286000" cy="2286000"/>
          </a:xfrm>
          <a:prstGeom prst="ellipse">
            <a:avLst/>
          </a:prstGeom>
          <a:noFill/>
          <a:ln w="4762">
            <a:solidFill>
              <a:srgbClr val="00F5FF">
                <a:alpha val="8000"/>
              </a:srgbClr>
            </a:solidFill>
          </a:ln>
        </p:spPr>
      </p:sp>
      <p:sp>
        <p:nvSpPr>
          <p:cNvPr id="43" name="Ellipse 43"/>
          <p:cNvSpPr/>
          <p:nvPr/>
        </p:nvSpPr>
        <p:spPr>
          <a:xfrm>
            <a:off x="9829800" y="3352800"/>
            <a:ext cx="152400" cy="152400"/>
          </a:xfrm>
          <a:prstGeom prst="ellipse">
            <a:avLst/>
          </a:prstGeom>
          <a:solidFill>
            <a:srgbClr val="00F5FF">
              <a:alpha val="30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9867900" y="2247900"/>
            <a:ext cx="76200" cy="76200"/>
          </a:xfrm>
          <a:prstGeom prst="ellipse">
            <a:avLst/>
          </a:prstGeom>
          <a:solidFill>
            <a:srgbClr val="7B61FF">
              <a:alpha val="40000"/>
            </a:srgb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1020425" y="2828925"/>
            <a:ext cx="57150" cy="5715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8724900" y="4533900"/>
            <a:ext cx="76200" cy="76200"/>
          </a:xfrm>
          <a:prstGeom prst="ellipse">
            <a:avLst/>
          </a:prstGeom>
          <a:solidFill>
            <a:srgbClr val="48BB78">
              <a:alpha val="40000"/>
            </a:srgb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11210925" y="4162425"/>
            <a:ext cx="57150" cy="57150"/>
          </a:xfrm>
          <a:prstGeom prst="ellipse">
            <a:avLst/>
          </a:prstGeom>
          <a:solidFill>
            <a:srgbClr val="7B61FF">
              <a:alpha val="40000"/>
            </a:srgbClr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9906000" y="1905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76200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00F5FF">
                <a:alpha val="20000"/>
              </a:srgbClr>
            </a:solidFill>
            <a:custDash>
              <a:ds d="600000" sp="1000000"/>
            </a:custDash>
          </a:ln>
        </p:spPr>
      </p:sp>
      <p:sp>
        <p:nvSpPr>
          <p:cNvPr id="49" name="Line 49"/>
          <p:cNvSpPr/>
          <p:nvPr/>
        </p:nvSpPr>
        <p:spPr>
          <a:xfrm>
            <a:off x="9906000" y="4191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4762">
            <a:solidFill>
              <a:srgbClr val="7B61FF">
                <a:alpha val="20000"/>
              </a:srgbClr>
            </a:solidFill>
            <a:custDash>
              <a:ds d="600000" sp="1000000"/>
            </a:custDash>
          </a:ln>
        </p:spPr>
      </p:sp>
      <p:sp>
        <p:nvSpPr>
          <p:cNvPr id="50" name="Line 50"/>
          <p:cNvSpPr/>
          <p:nvPr/>
        </p:nvSpPr>
        <p:spPr>
          <a:xfrm>
            <a:off x="8382000" y="3429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00F5FF">
                <a:alpha val="15000"/>
              </a:srgbClr>
            </a:solidFill>
            <a:custDash>
              <a:ds d="600000" sp="1000000"/>
            </a:custDash>
          </a:ln>
        </p:spPr>
      </p:sp>
      <p:sp>
        <p:nvSpPr>
          <p:cNvPr id="51" name="Line 51"/>
          <p:cNvSpPr/>
          <p:nvPr/>
        </p:nvSpPr>
        <p:spPr>
          <a:xfrm>
            <a:off x="10668000" y="3429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00F5FF">
                <a:alpha val="15000"/>
              </a:srgbClr>
            </a:solidFill>
            <a:custDash>
              <a:ds d="600000" sp="1000000"/>
            </a:custDash>
          </a:ln>
        </p:spPr>
      </p:sp>
      <p:sp>
        <p:nvSpPr>
          <p:cNvPr id="52" name="TextBox 52"/>
          <p:cNvSpPr txBox="1"/>
          <p:nvPr/>
        </p:nvSpPr>
        <p:spPr>
          <a:xfrm>
            <a:off x="9507617" y="36966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5322" y="6578441"/>
            <a:ext cx="38274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第十五届"中国软件杯"参赛团队 • LearnAgent v1.0.4-Stable • 2026-06-19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451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2026-06-23T13:35:16Z</dcterms:created>
  <dcterms:modified xsi:type="dcterms:W3CDTF">2026-06-23T13:35:16Z</dcterms:modified>
  <cp:category/>
  <cp:contentStatus/>
</cp:coreProperties>
</file>