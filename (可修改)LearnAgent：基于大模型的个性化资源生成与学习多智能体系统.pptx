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Noto Sans SC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image" Target="../media/image-3-40.png"/><Relationship Id="rId41" Type="http://schemas.openxmlformats.org/officeDocument/2006/relationships/image" Target="../media/image-3-41.png"/><Relationship Id="rId42" Type="http://schemas.openxmlformats.org/officeDocument/2006/relationships/image" Target="../media/image-3-42.png"/><Relationship Id="rId43" Type="http://schemas.openxmlformats.org/officeDocument/2006/relationships/image" Target="../media/image-3-43.png"/><Relationship Id="rId44" Type="http://schemas.openxmlformats.org/officeDocument/2006/relationships/image" Target="../media/image-3-44.png"/><Relationship Id="rId45" Type="http://schemas.openxmlformats.org/officeDocument/2006/relationships/image" Target="../media/image-3-45.png"/><Relationship Id="rId46" Type="http://schemas.openxmlformats.org/officeDocument/2006/relationships/image" Target="../media/image-3-46.png"/><Relationship Id="rId47" Type="http://schemas.openxmlformats.org/officeDocument/2006/relationships/image" Target="../media/image-3-47.png"/><Relationship Id="rId48" Type="http://schemas.openxmlformats.org/officeDocument/2006/relationships/image" Target="../media/image-3-48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png"/><Relationship Id="rId41" Type="http://schemas.openxmlformats.org/officeDocument/2006/relationships/image" Target="../media/image-4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image" Target="../media/image-6-34.png"/><Relationship Id="rId35" Type="http://schemas.openxmlformats.org/officeDocument/2006/relationships/image" Target="../media/image-6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pn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png"/><Relationship Id="rId33" Type="http://schemas.openxmlformats.org/officeDocument/2006/relationships/image" Target="../media/image-11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pn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png"/><Relationship Id="rId29" Type="http://schemas.openxmlformats.org/officeDocument/2006/relationships/image" Target="../media/image-13-29.png"/><Relationship Id="rId30" Type="http://schemas.openxmlformats.org/officeDocument/2006/relationships/image" Target="../media/image-13-30.png"/><Relationship Id="rId31" Type="http://schemas.openxmlformats.org/officeDocument/2006/relationships/image" Target="../media/image-13-31.png"/><Relationship Id="rId32" Type="http://schemas.openxmlformats.org/officeDocument/2006/relationships/image" Target="../media/image-13-32.png"/><Relationship Id="rId33" Type="http://schemas.openxmlformats.org/officeDocument/2006/relationships/image" Target="../media/image-13-33.png"/><Relationship Id="rId34" Type="http://schemas.openxmlformats.org/officeDocument/2006/relationships/image" Target="../media/image-13-34.png"/><Relationship Id="rId35" Type="http://schemas.openxmlformats.org/officeDocument/2006/relationships/image" Target="../media/image-13-35.png"/><Relationship Id="rId36" Type="http://schemas.openxmlformats.org/officeDocument/2006/relationships/image" Target="../media/image-13-36.png"/><Relationship Id="rId37" Type="http://schemas.openxmlformats.org/officeDocument/2006/relationships/image" Target="../media/image-13-37.png"/><Relationship Id="rId38" Type="http://schemas.openxmlformats.org/officeDocument/2006/relationships/image" Target="../media/image-13-38.png"/><Relationship Id="rId39" Type="http://schemas.openxmlformats.org/officeDocument/2006/relationships/image" Target="../media/image-13-39.png"/><Relationship Id="rId40" Type="http://schemas.openxmlformats.org/officeDocument/2006/relationships/image" Target="../media/image-13-40.png"/><Relationship Id="rId41" Type="http://schemas.openxmlformats.org/officeDocument/2006/relationships/image" Target="../media/image-13-41.png"/><Relationship Id="rId42" Type="http://schemas.openxmlformats.org/officeDocument/2006/relationships/image" Target="../media/image-13-42.png"/><Relationship Id="rId43" Type="http://schemas.openxmlformats.org/officeDocument/2006/relationships/image" Target="../media/image-13-43.png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SK-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4556522"/>
            <a:ext cx="10287000" cy="9525"/>
          </a:xfrm>
          <a:prstGeom prst="rect">
            <a:avLst/>
          </a:prstGeom>
        </p:spPr>
      </p:pic>
      <p:sp>
        <p:nvSpPr>
          <p:cNvPr id="7" name="SK-1-text-6"/>
          <p:cNvSpPr/>
          <p:nvPr/>
        </p:nvSpPr>
        <p:spPr>
          <a:xfrm>
            <a:off x="3186113" y="1524000"/>
            <a:ext cx="58197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spc="120" kern="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第十五届“中国软件杯”大学生软件设计大赛 A3 赛题</a:t>
            </a:r>
            <a:endParaRPr lang="en-US" sz="1800" dirty="0"/>
          </a:p>
        </p:txBody>
      </p:sp>
      <p:sp>
        <p:nvSpPr>
          <p:cNvPr id="8" name="SK-1-text-7"/>
          <p:cNvSpPr/>
          <p:nvPr/>
        </p:nvSpPr>
        <p:spPr>
          <a:xfrm>
            <a:off x="1333500" y="2148780"/>
            <a:ext cx="952500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LearnAgent：基于大模型的个性化资源生成与学习多智能体系统</a:t>
            </a:r>
            <a:endParaRPr lang="en-US" sz="4800" dirty="0"/>
          </a:p>
        </p:txBody>
      </p:sp>
      <p:sp>
        <p:nvSpPr>
          <p:cNvPr id="9" name="SK-1-text-8"/>
          <p:cNvSpPr/>
          <p:nvPr/>
        </p:nvSpPr>
        <p:spPr>
          <a:xfrm>
            <a:off x="952500" y="4718447"/>
            <a:ext cx="1143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赛题名称</a:t>
            </a:r>
            <a:endParaRPr lang="en-US" sz="1050" dirty="0"/>
          </a:p>
        </p:txBody>
      </p:sp>
      <p:sp>
        <p:nvSpPr>
          <p:cNvPr id="10" name="SK-1-text-9"/>
          <p:cNvSpPr/>
          <p:nvPr/>
        </p:nvSpPr>
        <p:spPr>
          <a:xfrm>
            <a:off x="952500" y="4994672"/>
            <a:ext cx="739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基于大模型的个性化资源生成与学习多智能体系统开发</a:t>
            </a:r>
            <a:endParaRPr lang="en-US" sz="1200" dirty="0"/>
          </a:p>
        </p:txBody>
      </p:sp>
      <p:sp>
        <p:nvSpPr>
          <p:cNvPr id="11" name="SK-1-text-10"/>
          <p:cNvSpPr/>
          <p:nvPr/>
        </p:nvSpPr>
        <p:spPr>
          <a:xfrm>
            <a:off x="10591800" y="4718447"/>
            <a:ext cx="647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出题企业</a:t>
            </a:r>
            <a:endParaRPr lang="en-US" sz="1050" dirty="0"/>
          </a:p>
        </p:txBody>
      </p:sp>
      <p:sp>
        <p:nvSpPr>
          <p:cNvPr id="12" name="SK-1-text-11"/>
          <p:cNvSpPr/>
          <p:nvPr/>
        </p:nvSpPr>
        <p:spPr>
          <a:xfrm>
            <a:off x="9639300" y="497562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科大讯飞股份有限公司</a:t>
            </a:r>
            <a:endParaRPr lang="en-US" sz="1200" dirty="0"/>
          </a:p>
        </p:txBody>
      </p:sp>
      <p:sp>
        <p:nvSpPr>
          <p:cNvPr id="13" name="SK-1-text-12"/>
          <p:cNvSpPr/>
          <p:nvPr/>
        </p:nvSpPr>
        <p:spPr>
          <a:xfrm>
            <a:off x="952500" y="5451872"/>
            <a:ext cx="1143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技术汇报</a:t>
            </a:r>
            <a:endParaRPr lang="en-US" sz="1050" dirty="0"/>
          </a:p>
        </p:txBody>
      </p:sp>
      <p:sp>
        <p:nvSpPr>
          <p:cNvPr id="14" name="SK-1-text-13"/>
          <p:cNvSpPr/>
          <p:nvPr/>
        </p:nvSpPr>
        <p:spPr>
          <a:xfrm>
            <a:off x="952500" y="5728097"/>
            <a:ext cx="609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多智能体协同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/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检索增强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/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动态画像</a:t>
            </a:r>
            <a:endParaRPr lang="en-US" sz="1200" dirty="0"/>
          </a:p>
        </p:txBody>
      </p:sp>
      <p:sp>
        <p:nvSpPr>
          <p:cNvPr id="15" name="SK-1-text-14"/>
          <p:cNvSpPr/>
          <p:nvPr/>
        </p:nvSpPr>
        <p:spPr>
          <a:xfrm>
            <a:off x="10877550" y="5451872"/>
            <a:ext cx="361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日期</a:t>
            </a:r>
            <a:endParaRPr lang="en-US" sz="1050" dirty="0"/>
          </a:p>
        </p:txBody>
      </p:sp>
      <p:sp>
        <p:nvSpPr>
          <p:cNvPr id="16" name="SK-1-text-15"/>
          <p:cNvSpPr/>
          <p:nvPr/>
        </p:nvSpPr>
        <p:spPr>
          <a:xfrm>
            <a:off x="10067925" y="5709047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2026年6月13日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62100"/>
            <a:ext cx="6515100" cy="2309813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793528"/>
            <a:ext cx="214313" cy="175320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024313"/>
            <a:ext cx="2095500" cy="1928813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4209455"/>
            <a:ext cx="178594" cy="148828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1300" y="4024313"/>
            <a:ext cx="2095500" cy="1928813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33700" y="4209455"/>
            <a:ext cx="178594" cy="148828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1100" y="4024313"/>
            <a:ext cx="2095500" cy="1928813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3500" y="4209455"/>
            <a:ext cx="178594" cy="148828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77100" y="1562100"/>
            <a:ext cx="4343400" cy="43910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67600" y="1793528"/>
            <a:ext cx="214313" cy="175320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67600" y="2162175"/>
            <a:ext cx="381000" cy="381000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62850" y="2276475"/>
            <a:ext cx="190500" cy="152400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67600" y="2716411"/>
            <a:ext cx="381000" cy="381000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62850" y="2830711"/>
            <a:ext cx="190500" cy="152400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67600" y="3270647"/>
            <a:ext cx="381000" cy="381000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62850" y="3384947"/>
            <a:ext cx="190500" cy="152400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6143625"/>
            <a:ext cx="11049000" cy="485775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50344" y="6317903"/>
            <a:ext cx="166688" cy="137220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88844" y="6317903"/>
            <a:ext cx="166688" cy="137220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84469" y="6317903"/>
            <a:ext cx="166688" cy="137220"/>
          </a:xfrm>
          <a:prstGeom prst="rect">
            <a:avLst/>
          </a:prstGeom>
        </p:spPr>
      </p:pic>
      <p:sp>
        <p:nvSpPr>
          <p:cNvPr id="26" name="SK-2-text-25"/>
          <p:cNvSpPr/>
          <p:nvPr/>
        </p:nvSpPr>
        <p:spPr>
          <a:xfrm>
            <a:off x="723900" y="381000"/>
            <a:ext cx="563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-3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项目定位与总体简介</a:t>
            </a:r>
            <a:endParaRPr lang="en-US" sz="2400" dirty="0"/>
          </a:p>
        </p:txBody>
      </p:sp>
      <p:sp>
        <p:nvSpPr>
          <p:cNvPr id="27" name="SK-2-text-26"/>
          <p:cNvSpPr/>
          <p:nvPr/>
        </p:nvSpPr>
        <p:spPr>
          <a:xfrm>
            <a:off x="7239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SPECIFICATION / LEARNAGENT SYSTEM</a:t>
            </a:r>
            <a:endParaRPr lang="en-US" sz="1200" dirty="0"/>
          </a:p>
        </p:txBody>
      </p:sp>
      <p:sp>
        <p:nvSpPr>
          <p:cNvPr id="28" name="SK-2-text-27"/>
          <p:cNvSpPr/>
          <p:nvPr/>
        </p:nvSpPr>
        <p:spPr>
          <a:xfrm>
            <a:off x="1071563" y="1752600"/>
            <a:ext cx="61207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核心定位：面向高等教育的智能辅导系统</a:t>
            </a:r>
            <a:endParaRPr lang="en-US" sz="1350" dirty="0"/>
          </a:p>
        </p:txBody>
      </p:sp>
      <p:sp>
        <p:nvSpPr>
          <p:cNvPr id="29" name="SK-2-text-28"/>
          <p:cNvSpPr/>
          <p:nvPr/>
        </p:nvSpPr>
        <p:spPr>
          <a:xfrm>
            <a:off x="762000" y="2124075"/>
            <a:ext cx="6134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LearnAgent 是一个基于大语言模型与多智能体协同技术的工程化实践，旨在实现</a:t>
            </a:r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“因材施教”</a:t>
            </a:r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的教育理念。系统专注于高等教育场景，提供深度的个性化资源生成与全周期的学习支持。</a:t>
            </a:r>
            <a:endParaRPr lang="en-US" sz="1500" dirty="0"/>
          </a:p>
        </p:txBody>
      </p:sp>
      <p:sp>
        <p:nvSpPr>
          <p:cNvPr id="30" name="SK-2-text-29"/>
          <p:cNvSpPr/>
          <p:nvPr/>
        </p:nvSpPr>
        <p:spPr>
          <a:xfrm>
            <a:off x="959644" y="4176712"/>
            <a:ext cx="18288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8B5C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检索增强</a:t>
            </a:r>
            <a:endParaRPr lang="en-US" sz="1125" dirty="0"/>
          </a:p>
        </p:txBody>
      </p:sp>
      <p:sp>
        <p:nvSpPr>
          <p:cNvPr id="31" name="SK-2-text-30"/>
          <p:cNvSpPr/>
          <p:nvPr/>
        </p:nvSpPr>
        <p:spPr>
          <a:xfrm>
            <a:off x="723900" y="4467225"/>
            <a:ext cx="179070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ChromaDB + BM25 混合检索，gte-rerank 重排，确保知识输出权威可靠。</a:t>
            </a:r>
            <a:endParaRPr lang="en-US" sz="1050" dirty="0"/>
          </a:p>
        </p:txBody>
      </p:sp>
      <p:sp>
        <p:nvSpPr>
          <p:cNvPr id="32" name="SK-2-text-31"/>
          <p:cNvSpPr/>
          <p:nvPr/>
        </p:nvSpPr>
        <p:spPr>
          <a:xfrm>
            <a:off x="3169444" y="4176712"/>
            <a:ext cx="17907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8B5C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多智能体协同</a:t>
            </a:r>
            <a:endParaRPr lang="en-US" sz="1125" dirty="0"/>
          </a:p>
        </p:txBody>
      </p:sp>
      <p:sp>
        <p:nvSpPr>
          <p:cNvPr id="33" name="SK-2-text-32"/>
          <p:cNvSpPr/>
          <p:nvPr/>
        </p:nvSpPr>
        <p:spPr>
          <a:xfrm>
            <a:off x="2933700" y="4467225"/>
            <a:ext cx="179070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LangGraph 编排 8 个专业智能体，实现复杂任务的深度推理。</a:t>
            </a:r>
            <a:endParaRPr lang="en-US" sz="1050" dirty="0"/>
          </a:p>
        </p:txBody>
      </p:sp>
      <p:sp>
        <p:nvSpPr>
          <p:cNvPr id="34" name="SK-2-text-33"/>
          <p:cNvSpPr/>
          <p:nvPr/>
        </p:nvSpPr>
        <p:spPr>
          <a:xfrm>
            <a:off x="5379244" y="4176712"/>
            <a:ext cx="2000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8B5C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个性化学习画像</a:t>
            </a:r>
            <a:endParaRPr lang="en-US" sz="1125" dirty="0"/>
          </a:p>
        </p:txBody>
      </p:sp>
      <p:sp>
        <p:nvSpPr>
          <p:cNvPr id="35" name="SK-2-text-34"/>
          <p:cNvSpPr/>
          <p:nvPr/>
        </p:nvSpPr>
        <p:spPr>
          <a:xfrm>
            <a:off x="5143500" y="4467225"/>
            <a:ext cx="179070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维度动态画像体系，随学随新，精准刻画学生认知与需求特征。</a:t>
            </a:r>
            <a:endParaRPr lang="en-US" sz="1050" dirty="0"/>
          </a:p>
        </p:txBody>
      </p:sp>
      <p:sp>
        <p:nvSpPr>
          <p:cNvPr id="36" name="SK-2-text-35"/>
          <p:cNvSpPr/>
          <p:nvPr/>
        </p:nvSpPr>
        <p:spPr>
          <a:xfrm>
            <a:off x="7777163" y="1752600"/>
            <a:ext cx="3171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目标用户与应用场景</a:t>
            </a:r>
            <a:endParaRPr lang="en-US" sz="1350" dirty="0"/>
          </a:p>
        </p:txBody>
      </p:sp>
      <p:sp>
        <p:nvSpPr>
          <p:cNvPr id="37" name="SK-2-text-36"/>
          <p:cNvSpPr/>
          <p:nvPr/>
        </p:nvSpPr>
        <p:spPr>
          <a:xfrm>
            <a:off x="7962900" y="2162175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高校学生</a:t>
            </a:r>
            <a:endParaRPr lang="en-US" sz="1200" dirty="0"/>
          </a:p>
        </p:txBody>
      </p:sp>
      <p:sp>
        <p:nvSpPr>
          <p:cNvPr id="38" name="SK-2-text-37"/>
          <p:cNvSpPr/>
          <p:nvPr/>
        </p:nvSpPr>
        <p:spPr>
          <a:xfrm>
            <a:off x="7962900" y="2409825"/>
            <a:ext cx="42291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获得量身定制的学习资源、答疑与路径规划</a:t>
            </a:r>
            <a:endParaRPr lang="en-US" sz="1050" dirty="0"/>
          </a:p>
        </p:txBody>
      </p:sp>
      <p:sp>
        <p:nvSpPr>
          <p:cNvPr id="39" name="SK-2-text-38"/>
          <p:cNvSpPr/>
          <p:nvPr/>
        </p:nvSpPr>
        <p:spPr>
          <a:xfrm>
            <a:off x="7962900" y="2716411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高校教师</a:t>
            </a:r>
            <a:endParaRPr lang="en-US" sz="1200" dirty="0"/>
          </a:p>
        </p:txBody>
      </p:sp>
      <p:sp>
        <p:nvSpPr>
          <p:cNvPr id="40" name="SK-2-text-39"/>
          <p:cNvSpPr/>
          <p:nvPr/>
        </p:nvSpPr>
        <p:spPr>
          <a:xfrm>
            <a:off x="7962900" y="2964061"/>
            <a:ext cx="42291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快速生成适配不同水平的讲解与练习题</a:t>
            </a:r>
            <a:endParaRPr lang="en-US" sz="1050" dirty="0"/>
          </a:p>
        </p:txBody>
      </p:sp>
      <p:sp>
        <p:nvSpPr>
          <p:cNvPr id="41" name="SK-2-text-40"/>
          <p:cNvSpPr/>
          <p:nvPr/>
        </p:nvSpPr>
        <p:spPr>
          <a:xfrm>
            <a:off x="7962900" y="3270647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医学教育示范区</a:t>
            </a:r>
            <a:endParaRPr lang="en-US" sz="1200" dirty="0"/>
          </a:p>
        </p:txBody>
      </p:sp>
      <p:sp>
        <p:nvSpPr>
          <p:cNvPr id="42" name="SK-2-text-41"/>
          <p:cNvSpPr/>
          <p:nvPr/>
        </p:nvSpPr>
        <p:spPr>
          <a:xfrm>
            <a:off x="7962900" y="3518297"/>
            <a:ext cx="42291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以脑卒中为核心，内置权威诊疗指南与文献</a:t>
            </a:r>
            <a:endParaRPr lang="en-US" sz="1050" dirty="0"/>
          </a:p>
        </p:txBody>
      </p:sp>
      <p:sp>
        <p:nvSpPr>
          <p:cNvPr id="43" name="SK-2-text-42"/>
          <p:cNvSpPr/>
          <p:nvPr/>
        </p:nvSpPr>
        <p:spPr>
          <a:xfrm>
            <a:off x="800100" y="625792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B5CF6">
                    <a:alpha val="6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350" dirty="0"/>
          </a:p>
        </p:txBody>
      </p:sp>
      <p:sp>
        <p:nvSpPr>
          <p:cNvPr id="44" name="SK-2-text-43"/>
          <p:cNvSpPr/>
          <p:nvPr/>
        </p:nvSpPr>
        <p:spPr>
          <a:xfrm>
            <a:off x="1095375" y="6279356"/>
            <a:ext cx="17907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意图智能分流</a:t>
            </a:r>
            <a:endParaRPr lang="en-US" sz="1125" dirty="0"/>
          </a:p>
        </p:txBody>
      </p:sp>
      <p:sp>
        <p:nvSpPr>
          <p:cNvPr id="45" name="SK-2-text-44"/>
          <p:cNvSpPr/>
          <p:nvPr/>
        </p:nvSpPr>
        <p:spPr>
          <a:xfrm>
            <a:off x="3714750" y="625792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B5CF6">
                    <a:alpha val="6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350" dirty="0"/>
          </a:p>
        </p:txBody>
      </p:sp>
      <p:sp>
        <p:nvSpPr>
          <p:cNvPr id="46" name="SK-2-text-45"/>
          <p:cNvSpPr/>
          <p:nvPr/>
        </p:nvSpPr>
        <p:spPr>
          <a:xfrm>
            <a:off x="4048125" y="6279356"/>
            <a:ext cx="2362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多智能体协同推理</a:t>
            </a:r>
            <a:endParaRPr lang="en-US" sz="1125" dirty="0"/>
          </a:p>
        </p:txBody>
      </p:sp>
      <p:sp>
        <p:nvSpPr>
          <p:cNvPr id="47" name="SK-2-text-46"/>
          <p:cNvSpPr/>
          <p:nvPr/>
        </p:nvSpPr>
        <p:spPr>
          <a:xfrm>
            <a:off x="6953250" y="625792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B5CF6">
                    <a:alpha val="6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350" dirty="0"/>
          </a:p>
        </p:txBody>
      </p:sp>
      <p:sp>
        <p:nvSpPr>
          <p:cNvPr id="48" name="SK-2-text-47"/>
          <p:cNvSpPr/>
          <p:nvPr/>
        </p:nvSpPr>
        <p:spPr>
          <a:xfrm>
            <a:off x="7286625" y="6279356"/>
            <a:ext cx="2076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自愈式反思校验</a:t>
            </a:r>
            <a:endParaRPr lang="en-US" sz="1125" dirty="0"/>
          </a:p>
        </p:txBody>
      </p:sp>
      <p:sp>
        <p:nvSpPr>
          <p:cNvPr id="49" name="SK-2-text-48"/>
          <p:cNvSpPr/>
          <p:nvPr/>
        </p:nvSpPr>
        <p:spPr>
          <a:xfrm>
            <a:off x="10048875" y="625792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B5CF6">
                    <a:alpha val="6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350" dirty="0"/>
          </a:p>
        </p:txBody>
      </p:sp>
      <p:sp>
        <p:nvSpPr>
          <p:cNvPr id="50" name="SK-2-text-49"/>
          <p:cNvSpPr/>
          <p:nvPr/>
        </p:nvSpPr>
        <p:spPr>
          <a:xfrm>
            <a:off x="10391775" y="6279356"/>
            <a:ext cx="18002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个性化报告生成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19250"/>
            <a:ext cx="2057400" cy="2881015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847850"/>
            <a:ext cx="457200" cy="457200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1962150"/>
            <a:ext cx="285750" cy="228600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857500"/>
            <a:ext cx="166688" cy="166688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326011"/>
            <a:ext cx="166688" cy="166688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889772"/>
            <a:ext cx="1676400" cy="195263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19400" y="1619250"/>
            <a:ext cx="2057400" cy="2881015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09900" y="1847850"/>
            <a:ext cx="457200" cy="457200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95625" y="1962150"/>
            <a:ext cx="285750" cy="228600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09900" y="2857500"/>
            <a:ext cx="166688" cy="166688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09900" y="3326011"/>
            <a:ext cx="166688" cy="166688"/>
          </a:xfrm>
          <a:prstGeom prst="rect">
            <a:avLst/>
          </a:prstGeom>
        </p:spPr>
      </p:pic>
      <p:pic>
        <p:nvPicPr>
          <p:cNvPr id="17" name="SK-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09900" y="3889772"/>
            <a:ext cx="1676400" cy="195263"/>
          </a:xfrm>
          <a:prstGeom prst="rect">
            <a:avLst/>
          </a:prstGeom>
        </p:spPr>
      </p:pic>
      <p:pic>
        <p:nvPicPr>
          <p:cNvPr id="18" name="SK-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67300" y="1619250"/>
            <a:ext cx="2057400" cy="2881015"/>
          </a:xfrm>
          <a:prstGeom prst="rect">
            <a:avLst/>
          </a:prstGeom>
        </p:spPr>
      </p:pic>
      <p:pic>
        <p:nvPicPr>
          <p:cNvPr id="19" name="SK-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57800" y="1847850"/>
            <a:ext cx="457200" cy="457200"/>
          </a:xfrm>
          <a:prstGeom prst="rect">
            <a:avLst/>
          </a:prstGeom>
        </p:spPr>
      </p:pic>
      <p:pic>
        <p:nvPicPr>
          <p:cNvPr id="20" name="SK-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43525" y="1962150"/>
            <a:ext cx="285750" cy="228600"/>
          </a:xfrm>
          <a:prstGeom prst="rect">
            <a:avLst/>
          </a:prstGeom>
        </p:spPr>
      </p:pic>
      <p:pic>
        <p:nvPicPr>
          <p:cNvPr id="21" name="SK-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57800" y="2857500"/>
            <a:ext cx="166688" cy="166688"/>
          </a:xfrm>
          <a:prstGeom prst="rect">
            <a:avLst/>
          </a:prstGeom>
        </p:spPr>
      </p:pic>
      <p:pic>
        <p:nvPicPr>
          <p:cNvPr id="22" name="SK-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57800" y="3326011"/>
            <a:ext cx="166688" cy="166688"/>
          </a:xfrm>
          <a:prstGeom prst="rect">
            <a:avLst/>
          </a:prstGeom>
        </p:spPr>
      </p:pic>
      <p:pic>
        <p:nvPicPr>
          <p:cNvPr id="23" name="SK-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57800" y="4076402"/>
            <a:ext cx="1676400" cy="195263"/>
          </a:xfrm>
          <a:prstGeom prst="rect">
            <a:avLst/>
          </a:prstGeom>
        </p:spPr>
      </p:pic>
      <p:pic>
        <p:nvPicPr>
          <p:cNvPr id="24" name="SK-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15200" y="1619250"/>
            <a:ext cx="2057400" cy="2881015"/>
          </a:xfrm>
          <a:prstGeom prst="rect">
            <a:avLst/>
          </a:prstGeom>
        </p:spPr>
      </p:pic>
      <p:pic>
        <p:nvPicPr>
          <p:cNvPr id="25" name="SK-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05700" y="1847850"/>
            <a:ext cx="457200" cy="457200"/>
          </a:xfrm>
          <a:prstGeom prst="rect">
            <a:avLst/>
          </a:prstGeom>
        </p:spPr>
      </p:pic>
      <p:pic>
        <p:nvPicPr>
          <p:cNvPr id="26" name="SK-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91425" y="1962150"/>
            <a:ext cx="285750" cy="228600"/>
          </a:xfrm>
          <a:prstGeom prst="rect">
            <a:avLst/>
          </a:prstGeom>
        </p:spPr>
      </p:pic>
      <p:pic>
        <p:nvPicPr>
          <p:cNvPr id="27" name="SK-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05700" y="2857500"/>
            <a:ext cx="166688" cy="166688"/>
          </a:xfrm>
          <a:prstGeom prst="rect">
            <a:avLst/>
          </a:prstGeom>
        </p:spPr>
      </p:pic>
      <p:pic>
        <p:nvPicPr>
          <p:cNvPr id="28" name="SK-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505700" y="3326011"/>
            <a:ext cx="166688" cy="166688"/>
          </a:xfrm>
          <a:prstGeom prst="rect">
            <a:avLst/>
          </a:prstGeom>
        </p:spPr>
      </p:pic>
      <p:pic>
        <p:nvPicPr>
          <p:cNvPr id="29" name="SK-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05700" y="3889772"/>
            <a:ext cx="1676400" cy="195263"/>
          </a:xfrm>
          <a:prstGeom prst="rect">
            <a:avLst/>
          </a:prstGeom>
        </p:spPr>
      </p:pic>
      <p:pic>
        <p:nvPicPr>
          <p:cNvPr id="30" name="SK-3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563100" y="1619250"/>
            <a:ext cx="2057400" cy="2881015"/>
          </a:xfrm>
          <a:prstGeom prst="rect">
            <a:avLst/>
          </a:prstGeom>
        </p:spPr>
      </p:pic>
      <p:pic>
        <p:nvPicPr>
          <p:cNvPr id="31" name="SK-3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753600" y="1847850"/>
            <a:ext cx="457200" cy="457200"/>
          </a:xfrm>
          <a:prstGeom prst="rect">
            <a:avLst/>
          </a:prstGeom>
        </p:spPr>
      </p:pic>
      <p:pic>
        <p:nvPicPr>
          <p:cNvPr id="32" name="SK-3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839325" y="1962150"/>
            <a:ext cx="285750" cy="228600"/>
          </a:xfrm>
          <a:prstGeom prst="rect">
            <a:avLst/>
          </a:prstGeom>
        </p:spPr>
      </p:pic>
      <p:pic>
        <p:nvPicPr>
          <p:cNvPr id="33" name="SK-3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753600" y="2857500"/>
            <a:ext cx="166688" cy="166688"/>
          </a:xfrm>
          <a:prstGeom prst="rect">
            <a:avLst/>
          </a:prstGeom>
        </p:spPr>
      </p:pic>
      <p:pic>
        <p:nvPicPr>
          <p:cNvPr id="34" name="SK-3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753600" y="3326011"/>
            <a:ext cx="166688" cy="166688"/>
          </a:xfrm>
          <a:prstGeom prst="rect">
            <a:avLst/>
          </a:prstGeom>
        </p:spPr>
      </p:pic>
      <p:pic>
        <p:nvPicPr>
          <p:cNvPr id="35" name="SK-3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753600" y="3889772"/>
            <a:ext cx="1676400" cy="195263"/>
          </a:xfrm>
          <a:prstGeom prst="rect">
            <a:avLst/>
          </a:prstGeom>
        </p:spPr>
      </p:pic>
      <p:pic>
        <p:nvPicPr>
          <p:cNvPr id="36" name="SK-3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71500" y="4881265"/>
            <a:ext cx="11049000" cy="581025"/>
          </a:xfrm>
          <a:prstGeom prst="rect">
            <a:avLst/>
          </a:prstGeom>
        </p:spPr>
      </p:pic>
      <p:pic>
        <p:nvPicPr>
          <p:cNvPr id="37" name="SK-3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00100" y="5119539"/>
            <a:ext cx="166688" cy="137220"/>
          </a:xfrm>
          <a:prstGeom prst="rect">
            <a:avLst/>
          </a:prstGeom>
        </p:spPr>
      </p:pic>
      <p:pic>
        <p:nvPicPr>
          <p:cNvPr id="38" name="SK-3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962525" y="5033665"/>
            <a:ext cx="762000" cy="276225"/>
          </a:xfrm>
          <a:prstGeom prst="rect">
            <a:avLst/>
          </a:prstGeom>
        </p:spPr>
      </p:pic>
      <p:pic>
        <p:nvPicPr>
          <p:cNvPr id="39" name="SK-3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838825" y="5121920"/>
            <a:ext cx="142875" cy="114300"/>
          </a:xfrm>
          <a:prstGeom prst="rect">
            <a:avLst/>
          </a:prstGeom>
        </p:spPr>
      </p:pic>
      <p:pic>
        <p:nvPicPr>
          <p:cNvPr id="40" name="SK-3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096000" y="5033665"/>
            <a:ext cx="762000" cy="276225"/>
          </a:xfrm>
          <a:prstGeom prst="rect">
            <a:avLst/>
          </a:prstGeom>
        </p:spPr>
      </p:pic>
      <p:pic>
        <p:nvPicPr>
          <p:cNvPr id="41" name="SK-3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972300" y="5121920"/>
            <a:ext cx="142875" cy="114300"/>
          </a:xfrm>
          <a:prstGeom prst="rect">
            <a:avLst/>
          </a:prstGeom>
        </p:spPr>
      </p:pic>
      <p:pic>
        <p:nvPicPr>
          <p:cNvPr id="42" name="SK-3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229475" y="5033665"/>
            <a:ext cx="762000" cy="276225"/>
          </a:xfrm>
          <a:prstGeom prst="rect">
            <a:avLst/>
          </a:prstGeom>
        </p:spPr>
      </p:pic>
      <p:pic>
        <p:nvPicPr>
          <p:cNvPr id="43" name="SK-3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105775" y="5121920"/>
            <a:ext cx="142875" cy="114300"/>
          </a:xfrm>
          <a:prstGeom prst="rect">
            <a:avLst/>
          </a:prstGeom>
        </p:spPr>
      </p:pic>
      <p:pic>
        <p:nvPicPr>
          <p:cNvPr id="44" name="SK-3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362950" y="5033665"/>
            <a:ext cx="762000" cy="276225"/>
          </a:xfrm>
          <a:prstGeom prst="rect">
            <a:avLst/>
          </a:prstGeom>
        </p:spPr>
      </p:pic>
      <p:pic>
        <p:nvPicPr>
          <p:cNvPr id="45" name="SK-3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239250" y="5121920"/>
            <a:ext cx="142875" cy="114300"/>
          </a:xfrm>
          <a:prstGeom prst="rect">
            <a:avLst/>
          </a:prstGeom>
        </p:spPr>
      </p:pic>
      <p:pic>
        <p:nvPicPr>
          <p:cNvPr id="46" name="SK-3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496425" y="5033665"/>
            <a:ext cx="762000" cy="276225"/>
          </a:xfrm>
          <a:prstGeom prst="rect">
            <a:avLst/>
          </a:prstGeom>
        </p:spPr>
      </p:pic>
      <p:pic>
        <p:nvPicPr>
          <p:cNvPr id="47" name="SK-3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372725" y="5121920"/>
            <a:ext cx="142875" cy="114300"/>
          </a:xfrm>
          <a:prstGeom prst="rect">
            <a:avLst/>
          </a:prstGeom>
        </p:spPr>
      </p:pic>
      <p:pic>
        <p:nvPicPr>
          <p:cNvPr id="48" name="SK-3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629900" y="5033665"/>
            <a:ext cx="762000" cy="276225"/>
          </a:xfrm>
          <a:prstGeom prst="rect">
            <a:avLst/>
          </a:prstGeom>
        </p:spPr>
      </p:pic>
      <p:sp>
        <p:nvSpPr>
          <p:cNvPr id="49" name="SK-3-text-48"/>
          <p:cNvSpPr/>
          <p:nvPr/>
        </p:nvSpPr>
        <p:spPr>
          <a:xfrm>
            <a:off x="723900" y="381000"/>
            <a:ext cx="624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-3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五大核心功能模块概览</a:t>
            </a:r>
            <a:endParaRPr lang="en-US" sz="2400" dirty="0"/>
          </a:p>
        </p:txBody>
      </p:sp>
      <p:sp>
        <p:nvSpPr>
          <p:cNvPr id="50" name="SK-3-text-49"/>
          <p:cNvSpPr/>
          <p:nvPr/>
        </p:nvSpPr>
        <p:spPr>
          <a:xfrm>
            <a:off x="7239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SPECIFICATION / LEARNAGENT SYSTEM</a:t>
            </a:r>
            <a:endParaRPr lang="en-US" sz="1200" dirty="0"/>
          </a:p>
        </p:txBody>
      </p:sp>
      <p:sp>
        <p:nvSpPr>
          <p:cNvPr id="51" name="SK-3-text-50"/>
          <p:cNvSpPr/>
          <p:nvPr/>
        </p:nvSpPr>
        <p:spPr>
          <a:xfrm>
            <a:off x="762000" y="2419350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学习画像构建</a:t>
            </a:r>
            <a:endParaRPr lang="en-US" sz="1500" dirty="0"/>
          </a:p>
        </p:txBody>
      </p:sp>
      <p:sp>
        <p:nvSpPr>
          <p:cNvPr id="52" name="SK-3-text-51"/>
          <p:cNvSpPr/>
          <p:nvPr/>
        </p:nvSpPr>
        <p:spPr>
          <a:xfrm>
            <a:off x="1004887" y="2857500"/>
            <a:ext cx="1676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8维度动态特征抽取，摒弃繁琐表单</a:t>
            </a:r>
            <a:endParaRPr lang="en-US" sz="1050" dirty="0"/>
          </a:p>
        </p:txBody>
      </p:sp>
      <p:sp>
        <p:nvSpPr>
          <p:cNvPr id="53" name="SK-3-text-52"/>
          <p:cNvSpPr/>
          <p:nvPr/>
        </p:nvSpPr>
        <p:spPr>
          <a:xfrm>
            <a:off x="1004887" y="3326011"/>
            <a:ext cx="1676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随学随新，支持自然语言对话自动更新</a:t>
            </a:r>
            <a:endParaRPr lang="en-US" sz="1050" dirty="0"/>
          </a:p>
        </p:txBody>
      </p:sp>
      <p:sp>
        <p:nvSpPr>
          <p:cNvPr id="54" name="SK-3-text-53"/>
          <p:cNvSpPr/>
          <p:nvPr/>
        </p:nvSpPr>
        <p:spPr>
          <a:xfrm>
            <a:off x="838200" y="3889772"/>
            <a:ext cx="16002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8维度动态构建</a:t>
            </a:r>
            <a:endParaRPr lang="en-US" sz="825" dirty="0"/>
          </a:p>
        </p:txBody>
      </p:sp>
      <p:sp>
        <p:nvSpPr>
          <p:cNvPr id="55" name="SK-3-text-54"/>
          <p:cNvSpPr/>
          <p:nvPr/>
        </p:nvSpPr>
        <p:spPr>
          <a:xfrm>
            <a:off x="3009900" y="2419350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协同资源生成</a:t>
            </a:r>
            <a:endParaRPr lang="en-US" sz="1500" dirty="0"/>
          </a:p>
        </p:txBody>
      </p:sp>
      <p:sp>
        <p:nvSpPr>
          <p:cNvPr id="56" name="SK-3-text-55"/>
          <p:cNvSpPr/>
          <p:nvPr/>
        </p:nvSpPr>
        <p:spPr>
          <a:xfrm>
            <a:off x="3252788" y="2857500"/>
            <a:ext cx="1676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8智能体协同，支持7类高质量学习资源</a:t>
            </a:r>
            <a:endParaRPr lang="en-US" sz="1050" dirty="0"/>
          </a:p>
        </p:txBody>
      </p:sp>
      <p:sp>
        <p:nvSpPr>
          <p:cNvPr id="57" name="SK-3-text-56"/>
          <p:cNvSpPr/>
          <p:nvPr/>
        </p:nvSpPr>
        <p:spPr>
          <a:xfrm>
            <a:off x="3252788" y="3326011"/>
            <a:ext cx="1676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辩论-仲裁模式，确保内容严谨与个性化</a:t>
            </a:r>
            <a:endParaRPr lang="en-US" sz="1050" dirty="0"/>
          </a:p>
        </p:txBody>
      </p:sp>
      <p:sp>
        <p:nvSpPr>
          <p:cNvPr id="58" name="SK-3-text-57"/>
          <p:cNvSpPr/>
          <p:nvPr/>
        </p:nvSpPr>
        <p:spPr>
          <a:xfrm>
            <a:off x="3086100" y="3889772"/>
            <a:ext cx="16002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7类资源生成</a:t>
            </a:r>
            <a:endParaRPr lang="en-US" sz="825" dirty="0"/>
          </a:p>
        </p:txBody>
      </p:sp>
      <p:sp>
        <p:nvSpPr>
          <p:cNvPr id="59" name="SK-3-text-58"/>
          <p:cNvSpPr/>
          <p:nvPr/>
        </p:nvSpPr>
        <p:spPr>
          <a:xfrm>
            <a:off x="5257800" y="2419350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智能辅导问答</a:t>
            </a:r>
            <a:endParaRPr lang="en-US" sz="1500" dirty="0"/>
          </a:p>
        </p:txBody>
      </p:sp>
      <p:sp>
        <p:nvSpPr>
          <p:cNvPr id="60" name="SK-3-text-59"/>
          <p:cNvSpPr/>
          <p:nvPr/>
        </p:nvSpPr>
        <p:spPr>
          <a:xfrm>
            <a:off x="5500688" y="2857500"/>
            <a:ext cx="1676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多模态视觉理解，支持影像与报告分析</a:t>
            </a:r>
            <a:endParaRPr lang="en-US" sz="1050" dirty="0"/>
          </a:p>
        </p:txBody>
      </p:sp>
      <p:sp>
        <p:nvSpPr>
          <p:cNvPr id="61" name="SK-3-text-60"/>
          <p:cNvSpPr/>
          <p:nvPr/>
        </p:nvSpPr>
        <p:spPr>
          <a:xfrm>
            <a:off x="5500688" y="3326011"/>
            <a:ext cx="167640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流式思考过程(Thinking)展示推理逻辑</a:t>
            </a:r>
            <a:endParaRPr lang="en-US" sz="1050" dirty="0"/>
          </a:p>
        </p:txBody>
      </p:sp>
      <p:sp>
        <p:nvSpPr>
          <p:cNvPr id="62" name="SK-3-text-61"/>
          <p:cNvSpPr/>
          <p:nvPr/>
        </p:nvSpPr>
        <p:spPr>
          <a:xfrm>
            <a:off x="5334000" y="4076402"/>
            <a:ext cx="16002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多模态联合推理</a:t>
            </a:r>
            <a:endParaRPr lang="en-US" sz="825" dirty="0"/>
          </a:p>
        </p:txBody>
      </p:sp>
      <p:sp>
        <p:nvSpPr>
          <p:cNvPr id="63" name="SK-3-text-62"/>
          <p:cNvSpPr/>
          <p:nvPr/>
        </p:nvSpPr>
        <p:spPr>
          <a:xfrm>
            <a:off x="7505700" y="2419350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学习路径规划</a:t>
            </a:r>
            <a:endParaRPr lang="en-US" sz="1500" dirty="0"/>
          </a:p>
        </p:txBody>
      </p:sp>
      <p:sp>
        <p:nvSpPr>
          <p:cNvPr id="64" name="SK-3-text-63"/>
          <p:cNvSpPr/>
          <p:nvPr/>
        </p:nvSpPr>
        <p:spPr>
          <a:xfrm>
            <a:off x="7748588" y="2857500"/>
            <a:ext cx="1676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基于目标与画像，自动生成分阶段路径</a:t>
            </a:r>
            <a:endParaRPr lang="en-US" sz="1050" dirty="0"/>
          </a:p>
        </p:txBody>
      </p:sp>
      <p:sp>
        <p:nvSpPr>
          <p:cNvPr id="65" name="SK-3-text-64"/>
          <p:cNvSpPr/>
          <p:nvPr/>
        </p:nvSpPr>
        <p:spPr>
          <a:xfrm>
            <a:off x="7748588" y="3326011"/>
            <a:ext cx="1676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实时进度追踪，支持路径随动态评估调整</a:t>
            </a:r>
            <a:endParaRPr lang="en-US" sz="1050" dirty="0"/>
          </a:p>
        </p:txBody>
      </p:sp>
      <p:sp>
        <p:nvSpPr>
          <p:cNvPr id="66" name="SK-3-text-65"/>
          <p:cNvSpPr/>
          <p:nvPr/>
        </p:nvSpPr>
        <p:spPr>
          <a:xfrm>
            <a:off x="7581900" y="3889772"/>
            <a:ext cx="16002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动态路径追踪</a:t>
            </a:r>
            <a:endParaRPr lang="en-US" sz="825" dirty="0"/>
          </a:p>
        </p:txBody>
      </p:sp>
      <p:sp>
        <p:nvSpPr>
          <p:cNvPr id="67" name="SK-3-text-66"/>
          <p:cNvSpPr/>
          <p:nvPr/>
        </p:nvSpPr>
        <p:spPr>
          <a:xfrm>
            <a:off x="9753600" y="2419350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学习效果评估</a:t>
            </a:r>
            <a:endParaRPr lang="en-US" sz="1500" dirty="0"/>
          </a:p>
        </p:txBody>
      </p:sp>
      <p:sp>
        <p:nvSpPr>
          <p:cNvPr id="68" name="SK-3-text-67"/>
          <p:cNvSpPr/>
          <p:nvPr/>
        </p:nvSpPr>
        <p:spPr>
          <a:xfrm>
            <a:off x="9996488" y="2857500"/>
            <a:ext cx="1676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4类评估模式，生成结构化分析报告</a:t>
            </a:r>
            <a:endParaRPr lang="en-US" sz="1050" dirty="0"/>
          </a:p>
        </p:txBody>
      </p:sp>
      <p:sp>
        <p:nvSpPr>
          <p:cNvPr id="69" name="SK-3-text-68"/>
          <p:cNvSpPr/>
          <p:nvPr/>
        </p:nvSpPr>
        <p:spPr>
          <a:xfrm>
            <a:off x="9996488" y="3326011"/>
            <a:ext cx="1676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闭环反馈机制，精准定位知识薄弱环节</a:t>
            </a:r>
            <a:endParaRPr lang="en-US" sz="1050" dirty="0"/>
          </a:p>
        </p:txBody>
      </p:sp>
      <p:sp>
        <p:nvSpPr>
          <p:cNvPr id="70" name="SK-3-text-69"/>
          <p:cNvSpPr/>
          <p:nvPr/>
        </p:nvSpPr>
        <p:spPr>
          <a:xfrm>
            <a:off x="9829800" y="3889772"/>
            <a:ext cx="16002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4类评估模式</a:t>
            </a:r>
            <a:endParaRPr lang="en-US" sz="825" dirty="0"/>
          </a:p>
        </p:txBody>
      </p:sp>
      <p:sp>
        <p:nvSpPr>
          <p:cNvPr id="71" name="SK-3-text-70"/>
          <p:cNvSpPr/>
          <p:nvPr/>
        </p:nvSpPr>
        <p:spPr>
          <a:xfrm>
            <a:off x="966788" y="5071765"/>
            <a:ext cx="20269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闭环协同业务流</a:t>
            </a:r>
            <a:endParaRPr lang="en-US" sz="1050" dirty="0"/>
          </a:p>
        </p:txBody>
      </p:sp>
      <p:sp>
        <p:nvSpPr>
          <p:cNvPr id="72" name="SK-3-text-71"/>
          <p:cNvSpPr/>
          <p:nvPr/>
        </p:nvSpPr>
        <p:spPr>
          <a:xfrm>
            <a:off x="5076825" y="5033665"/>
            <a:ext cx="8229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画像构建</a:t>
            </a:r>
            <a:endParaRPr lang="en-US" sz="1050" dirty="0"/>
          </a:p>
        </p:txBody>
      </p:sp>
      <p:sp>
        <p:nvSpPr>
          <p:cNvPr id="73" name="SK-3-text-72"/>
          <p:cNvSpPr/>
          <p:nvPr/>
        </p:nvSpPr>
        <p:spPr>
          <a:xfrm>
            <a:off x="6210300" y="5033665"/>
            <a:ext cx="8229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资源生成</a:t>
            </a:r>
            <a:endParaRPr lang="en-US" sz="1050" dirty="0"/>
          </a:p>
        </p:txBody>
      </p:sp>
      <p:sp>
        <p:nvSpPr>
          <p:cNvPr id="74" name="SK-3-text-73"/>
          <p:cNvSpPr/>
          <p:nvPr/>
        </p:nvSpPr>
        <p:spPr>
          <a:xfrm>
            <a:off x="7343775" y="5033665"/>
            <a:ext cx="8229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辅导问答</a:t>
            </a:r>
            <a:endParaRPr lang="en-US" sz="1050" dirty="0"/>
          </a:p>
        </p:txBody>
      </p:sp>
      <p:sp>
        <p:nvSpPr>
          <p:cNvPr id="75" name="SK-3-text-74"/>
          <p:cNvSpPr/>
          <p:nvPr/>
        </p:nvSpPr>
        <p:spPr>
          <a:xfrm>
            <a:off x="8477250" y="5033665"/>
            <a:ext cx="8229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路径规划</a:t>
            </a:r>
            <a:endParaRPr lang="en-US" sz="1050" dirty="0"/>
          </a:p>
        </p:txBody>
      </p:sp>
      <p:sp>
        <p:nvSpPr>
          <p:cNvPr id="76" name="SK-3-text-75"/>
          <p:cNvSpPr/>
          <p:nvPr/>
        </p:nvSpPr>
        <p:spPr>
          <a:xfrm>
            <a:off x="9610725" y="5033665"/>
            <a:ext cx="8229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效果评估</a:t>
            </a:r>
            <a:endParaRPr lang="en-US" sz="1050" dirty="0"/>
          </a:p>
        </p:txBody>
      </p:sp>
      <p:sp>
        <p:nvSpPr>
          <p:cNvPr id="77" name="SK-3-text-76"/>
          <p:cNvSpPr/>
          <p:nvPr/>
        </p:nvSpPr>
        <p:spPr>
          <a:xfrm>
            <a:off x="10744200" y="5033665"/>
            <a:ext cx="8229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画像更新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44253"/>
            <a:ext cx="342900" cy="342900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739503"/>
            <a:ext cx="190500" cy="152400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177653"/>
            <a:ext cx="2367409" cy="654248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324695"/>
            <a:ext cx="178594" cy="148828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3209" y="2177653"/>
            <a:ext cx="2367409" cy="654248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7509" y="2324695"/>
            <a:ext cx="178594" cy="148828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946202"/>
            <a:ext cx="2367409" cy="654248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093244"/>
            <a:ext cx="178594" cy="148828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53209" y="2946202"/>
            <a:ext cx="2367409" cy="654248"/>
          </a:xfrm>
          <a:prstGeom prst="rect">
            <a:avLst/>
          </a:prstGeom>
        </p:spPr>
      </p:pic>
      <p:pic>
        <p:nvPicPr>
          <p:cNvPr id="15" name="SK-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67509" y="3093244"/>
            <a:ext cx="178594" cy="148828"/>
          </a:xfrm>
          <a:prstGeom prst="rect">
            <a:avLst/>
          </a:prstGeom>
        </p:spPr>
      </p:pic>
      <p:pic>
        <p:nvPicPr>
          <p:cNvPr id="16" name="SK-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14750"/>
            <a:ext cx="2367409" cy="654248"/>
          </a:xfrm>
          <a:prstGeom prst="rect">
            <a:avLst/>
          </a:prstGeom>
        </p:spPr>
      </p:pic>
      <p:pic>
        <p:nvPicPr>
          <p:cNvPr id="17" name="SK-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3861792"/>
            <a:ext cx="178594" cy="148828"/>
          </a:xfrm>
          <a:prstGeom prst="rect">
            <a:avLst/>
          </a:prstGeom>
        </p:spPr>
      </p:pic>
      <p:pic>
        <p:nvPicPr>
          <p:cNvPr id="18" name="SK-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53209" y="3714750"/>
            <a:ext cx="2367409" cy="654248"/>
          </a:xfrm>
          <a:prstGeom prst="rect">
            <a:avLst/>
          </a:prstGeom>
        </p:spPr>
      </p:pic>
      <p:pic>
        <p:nvPicPr>
          <p:cNvPr id="19" name="SK-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67509" y="3861792"/>
            <a:ext cx="178594" cy="148828"/>
          </a:xfrm>
          <a:prstGeom prst="rect">
            <a:avLst/>
          </a:prstGeom>
        </p:spPr>
      </p:pic>
      <p:pic>
        <p:nvPicPr>
          <p:cNvPr id="20" name="SK-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483298"/>
            <a:ext cx="2367409" cy="654248"/>
          </a:xfrm>
          <a:prstGeom prst="rect">
            <a:avLst/>
          </a:prstGeom>
        </p:spPr>
      </p:pic>
      <p:pic>
        <p:nvPicPr>
          <p:cNvPr id="21" name="SK-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4630341"/>
            <a:ext cx="178594" cy="148828"/>
          </a:xfrm>
          <a:prstGeom prst="rect">
            <a:avLst/>
          </a:prstGeom>
        </p:spPr>
      </p:pic>
      <p:pic>
        <p:nvPicPr>
          <p:cNvPr id="22" name="SK-4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53209" y="4483298"/>
            <a:ext cx="2367409" cy="654248"/>
          </a:xfrm>
          <a:prstGeom prst="rect">
            <a:avLst/>
          </a:prstGeom>
        </p:spPr>
      </p:pic>
      <p:pic>
        <p:nvPicPr>
          <p:cNvPr id="23" name="SK-4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67509" y="4630341"/>
            <a:ext cx="178594" cy="148828"/>
          </a:xfrm>
          <a:prstGeom prst="rect">
            <a:avLst/>
          </a:prstGeom>
        </p:spPr>
      </p:pic>
      <p:pic>
        <p:nvPicPr>
          <p:cNvPr id="24" name="SK-4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5328047"/>
            <a:ext cx="4849118" cy="838200"/>
          </a:xfrm>
          <a:prstGeom prst="rect">
            <a:avLst/>
          </a:prstGeom>
        </p:spPr>
      </p:pic>
      <p:pic>
        <p:nvPicPr>
          <p:cNvPr id="25" name="SK-4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" y="5490121"/>
            <a:ext cx="166688" cy="137220"/>
          </a:xfrm>
          <a:prstGeom prst="rect">
            <a:avLst/>
          </a:prstGeom>
        </p:spPr>
      </p:pic>
      <p:pic>
        <p:nvPicPr>
          <p:cNvPr id="26" name="SK-4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801618" y="2028825"/>
            <a:ext cx="342900" cy="342900"/>
          </a:xfrm>
          <a:prstGeom prst="rect">
            <a:avLst/>
          </a:prstGeom>
        </p:spPr>
      </p:pic>
      <p:pic>
        <p:nvPicPr>
          <p:cNvPr id="27" name="SK-4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877818" y="2124075"/>
            <a:ext cx="190500" cy="152400"/>
          </a:xfrm>
          <a:prstGeom prst="rect">
            <a:avLst/>
          </a:prstGeom>
        </p:spPr>
      </p:pic>
      <p:pic>
        <p:nvPicPr>
          <p:cNvPr id="28" name="SK-4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801618" y="2562225"/>
            <a:ext cx="5818882" cy="1281113"/>
          </a:xfrm>
          <a:prstGeom prst="rect">
            <a:avLst/>
          </a:prstGeom>
        </p:spPr>
      </p:pic>
      <p:pic>
        <p:nvPicPr>
          <p:cNvPr id="29" name="SK-4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54018" y="2755553"/>
            <a:ext cx="214313" cy="175320"/>
          </a:xfrm>
          <a:prstGeom prst="rect">
            <a:avLst/>
          </a:prstGeom>
        </p:spPr>
      </p:pic>
      <p:pic>
        <p:nvPicPr>
          <p:cNvPr id="30" name="SK-4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954018" y="3086100"/>
            <a:ext cx="1774478" cy="338138"/>
          </a:xfrm>
          <a:prstGeom prst="rect">
            <a:avLst/>
          </a:prstGeom>
        </p:spPr>
      </p:pic>
      <p:pic>
        <p:nvPicPr>
          <p:cNvPr id="31" name="SK-4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23746" y="3086100"/>
            <a:ext cx="1774478" cy="338138"/>
          </a:xfrm>
          <a:prstGeom prst="rect">
            <a:avLst/>
          </a:prstGeom>
        </p:spPr>
      </p:pic>
      <p:pic>
        <p:nvPicPr>
          <p:cNvPr id="32" name="SK-4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693473" y="3086100"/>
            <a:ext cx="1774478" cy="338138"/>
          </a:xfrm>
          <a:prstGeom prst="rect">
            <a:avLst/>
          </a:prstGeom>
        </p:spPr>
      </p:pic>
      <p:pic>
        <p:nvPicPr>
          <p:cNvPr id="33" name="SK-4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801618" y="4324350"/>
            <a:ext cx="1028700" cy="314325"/>
          </a:xfrm>
          <a:prstGeom prst="rect">
            <a:avLst/>
          </a:prstGeom>
        </p:spPr>
      </p:pic>
      <p:pic>
        <p:nvPicPr>
          <p:cNvPr id="34" name="SK-4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06518" y="4324350"/>
            <a:ext cx="1028700" cy="314325"/>
          </a:xfrm>
          <a:prstGeom prst="rect">
            <a:avLst/>
          </a:prstGeom>
        </p:spPr>
      </p:pic>
      <p:pic>
        <p:nvPicPr>
          <p:cNvPr id="35" name="SK-4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011418" y="4324350"/>
            <a:ext cx="1028700" cy="314325"/>
          </a:xfrm>
          <a:prstGeom prst="rect">
            <a:avLst/>
          </a:prstGeom>
        </p:spPr>
      </p:pic>
      <p:pic>
        <p:nvPicPr>
          <p:cNvPr id="36" name="SK-4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116318" y="4324350"/>
            <a:ext cx="1028700" cy="314325"/>
          </a:xfrm>
          <a:prstGeom prst="rect">
            <a:avLst/>
          </a:prstGeom>
        </p:spPr>
      </p:pic>
      <p:pic>
        <p:nvPicPr>
          <p:cNvPr id="37" name="SK-4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221218" y="4324350"/>
            <a:ext cx="1028700" cy="314325"/>
          </a:xfrm>
          <a:prstGeom prst="rect">
            <a:avLst/>
          </a:prstGeom>
        </p:spPr>
      </p:pic>
      <p:pic>
        <p:nvPicPr>
          <p:cNvPr id="38" name="SK-4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801618" y="4714875"/>
            <a:ext cx="1028700" cy="314325"/>
          </a:xfrm>
          <a:prstGeom prst="rect">
            <a:avLst/>
          </a:prstGeom>
        </p:spPr>
      </p:pic>
      <p:pic>
        <p:nvPicPr>
          <p:cNvPr id="39" name="SK-4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906518" y="4714875"/>
            <a:ext cx="1019175" cy="314325"/>
          </a:xfrm>
          <a:prstGeom prst="rect">
            <a:avLst/>
          </a:prstGeom>
        </p:spPr>
      </p:pic>
      <p:pic>
        <p:nvPicPr>
          <p:cNvPr id="40" name="SK-4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801618" y="5219700"/>
            <a:ext cx="2861816" cy="561975"/>
          </a:xfrm>
          <a:prstGeom prst="rect">
            <a:avLst/>
          </a:prstGeom>
        </p:spPr>
      </p:pic>
      <p:pic>
        <p:nvPicPr>
          <p:cNvPr id="41" name="SK-4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758684" y="5219700"/>
            <a:ext cx="2861816" cy="561975"/>
          </a:xfrm>
          <a:prstGeom prst="rect">
            <a:avLst/>
          </a:prstGeom>
        </p:spPr>
      </p:pic>
      <p:sp>
        <p:nvSpPr>
          <p:cNvPr id="42" name="SK-4-text-41"/>
          <p:cNvSpPr/>
          <p:nvPr/>
        </p:nvSpPr>
        <p:spPr>
          <a:xfrm>
            <a:off x="723900" y="381000"/>
            <a:ext cx="1027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-3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模块一与二：画像构建与协同资源生成</a:t>
            </a:r>
            <a:endParaRPr lang="en-US" sz="2400" dirty="0"/>
          </a:p>
        </p:txBody>
      </p:sp>
      <p:sp>
        <p:nvSpPr>
          <p:cNvPr id="43" name="SK-4-text-42"/>
          <p:cNvSpPr/>
          <p:nvPr/>
        </p:nvSpPr>
        <p:spPr>
          <a:xfrm>
            <a:off x="7239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SPECIFICATION / LEARNAGENT SYSTEM</a:t>
            </a:r>
            <a:endParaRPr lang="en-US" sz="1200" dirty="0"/>
          </a:p>
        </p:txBody>
      </p:sp>
      <p:sp>
        <p:nvSpPr>
          <p:cNvPr id="44" name="SK-4-text-43"/>
          <p:cNvSpPr/>
          <p:nvPr/>
        </p:nvSpPr>
        <p:spPr>
          <a:xfrm>
            <a:off x="1009650" y="1644253"/>
            <a:ext cx="422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8维度动态学习画像</a:t>
            </a:r>
            <a:endParaRPr lang="en-US" sz="1800" dirty="0"/>
          </a:p>
        </p:txBody>
      </p:sp>
      <p:sp>
        <p:nvSpPr>
          <p:cNvPr id="45" name="SK-4-text-44"/>
          <p:cNvSpPr/>
          <p:nvPr/>
        </p:nvSpPr>
        <p:spPr>
          <a:xfrm>
            <a:off x="940594" y="2291953"/>
            <a:ext cx="213880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知识基础</a:t>
            </a:r>
            <a:endParaRPr lang="en-US" sz="1125" dirty="0"/>
          </a:p>
        </p:txBody>
      </p:sp>
      <p:sp>
        <p:nvSpPr>
          <p:cNvPr id="46" name="SK-4-text-45"/>
          <p:cNvSpPr/>
          <p:nvPr/>
        </p:nvSpPr>
        <p:spPr>
          <a:xfrm>
            <a:off x="685800" y="2544366"/>
            <a:ext cx="27012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掌握程度、前置知识储备</a:t>
            </a:r>
            <a:endParaRPr lang="en-US" sz="975" dirty="0"/>
          </a:p>
        </p:txBody>
      </p:sp>
      <p:sp>
        <p:nvSpPr>
          <p:cNvPr id="47" name="SK-4-text-46"/>
          <p:cNvSpPr/>
          <p:nvPr/>
        </p:nvSpPr>
        <p:spPr>
          <a:xfrm>
            <a:off x="3422303" y="2291953"/>
            <a:ext cx="213880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认知风格</a:t>
            </a:r>
            <a:endParaRPr lang="en-US" sz="1125" dirty="0"/>
          </a:p>
        </p:txBody>
      </p:sp>
      <p:sp>
        <p:nvSpPr>
          <p:cNvPr id="48" name="SK-4-text-47"/>
          <p:cNvSpPr/>
          <p:nvPr/>
        </p:nvSpPr>
        <p:spPr>
          <a:xfrm>
            <a:off x="3167509" y="2544366"/>
            <a:ext cx="2354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视觉/听觉/动觉偏好</a:t>
            </a:r>
            <a:endParaRPr lang="en-US" sz="975" dirty="0"/>
          </a:p>
        </p:txBody>
      </p:sp>
      <p:sp>
        <p:nvSpPr>
          <p:cNvPr id="49" name="SK-4-text-48"/>
          <p:cNvSpPr/>
          <p:nvPr/>
        </p:nvSpPr>
        <p:spPr>
          <a:xfrm>
            <a:off x="940594" y="3060502"/>
            <a:ext cx="213880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学习目标</a:t>
            </a:r>
            <a:endParaRPr lang="en-US" sz="1125" dirty="0"/>
          </a:p>
        </p:txBody>
      </p:sp>
      <p:sp>
        <p:nvSpPr>
          <p:cNvPr id="50" name="SK-4-text-49"/>
          <p:cNvSpPr/>
          <p:nvPr/>
        </p:nvSpPr>
        <p:spPr>
          <a:xfrm>
            <a:off x="685800" y="3312914"/>
            <a:ext cx="27012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短期考试/长期临床技能</a:t>
            </a:r>
            <a:endParaRPr lang="en-US" sz="975" dirty="0"/>
          </a:p>
        </p:txBody>
      </p:sp>
      <p:sp>
        <p:nvSpPr>
          <p:cNvPr id="51" name="SK-4-text-50"/>
          <p:cNvSpPr/>
          <p:nvPr/>
        </p:nvSpPr>
        <p:spPr>
          <a:xfrm>
            <a:off x="3422303" y="3060502"/>
            <a:ext cx="213880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易错模式</a:t>
            </a:r>
            <a:endParaRPr lang="en-US" sz="1125" dirty="0"/>
          </a:p>
        </p:txBody>
      </p:sp>
      <p:sp>
        <p:nvSpPr>
          <p:cNvPr id="52" name="SK-4-text-51"/>
          <p:cNvSpPr/>
          <p:nvPr/>
        </p:nvSpPr>
        <p:spPr>
          <a:xfrm>
            <a:off x="3167509" y="3312914"/>
            <a:ext cx="22150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高频错点、逻辑漏洞</a:t>
            </a:r>
            <a:endParaRPr lang="en-US" sz="975" dirty="0"/>
          </a:p>
        </p:txBody>
      </p:sp>
      <p:sp>
        <p:nvSpPr>
          <p:cNvPr id="53" name="SK-4-text-52"/>
          <p:cNvSpPr/>
          <p:nvPr/>
        </p:nvSpPr>
        <p:spPr>
          <a:xfrm>
            <a:off x="940594" y="3829050"/>
            <a:ext cx="213880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学习节奏</a:t>
            </a:r>
            <a:endParaRPr lang="en-US" sz="1125" dirty="0"/>
          </a:p>
        </p:txBody>
      </p:sp>
      <p:sp>
        <p:nvSpPr>
          <p:cNvPr id="54" name="SK-4-text-53"/>
          <p:cNvSpPr/>
          <p:nvPr/>
        </p:nvSpPr>
        <p:spPr>
          <a:xfrm>
            <a:off x="685800" y="4081463"/>
            <a:ext cx="2453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活跃时间段、专注时长</a:t>
            </a:r>
            <a:endParaRPr lang="en-US" sz="975" dirty="0"/>
          </a:p>
        </p:txBody>
      </p:sp>
      <p:sp>
        <p:nvSpPr>
          <p:cNvPr id="55" name="SK-4-text-54"/>
          <p:cNvSpPr/>
          <p:nvPr/>
        </p:nvSpPr>
        <p:spPr>
          <a:xfrm>
            <a:off x="3422303" y="3829050"/>
            <a:ext cx="213880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资源偏好</a:t>
            </a:r>
            <a:endParaRPr lang="en-US" sz="1125" dirty="0"/>
          </a:p>
        </p:txBody>
      </p:sp>
      <p:sp>
        <p:nvSpPr>
          <p:cNvPr id="56" name="SK-4-text-55"/>
          <p:cNvSpPr/>
          <p:nvPr/>
        </p:nvSpPr>
        <p:spPr>
          <a:xfrm>
            <a:off x="3167509" y="4081463"/>
            <a:ext cx="2354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视频/文档/互动练习</a:t>
            </a:r>
            <a:endParaRPr lang="en-US" sz="975" dirty="0"/>
          </a:p>
        </p:txBody>
      </p:sp>
      <p:sp>
        <p:nvSpPr>
          <p:cNvPr id="57" name="SK-4-text-56"/>
          <p:cNvSpPr/>
          <p:nvPr/>
        </p:nvSpPr>
        <p:spPr>
          <a:xfrm>
            <a:off x="940594" y="4597598"/>
            <a:ext cx="213880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临床经验</a:t>
            </a:r>
            <a:endParaRPr lang="en-US" sz="1125" dirty="0"/>
          </a:p>
        </p:txBody>
      </p:sp>
      <p:sp>
        <p:nvSpPr>
          <p:cNvPr id="58" name="SK-4-text-57"/>
          <p:cNvSpPr/>
          <p:nvPr/>
        </p:nvSpPr>
        <p:spPr>
          <a:xfrm>
            <a:off x="685800" y="4850011"/>
            <a:ext cx="2453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实习经历、病例接触量</a:t>
            </a:r>
            <a:endParaRPr lang="en-US" sz="975" dirty="0"/>
          </a:p>
        </p:txBody>
      </p:sp>
      <p:sp>
        <p:nvSpPr>
          <p:cNvPr id="59" name="SK-4-text-58"/>
          <p:cNvSpPr/>
          <p:nvPr/>
        </p:nvSpPr>
        <p:spPr>
          <a:xfrm>
            <a:off x="3422303" y="4597598"/>
            <a:ext cx="213880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情绪状态</a:t>
            </a:r>
            <a:endParaRPr lang="en-US" sz="1125" dirty="0"/>
          </a:p>
        </p:txBody>
      </p:sp>
      <p:sp>
        <p:nvSpPr>
          <p:cNvPr id="60" name="SK-4-text-59"/>
          <p:cNvSpPr/>
          <p:nvPr/>
        </p:nvSpPr>
        <p:spPr>
          <a:xfrm>
            <a:off x="3167509" y="4850011"/>
            <a:ext cx="2354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焦虑度、动机、疲劳感</a:t>
            </a:r>
            <a:endParaRPr lang="en-US" sz="975" dirty="0"/>
          </a:p>
        </p:txBody>
      </p:sp>
      <p:sp>
        <p:nvSpPr>
          <p:cNvPr id="61" name="SK-4-text-60"/>
          <p:cNvSpPr/>
          <p:nvPr/>
        </p:nvSpPr>
        <p:spPr>
          <a:xfrm>
            <a:off x="852488" y="5442347"/>
            <a:ext cx="46205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随学随新机制</a:t>
            </a:r>
            <a:endParaRPr lang="en-US" sz="1050" dirty="0"/>
          </a:p>
        </p:txBody>
      </p:sp>
      <p:sp>
        <p:nvSpPr>
          <p:cNvPr id="62" name="SK-4-text-61"/>
          <p:cNvSpPr/>
          <p:nvPr/>
        </p:nvSpPr>
        <p:spPr>
          <a:xfrm>
            <a:off x="685800" y="5680472"/>
            <a:ext cx="462051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基于自然语言对话自动抽取特征，实时更新画像，支持 AI 生成与手动编辑双向同步。</a:t>
            </a:r>
            <a:endParaRPr lang="en-US" sz="975" dirty="0"/>
          </a:p>
        </p:txBody>
      </p:sp>
      <p:sp>
        <p:nvSpPr>
          <p:cNvPr id="63" name="SK-4-text-62"/>
          <p:cNvSpPr/>
          <p:nvPr/>
        </p:nvSpPr>
        <p:spPr>
          <a:xfrm>
            <a:off x="6239768" y="2028825"/>
            <a:ext cx="468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多智能体协同资源生成</a:t>
            </a:r>
            <a:endParaRPr lang="en-US" sz="1800" dirty="0"/>
          </a:p>
        </p:txBody>
      </p:sp>
      <p:sp>
        <p:nvSpPr>
          <p:cNvPr id="64" name="SK-4-text-63"/>
          <p:cNvSpPr/>
          <p:nvPr/>
        </p:nvSpPr>
        <p:spPr>
          <a:xfrm>
            <a:off x="6244530" y="2714625"/>
            <a:ext cx="57607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辩论-仲裁模式 (Core Mechanism)</a:t>
            </a:r>
            <a:endParaRPr lang="en-US" sz="1350" dirty="0"/>
          </a:p>
        </p:txBody>
      </p:sp>
      <p:sp>
        <p:nvSpPr>
          <p:cNvPr id="65" name="SK-4-text-64"/>
          <p:cNvSpPr/>
          <p:nvPr/>
        </p:nvSpPr>
        <p:spPr>
          <a:xfrm>
            <a:off x="5915918" y="3086100"/>
            <a:ext cx="1698278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多专家并行推理</a:t>
            </a:r>
            <a:endParaRPr lang="en-US" sz="975" dirty="0"/>
          </a:p>
        </p:txBody>
      </p:sp>
      <p:sp>
        <p:nvSpPr>
          <p:cNvPr id="66" name="SK-4-text-65"/>
          <p:cNvSpPr/>
          <p:nvPr/>
        </p:nvSpPr>
        <p:spPr>
          <a:xfrm>
            <a:off x="7785646" y="3086100"/>
            <a:ext cx="1698278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冲突观点辩论</a:t>
            </a:r>
            <a:endParaRPr lang="en-US" sz="975" dirty="0"/>
          </a:p>
        </p:txBody>
      </p:sp>
      <p:sp>
        <p:nvSpPr>
          <p:cNvPr id="67" name="SK-4-text-66"/>
          <p:cNvSpPr/>
          <p:nvPr/>
        </p:nvSpPr>
        <p:spPr>
          <a:xfrm>
            <a:off x="9655373" y="3086100"/>
            <a:ext cx="1698278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仲裁裁决输出</a:t>
            </a:r>
            <a:endParaRPr lang="en-US" sz="975" dirty="0"/>
          </a:p>
        </p:txBody>
      </p:sp>
      <p:sp>
        <p:nvSpPr>
          <p:cNvPr id="68" name="SK-4-text-67"/>
          <p:cNvSpPr/>
          <p:nvPr/>
        </p:nvSpPr>
        <p:spPr>
          <a:xfrm>
            <a:off x="5954018" y="3519488"/>
            <a:ext cx="62379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通过动态编排，针对高难度任务启用 8 智能体全量协同，消除单一模型幻觉与偏见。</a:t>
            </a:r>
            <a:endParaRPr lang="en-US" sz="900" dirty="0"/>
          </a:p>
        </p:txBody>
      </p:sp>
      <p:sp>
        <p:nvSpPr>
          <p:cNvPr id="69" name="SK-4-text-68"/>
          <p:cNvSpPr/>
          <p:nvPr/>
        </p:nvSpPr>
        <p:spPr>
          <a:xfrm>
            <a:off x="5801618" y="4033837"/>
            <a:ext cx="58950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 7 类个性化学习资源：</a:t>
            </a:r>
            <a:endParaRPr lang="en-US" sz="1125" dirty="0"/>
          </a:p>
        </p:txBody>
      </p:sp>
      <p:sp>
        <p:nvSpPr>
          <p:cNvPr id="70" name="SK-4-text-69"/>
          <p:cNvSpPr/>
          <p:nvPr/>
        </p:nvSpPr>
        <p:spPr>
          <a:xfrm>
            <a:off x="5915918" y="4324350"/>
            <a:ext cx="13208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课程讲解文档</a:t>
            </a:r>
            <a:endParaRPr lang="en-US" sz="1050" dirty="0"/>
          </a:p>
        </p:txBody>
      </p:sp>
      <p:sp>
        <p:nvSpPr>
          <p:cNvPr id="71" name="SK-4-text-70"/>
          <p:cNvSpPr/>
          <p:nvPr/>
        </p:nvSpPr>
        <p:spPr>
          <a:xfrm>
            <a:off x="7020818" y="4324350"/>
            <a:ext cx="13208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知识体系导图</a:t>
            </a:r>
            <a:endParaRPr lang="en-US" sz="1050" dirty="0"/>
          </a:p>
        </p:txBody>
      </p:sp>
      <p:sp>
        <p:nvSpPr>
          <p:cNvPr id="72" name="SK-4-text-71"/>
          <p:cNvSpPr/>
          <p:nvPr/>
        </p:nvSpPr>
        <p:spPr>
          <a:xfrm>
            <a:off x="8125718" y="4324350"/>
            <a:ext cx="13208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自测练习题目</a:t>
            </a:r>
            <a:endParaRPr lang="en-US" sz="1050" dirty="0"/>
          </a:p>
        </p:txBody>
      </p:sp>
      <p:sp>
        <p:nvSpPr>
          <p:cNvPr id="73" name="SK-4-text-72"/>
          <p:cNvSpPr/>
          <p:nvPr/>
        </p:nvSpPr>
        <p:spPr>
          <a:xfrm>
            <a:off x="9230618" y="4324350"/>
            <a:ext cx="13208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临床指南文献</a:t>
            </a:r>
            <a:endParaRPr lang="en-US" sz="1050" dirty="0"/>
          </a:p>
        </p:txBody>
      </p:sp>
      <p:sp>
        <p:nvSpPr>
          <p:cNvPr id="74" name="SK-4-text-73"/>
          <p:cNvSpPr/>
          <p:nvPr/>
        </p:nvSpPr>
        <p:spPr>
          <a:xfrm>
            <a:off x="10335518" y="4324350"/>
            <a:ext cx="13208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视频教学脚本</a:t>
            </a:r>
            <a:endParaRPr lang="en-US" sz="1050" dirty="0"/>
          </a:p>
        </p:txBody>
      </p:sp>
      <p:sp>
        <p:nvSpPr>
          <p:cNvPr id="75" name="SK-4-text-74"/>
          <p:cNvSpPr/>
          <p:nvPr/>
        </p:nvSpPr>
        <p:spPr>
          <a:xfrm>
            <a:off x="5915918" y="4714875"/>
            <a:ext cx="13208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医学临床案例</a:t>
            </a:r>
            <a:endParaRPr lang="en-US" sz="1050" dirty="0"/>
          </a:p>
        </p:txBody>
      </p:sp>
      <p:sp>
        <p:nvSpPr>
          <p:cNvPr id="76" name="SK-4-text-75"/>
          <p:cNvSpPr/>
          <p:nvPr/>
        </p:nvSpPr>
        <p:spPr>
          <a:xfrm>
            <a:off x="7020818" y="4714875"/>
            <a:ext cx="127610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课程演示PPT</a:t>
            </a:r>
            <a:endParaRPr lang="en-US" sz="1050" dirty="0"/>
          </a:p>
        </p:txBody>
      </p:sp>
      <p:sp>
        <p:nvSpPr>
          <p:cNvPr id="77" name="SK-4-text-76"/>
          <p:cNvSpPr/>
          <p:nvPr/>
        </p:nvSpPr>
        <p:spPr>
          <a:xfrm>
            <a:off x="5896868" y="5314950"/>
            <a:ext cx="1676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三重质量校验</a:t>
            </a:r>
            <a:endParaRPr lang="en-US" sz="1050" dirty="0"/>
          </a:p>
        </p:txBody>
      </p:sp>
      <p:sp>
        <p:nvSpPr>
          <p:cNvPr id="78" name="SK-4-text-77"/>
          <p:cNvSpPr/>
          <p:nvPr/>
        </p:nvSpPr>
        <p:spPr>
          <a:xfrm>
            <a:off x="5896868" y="5514975"/>
            <a:ext cx="2407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准确性/匹配度/有效性</a:t>
            </a:r>
            <a:endParaRPr lang="en-US" sz="900" dirty="0"/>
          </a:p>
        </p:txBody>
      </p:sp>
      <p:sp>
        <p:nvSpPr>
          <p:cNvPr id="79" name="SK-4-text-78"/>
          <p:cNvSpPr/>
          <p:nvPr/>
        </p:nvSpPr>
        <p:spPr>
          <a:xfrm>
            <a:off x="8853934" y="5314950"/>
            <a:ext cx="1676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动态退火反思</a:t>
            </a:r>
            <a:endParaRPr lang="en-US" sz="1050" dirty="0"/>
          </a:p>
        </p:txBody>
      </p:sp>
      <p:sp>
        <p:nvSpPr>
          <p:cNvPr id="80" name="SK-4-text-79"/>
          <p:cNvSpPr/>
          <p:nvPr/>
        </p:nvSpPr>
        <p:spPr>
          <a:xfrm>
            <a:off x="8853934" y="5514975"/>
            <a:ext cx="2590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失败自动修正与权重衰减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62100"/>
            <a:ext cx="3530650" cy="4914900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790700"/>
            <a:ext cx="457200" cy="457200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1905000"/>
            <a:ext cx="285750" cy="228600"/>
          </a:xfrm>
          <a:prstGeom prst="rect">
            <a:avLst/>
          </a:prstGeom>
        </p:spPr>
      </p:pic>
      <p:pic>
        <p:nvPicPr>
          <p:cNvPr id="9" name="SK-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286125"/>
            <a:ext cx="3073450" cy="785813"/>
          </a:xfrm>
          <a:prstGeom prst="rect">
            <a:avLst/>
          </a:prstGeom>
        </p:spPr>
      </p:pic>
      <p:pic>
        <p:nvPicPr>
          <p:cNvPr id="10" name="SK-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462463"/>
            <a:ext cx="3073450" cy="352425"/>
          </a:xfrm>
          <a:prstGeom prst="rect">
            <a:avLst/>
          </a:prstGeom>
        </p:spPr>
      </p:pic>
      <p:pic>
        <p:nvPicPr>
          <p:cNvPr id="11" name="SK-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4570065"/>
            <a:ext cx="166688" cy="137220"/>
          </a:xfrm>
          <a:prstGeom prst="rect">
            <a:avLst/>
          </a:prstGeom>
        </p:spPr>
      </p:pic>
      <p:pic>
        <p:nvPicPr>
          <p:cNvPr id="12" name="SK-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0750" y="1562100"/>
            <a:ext cx="3530650" cy="4914900"/>
          </a:xfrm>
          <a:prstGeom prst="rect">
            <a:avLst/>
          </a:prstGeom>
        </p:spPr>
      </p:pic>
      <p:pic>
        <p:nvPicPr>
          <p:cNvPr id="13" name="SK-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9350" y="1790700"/>
            <a:ext cx="457200" cy="457200"/>
          </a:xfrm>
          <a:prstGeom prst="rect">
            <a:avLst/>
          </a:prstGeom>
        </p:spPr>
      </p:pic>
      <p:pic>
        <p:nvPicPr>
          <p:cNvPr id="14" name="SK-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45075" y="1905000"/>
            <a:ext cx="285750" cy="228600"/>
          </a:xfrm>
          <a:prstGeom prst="rect">
            <a:avLst/>
          </a:prstGeom>
        </p:spPr>
      </p:pic>
      <p:pic>
        <p:nvPicPr>
          <p:cNvPr id="15" name="SK-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59350" y="2495550"/>
            <a:ext cx="114300" cy="114300"/>
          </a:xfrm>
          <a:prstGeom prst="rect">
            <a:avLst/>
          </a:prstGeom>
        </p:spPr>
      </p:pic>
      <p:pic>
        <p:nvPicPr>
          <p:cNvPr id="16" name="SK-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06975" y="2609850"/>
            <a:ext cx="19050" cy="285750"/>
          </a:xfrm>
          <a:prstGeom prst="rect">
            <a:avLst/>
          </a:prstGeom>
        </p:spPr>
      </p:pic>
      <p:pic>
        <p:nvPicPr>
          <p:cNvPr id="17" name="SK-5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37499" y="2447925"/>
            <a:ext cx="495300" cy="209550"/>
          </a:xfrm>
          <a:prstGeom prst="rect">
            <a:avLst/>
          </a:prstGeom>
        </p:spPr>
      </p:pic>
      <p:pic>
        <p:nvPicPr>
          <p:cNvPr id="18" name="SK-5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59350" y="3105150"/>
            <a:ext cx="114300" cy="114300"/>
          </a:xfrm>
          <a:prstGeom prst="rect">
            <a:avLst/>
          </a:prstGeom>
        </p:spPr>
      </p:pic>
      <p:pic>
        <p:nvPicPr>
          <p:cNvPr id="19" name="SK-5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06975" y="3219450"/>
            <a:ext cx="19050" cy="285750"/>
          </a:xfrm>
          <a:prstGeom prst="rect">
            <a:avLst/>
          </a:prstGeom>
        </p:spPr>
      </p:pic>
      <p:pic>
        <p:nvPicPr>
          <p:cNvPr id="20" name="SK-5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37499" y="3057525"/>
            <a:ext cx="495300" cy="209550"/>
          </a:xfrm>
          <a:prstGeom prst="rect">
            <a:avLst/>
          </a:prstGeom>
        </p:spPr>
      </p:pic>
      <p:pic>
        <p:nvPicPr>
          <p:cNvPr id="21" name="SK-5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59350" y="3657600"/>
            <a:ext cx="3073450" cy="838200"/>
          </a:xfrm>
          <a:prstGeom prst="rect">
            <a:avLst/>
          </a:prstGeom>
        </p:spPr>
      </p:pic>
      <p:pic>
        <p:nvPicPr>
          <p:cNvPr id="22" name="SK-5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73650" y="3803303"/>
            <a:ext cx="166688" cy="137220"/>
          </a:xfrm>
          <a:prstGeom prst="rect">
            <a:avLst/>
          </a:prstGeom>
        </p:spPr>
      </p:pic>
      <p:pic>
        <p:nvPicPr>
          <p:cNvPr id="23" name="SK-5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89999" y="1562100"/>
            <a:ext cx="3530650" cy="4914900"/>
          </a:xfrm>
          <a:prstGeom prst="rect">
            <a:avLst/>
          </a:prstGeom>
        </p:spPr>
      </p:pic>
      <p:pic>
        <p:nvPicPr>
          <p:cNvPr id="24" name="SK-5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18599" y="1790700"/>
            <a:ext cx="457200" cy="457200"/>
          </a:xfrm>
          <a:prstGeom prst="rect">
            <a:avLst/>
          </a:prstGeom>
        </p:spPr>
      </p:pic>
      <p:pic>
        <p:nvPicPr>
          <p:cNvPr id="25" name="SK-5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04324" y="1905000"/>
            <a:ext cx="285750" cy="228600"/>
          </a:xfrm>
          <a:prstGeom prst="rect">
            <a:avLst/>
          </a:prstGeom>
        </p:spPr>
      </p:pic>
      <p:pic>
        <p:nvPicPr>
          <p:cNvPr id="26" name="SK-5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18599" y="2828925"/>
            <a:ext cx="1479500" cy="428625"/>
          </a:xfrm>
          <a:prstGeom prst="rect">
            <a:avLst/>
          </a:prstGeom>
        </p:spPr>
      </p:pic>
      <p:pic>
        <p:nvPicPr>
          <p:cNvPr id="27" name="SK-5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12400" y="2828925"/>
            <a:ext cx="1479649" cy="428625"/>
          </a:xfrm>
          <a:prstGeom prst="rect">
            <a:avLst/>
          </a:prstGeom>
        </p:spPr>
      </p:pic>
      <p:pic>
        <p:nvPicPr>
          <p:cNvPr id="28" name="SK-5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18599" y="3371850"/>
            <a:ext cx="1479500" cy="428625"/>
          </a:xfrm>
          <a:prstGeom prst="rect">
            <a:avLst/>
          </a:prstGeom>
        </p:spPr>
      </p:pic>
      <p:pic>
        <p:nvPicPr>
          <p:cNvPr id="29" name="SK-5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912400" y="3371850"/>
            <a:ext cx="1479649" cy="428625"/>
          </a:xfrm>
          <a:prstGeom prst="rect">
            <a:avLst/>
          </a:prstGeom>
        </p:spPr>
      </p:pic>
      <p:pic>
        <p:nvPicPr>
          <p:cNvPr id="30" name="SK-5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18599" y="4914900"/>
            <a:ext cx="3073450" cy="600075"/>
          </a:xfrm>
          <a:prstGeom prst="rect">
            <a:avLst/>
          </a:prstGeom>
        </p:spPr>
      </p:pic>
      <p:pic>
        <p:nvPicPr>
          <p:cNvPr id="31" name="SK-5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432899" y="5119688"/>
            <a:ext cx="238125" cy="190500"/>
          </a:xfrm>
          <a:prstGeom prst="rect">
            <a:avLst/>
          </a:prstGeom>
        </p:spPr>
      </p:pic>
      <p:sp>
        <p:nvSpPr>
          <p:cNvPr id="32" name="SK-5-text-31"/>
          <p:cNvSpPr/>
          <p:nvPr/>
        </p:nvSpPr>
        <p:spPr>
          <a:xfrm>
            <a:off x="723900" y="381000"/>
            <a:ext cx="1063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-3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模块三至五：辅导、路径规划与效果评估</a:t>
            </a:r>
            <a:endParaRPr lang="en-US" sz="2400" dirty="0"/>
          </a:p>
        </p:txBody>
      </p:sp>
      <p:sp>
        <p:nvSpPr>
          <p:cNvPr id="33" name="SK-5-text-32"/>
          <p:cNvSpPr/>
          <p:nvPr/>
        </p:nvSpPr>
        <p:spPr>
          <a:xfrm>
            <a:off x="7239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SPECIFICATION / LEARNAGENT SYSTEM</a:t>
            </a:r>
            <a:endParaRPr lang="en-US" sz="1200" dirty="0"/>
          </a:p>
        </p:txBody>
      </p:sp>
      <p:sp>
        <p:nvSpPr>
          <p:cNvPr id="34" name="SK-5-text-33"/>
          <p:cNvSpPr/>
          <p:nvPr/>
        </p:nvSpPr>
        <p:spPr>
          <a:xfrm>
            <a:off x="1409700" y="18478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智能辅导问答</a:t>
            </a:r>
            <a:endParaRPr lang="en-US" sz="1800" dirty="0"/>
          </a:p>
        </p:txBody>
      </p:sp>
      <p:sp>
        <p:nvSpPr>
          <p:cNvPr id="35" name="SK-5-text-34"/>
          <p:cNvSpPr/>
          <p:nvPr/>
        </p:nvSpPr>
        <p:spPr>
          <a:xfrm>
            <a:off x="800100" y="2438400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3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多轮交互与思考</a:t>
            </a:r>
            <a:endParaRPr lang="en-US" sz="1050" dirty="0"/>
          </a:p>
        </p:txBody>
      </p:sp>
      <p:sp>
        <p:nvSpPr>
          <p:cNvPr id="36" name="SK-5-text-35"/>
          <p:cNvSpPr/>
          <p:nvPr/>
        </p:nvSpPr>
        <p:spPr>
          <a:xfrm>
            <a:off x="800100" y="2676525"/>
            <a:ext cx="3073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支持上下文关联的连续追问，流式展示思考过程（Thinking），培养批判性思维。</a:t>
            </a:r>
            <a:endParaRPr lang="en-US" sz="1200" dirty="0"/>
          </a:p>
        </p:txBody>
      </p:sp>
      <p:sp>
        <p:nvSpPr>
          <p:cNvPr id="37" name="SK-5-text-36"/>
          <p:cNvSpPr/>
          <p:nvPr/>
        </p:nvSpPr>
        <p:spPr>
          <a:xfrm>
            <a:off x="914400" y="3286125"/>
            <a:ext cx="2844850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6B6D4"/>
                </a:solidFill>
              </a:rPr>
              <a:t>&gt; 分析医学影像特征...</a:t>
            </a:r>
            <a:endParaRPr lang="en-US" sz="975" dirty="0"/>
          </a:p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6B6D4"/>
                </a:solidFill>
              </a:rPr>
              <a:t>&gt; 检测到高密度影，疑似出血...</a:t>
            </a:r>
            <a:endParaRPr lang="en-US" sz="975" dirty="0"/>
          </a:p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6B6D4"/>
                </a:solidFill>
              </a:rPr>
              <a:t>&gt; 建议启动卒中急救流程...</a:t>
            </a:r>
            <a:endParaRPr lang="en-US" sz="975" dirty="0"/>
          </a:p>
        </p:txBody>
      </p:sp>
      <p:sp>
        <p:nvSpPr>
          <p:cNvPr id="38" name="SK-5-text-37"/>
          <p:cNvSpPr/>
          <p:nvPr/>
        </p:nvSpPr>
        <p:spPr>
          <a:xfrm>
            <a:off x="800100" y="4224338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3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多模态分析能力</a:t>
            </a:r>
            <a:endParaRPr lang="en-US" sz="1050" dirty="0"/>
          </a:p>
        </p:txBody>
      </p:sp>
      <p:sp>
        <p:nvSpPr>
          <p:cNvPr id="39" name="SK-5-text-38"/>
          <p:cNvSpPr/>
          <p:nvPr/>
        </p:nvSpPr>
        <p:spPr>
          <a:xfrm>
            <a:off x="1157288" y="4538663"/>
            <a:ext cx="44500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Qwen-VL: CT影像 / 检验报告解析</a:t>
            </a:r>
            <a:endParaRPr lang="en-US" sz="1050" dirty="0"/>
          </a:p>
        </p:txBody>
      </p:sp>
      <p:sp>
        <p:nvSpPr>
          <p:cNvPr id="40" name="SK-5-text-39"/>
          <p:cNvSpPr/>
          <p:nvPr/>
        </p:nvSpPr>
        <p:spPr>
          <a:xfrm>
            <a:off x="5168950" y="1847850"/>
            <a:ext cx="3314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个性化学习路径</a:t>
            </a:r>
            <a:endParaRPr lang="en-US" sz="1800" dirty="0"/>
          </a:p>
        </p:txBody>
      </p:sp>
      <p:sp>
        <p:nvSpPr>
          <p:cNvPr id="41" name="SK-5-text-40"/>
          <p:cNvSpPr/>
          <p:nvPr/>
        </p:nvSpPr>
        <p:spPr>
          <a:xfrm>
            <a:off x="4787950" y="24384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基础理论学习</a:t>
            </a:r>
            <a:endParaRPr lang="en-US" sz="1200" dirty="0"/>
          </a:p>
        </p:txBody>
      </p:sp>
      <p:sp>
        <p:nvSpPr>
          <p:cNvPr id="42" name="SK-5-text-41"/>
          <p:cNvSpPr/>
          <p:nvPr/>
        </p:nvSpPr>
        <p:spPr>
          <a:xfrm>
            <a:off x="7213699" y="2447925"/>
            <a:ext cx="5509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已完成</a:t>
            </a:r>
            <a:endParaRPr lang="en-US" sz="900" dirty="0"/>
          </a:p>
        </p:txBody>
      </p:sp>
      <p:sp>
        <p:nvSpPr>
          <p:cNvPr id="43" name="SK-5-text-42"/>
          <p:cNvSpPr/>
          <p:nvPr/>
        </p:nvSpPr>
        <p:spPr>
          <a:xfrm>
            <a:off x="4787950" y="2667000"/>
            <a:ext cx="31699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掌握脑卒中病理生理基础。</a:t>
            </a:r>
            <a:endParaRPr lang="en-US" sz="1050" dirty="0"/>
          </a:p>
        </p:txBody>
      </p:sp>
      <p:sp>
        <p:nvSpPr>
          <p:cNvPr id="44" name="SK-5-text-43"/>
          <p:cNvSpPr/>
          <p:nvPr/>
        </p:nvSpPr>
        <p:spPr>
          <a:xfrm>
            <a:off x="4787950" y="30480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临床案例研讨</a:t>
            </a:r>
            <a:endParaRPr lang="en-US" sz="1200" dirty="0"/>
          </a:p>
        </p:txBody>
      </p:sp>
      <p:sp>
        <p:nvSpPr>
          <p:cNvPr id="45" name="SK-5-text-44"/>
          <p:cNvSpPr/>
          <p:nvPr/>
        </p:nvSpPr>
        <p:spPr>
          <a:xfrm>
            <a:off x="7213699" y="3057525"/>
            <a:ext cx="5509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进行中</a:t>
            </a:r>
            <a:endParaRPr lang="en-US" sz="900" dirty="0"/>
          </a:p>
        </p:txBody>
      </p:sp>
      <p:sp>
        <p:nvSpPr>
          <p:cNvPr id="46" name="SK-5-text-45"/>
          <p:cNvSpPr/>
          <p:nvPr/>
        </p:nvSpPr>
        <p:spPr>
          <a:xfrm>
            <a:off x="4787950" y="3276600"/>
            <a:ext cx="31699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NIHSS评分实战案例练习。</a:t>
            </a:r>
            <a:endParaRPr lang="en-US" sz="1050" dirty="0"/>
          </a:p>
        </p:txBody>
      </p:sp>
      <p:sp>
        <p:nvSpPr>
          <p:cNvPr id="47" name="SK-5-text-46"/>
          <p:cNvSpPr/>
          <p:nvPr/>
        </p:nvSpPr>
        <p:spPr>
          <a:xfrm>
            <a:off x="4897487" y="3771900"/>
            <a:ext cx="2844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3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动态调整机制</a:t>
            </a:r>
            <a:endParaRPr lang="en-US" sz="1050" dirty="0"/>
          </a:p>
        </p:txBody>
      </p:sp>
      <p:sp>
        <p:nvSpPr>
          <p:cNvPr id="48" name="SK-5-text-47"/>
          <p:cNvSpPr/>
          <p:nvPr/>
        </p:nvSpPr>
        <p:spPr>
          <a:xfrm>
            <a:off x="4673650" y="4010025"/>
            <a:ext cx="28448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根据画像更新或评估结果，自动重构后续阶段学习任务。</a:t>
            </a:r>
            <a:endParaRPr lang="en-US" sz="975" dirty="0"/>
          </a:p>
        </p:txBody>
      </p:sp>
      <p:sp>
        <p:nvSpPr>
          <p:cNvPr id="49" name="SK-5-text-48"/>
          <p:cNvSpPr/>
          <p:nvPr/>
        </p:nvSpPr>
        <p:spPr>
          <a:xfrm>
            <a:off x="8928199" y="18478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学习效果评估</a:t>
            </a:r>
            <a:endParaRPr lang="en-US" sz="1800" dirty="0"/>
          </a:p>
        </p:txBody>
      </p:sp>
      <p:sp>
        <p:nvSpPr>
          <p:cNvPr id="50" name="SK-5-text-49"/>
          <p:cNvSpPr/>
          <p:nvPr/>
        </p:nvSpPr>
        <p:spPr>
          <a:xfrm>
            <a:off x="8318599" y="2438400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3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4类评估模式</a:t>
            </a:r>
            <a:endParaRPr lang="en-US" sz="1050" dirty="0"/>
          </a:p>
        </p:txBody>
      </p:sp>
      <p:sp>
        <p:nvSpPr>
          <p:cNvPr id="51" name="SK-5-text-50"/>
          <p:cNvSpPr/>
          <p:nvPr/>
        </p:nvSpPr>
        <p:spPr>
          <a:xfrm>
            <a:off x="8280499" y="2828925"/>
            <a:ext cx="13271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综合评估</a:t>
            </a:r>
            <a:endParaRPr lang="en-US" sz="1050" dirty="0"/>
          </a:p>
        </p:txBody>
      </p:sp>
      <p:sp>
        <p:nvSpPr>
          <p:cNvPr id="52" name="SK-5-text-51"/>
          <p:cNvSpPr/>
          <p:nvPr/>
        </p:nvSpPr>
        <p:spPr>
          <a:xfrm>
            <a:off x="9874300" y="2828925"/>
            <a:ext cx="13272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知识掌握</a:t>
            </a:r>
            <a:endParaRPr lang="en-US" sz="1050" dirty="0"/>
          </a:p>
        </p:txBody>
      </p:sp>
      <p:sp>
        <p:nvSpPr>
          <p:cNvPr id="53" name="SK-5-text-52"/>
          <p:cNvSpPr/>
          <p:nvPr/>
        </p:nvSpPr>
        <p:spPr>
          <a:xfrm>
            <a:off x="8280499" y="3371850"/>
            <a:ext cx="13271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临床技能</a:t>
            </a:r>
            <a:endParaRPr lang="en-US" sz="1050" dirty="0"/>
          </a:p>
        </p:txBody>
      </p:sp>
      <p:sp>
        <p:nvSpPr>
          <p:cNvPr id="54" name="SK-5-text-53"/>
          <p:cNvSpPr/>
          <p:nvPr/>
        </p:nvSpPr>
        <p:spPr>
          <a:xfrm>
            <a:off x="9874300" y="3371850"/>
            <a:ext cx="13272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学习进度</a:t>
            </a:r>
            <a:endParaRPr lang="en-US" sz="1050" dirty="0"/>
          </a:p>
        </p:txBody>
      </p:sp>
      <p:sp>
        <p:nvSpPr>
          <p:cNvPr id="55" name="SK-5-text-54"/>
          <p:cNvSpPr/>
          <p:nvPr/>
        </p:nvSpPr>
        <p:spPr>
          <a:xfrm>
            <a:off x="8318599" y="3952875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3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结构化报告</a:t>
            </a:r>
            <a:endParaRPr lang="en-US" sz="1050" dirty="0"/>
          </a:p>
        </p:txBody>
      </p:sp>
      <p:sp>
        <p:nvSpPr>
          <p:cNvPr id="56" name="SK-5-text-55"/>
          <p:cNvSpPr/>
          <p:nvPr/>
        </p:nvSpPr>
        <p:spPr>
          <a:xfrm>
            <a:off x="8318599" y="4191000"/>
            <a:ext cx="3073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生成包含知识掌握度、薄弱环节定位及针对性改进建议的深度评估报告。</a:t>
            </a:r>
            <a:endParaRPr lang="en-US" sz="1200" dirty="0"/>
          </a:p>
        </p:txBody>
      </p:sp>
      <p:sp>
        <p:nvSpPr>
          <p:cNvPr id="57" name="SK-5-text-56"/>
          <p:cNvSpPr/>
          <p:nvPr/>
        </p:nvSpPr>
        <p:spPr>
          <a:xfrm>
            <a:off x="8785324" y="5029200"/>
            <a:ext cx="2568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闭环反馈系统</a:t>
            </a:r>
            <a:endParaRPr lang="en-US" sz="1050" dirty="0"/>
          </a:p>
        </p:txBody>
      </p:sp>
      <p:sp>
        <p:nvSpPr>
          <p:cNvPr id="58" name="SK-5-text-57"/>
          <p:cNvSpPr/>
          <p:nvPr/>
        </p:nvSpPr>
        <p:spPr>
          <a:xfrm>
            <a:off x="8785324" y="5229225"/>
            <a:ext cx="34066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评估结果自动反馈至画像更新与路径调整。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19250"/>
            <a:ext cx="3555950" cy="4186238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809750"/>
            <a:ext cx="3174950" cy="428625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852612"/>
            <a:ext cx="285750" cy="228600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1150" y="1854994"/>
            <a:ext cx="685800" cy="223838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447925"/>
            <a:ext cx="57150" cy="57150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019425"/>
            <a:ext cx="57150" cy="57150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819525"/>
            <a:ext cx="57150" cy="57150"/>
          </a:xfrm>
          <a:prstGeom prst="rect">
            <a:avLst/>
          </a:prstGeom>
        </p:spPr>
      </p:pic>
      <p:pic>
        <p:nvPicPr>
          <p:cNvPr id="13" name="SK-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7950" y="1619250"/>
            <a:ext cx="3555950" cy="4186238"/>
          </a:xfrm>
          <a:prstGeom prst="rect">
            <a:avLst/>
          </a:prstGeom>
        </p:spPr>
      </p:pic>
      <p:pic>
        <p:nvPicPr>
          <p:cNvPr id="14" name="SK-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8450" y="1809750"/>
            <a:ext cx="3174950" cy="428625"/>
          </a:xfrm>
          <a:prstGeom prst="rect">
            <a:avLst/>
          </a:prstGeom>
        </p:spPr>
      </p:pic>
      <p:pic>
        <p:nvPicPr>
          <p:cNvPr id="15" name="SK-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08450" y="1852612"/>
            <a:ext cx="285750" cy="228600"/>
          </a:xfrm>
          <a:prstGeom prst="rect">
            <a:avLst/>
          </a:prstGeom>
        </p:spPr>
      </p:pic>
      <p:pic>
        <p:nvPicPr>
          <p:cNvPr id="16" name="SK-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8001" y="1854994"/>
            <a:ext cx="1295400" cy="223838"/>
          </a:xfrm>
          <a:prstGeom prst="rect">
            <a:avLst/>
          </a:prstGeom>
        </p:spPr>
      </p:pic>
      <p:pic>
        <p:nvPicPr>
          <p:cNvPr id="17" name="SK-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08450" y="2447925"/>
            <a:ext cx="57150" cy="57150"/>
          </a:xfrm>
          <a:prstGeom prst="rect">
            <a:avLst/>
          </a:prstGeom>
        </p:spPr>
      </p:pic>
      <p:pic>
        <p:nvPicPr>
          <p:cNvPr id="18" name="SK-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08450" y="3248025"/>
            <a:ext cx="57150" cy="57150"/>
          </a:xfrm>
          <a:prstGeom prst="rect">
            <a:avLst/>
          </a:prstGeom>
        </p:spPr>
      </p:pic>
      <p:pic>
        <p:nvPicPr>
          <p:cNvPr id="19" name="SK-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08450" y="4048125"/>
            <a:ext cx="57150" cy="57150"/>
          </a:xfrm>
          <a:prstGeom prst="rect">
            <a:avLst/>
          </a:prstGeom>
        </p:spPr>
      </p:pic>
      <p:pic>
        <p:nvPicPr>
          <p:cNvPr id="20" name="SK-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64401" y="1619250"/>
            <a:ext cx="3555950" cy="4186238"/>
          </a:xfrm>
          <a:prstGeom prst="rect">
            <a:avLst/>
          </a:prstGeom>
        </p:spPr>
      </p:pic>
      <p:pic>
        <p:nvPicPr>
          <p:cNvPr id="21" name="SK-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54901" y="1809750"/>
            <a:ext cx="3174950" cy="428625"/>
          </a:xfrm>
          <a:prstGeom prst="rect">
            <a:avLst/>
          </a:prstGeom>
        </p:spPr>
      </p:pic>
      <p:pic>
        <p:nvPicPr>
          <p:cNvPr id="22" name="SK-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54901" y="1852612"/>
            <a:ext cx="285750" cy="228600"/>
          </a:xfrm>
          <a:prstGeom prst="rect">
            <a:avLst/>
          </a:prstGeom>
        </p:spPr>
      </p:pic>
      <p:pic>
        <p:nvPicPr>
          <p:cNvPr id="23" name="SK-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58251" y="1854994"/>
            <a:ext cx="1371600" cy="223838"/>
          </a:xfrm>
          <a:prstGeom prst="rect">
            <a:avLst/>
          </a:prstGeom>
        </p:spPr>
      </p:pic>
      <p:pic>
        <p:nvPicPr>
          <p:cNvPr id="24" name="SK-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54901" y="2447925"/>
            <a:ext cx="57150" cy="57150"/>
          </a:xfrm>
          <a:prstGeom prst="rect">
            <a:avLst/>
          </a:prstGeom>
        </p:spPr>
      </p:pic>
      <p:pic>
        <p:nvPicPr>
          <p:cNvPr id="25" name="SK-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54901" y="3248025"/>
            <a:ext cx="57150" cy="57150"/>
          </a:xfrm>
          <a:prstGeom prst="rect">
            <a:avLst/>
          </a:prstGeom>
        </p:spPr>
      </p:pic>
      <p:pic>
        <p:nvPicPr>
          <p:cNvPr id="26" name="SK-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54901" y="4048125"/>
            <a:ext cx="57150" cy="57150"/>
          </a:xfrm>
          <a:prstGeom prst="rect">
            <a:avLst/>
          </a:prstGeom>
        </p:spPr>
      </p:pic>
      <p:pic>
        <p:nvPicPr>
          <p:cNvPr id="27" name="SK-6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" y="6034088"/>
            <a:ext cx="11049000" cy="442913"/>
          </a:xfrm>
          <a:prstGeom prst="rect">
            <a:avLst/>
          </a:prstGeom>
        </p:spPr>
      </p:pic>
      <p:pic>
        <p:nvPicPr>
          <p:cNvPr id="28" name="SK-6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69306" y="6181130"/>
            <a:ext cx="178594" cy="148828"/>
          </a:xfrm>
          <a:prstGeom prst="rect">
            <a:avLst/>
          </a:prstGeom>
        </p:spPr>
      </p:pic>
      <p:pic>
        <p:nvPicPr>
          <p:cNvPr id="29" name="SK-6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105150" y="6198394"/>
            <a:ext cx="142875" cy="114300"/>
          </a:xfrm>
          <a:prstGeom prst="rect">
            <a:avLst/>
          </a:prstGeom>
        </p:spPr>
      </p:pic>
      <p:pic>
        <p:nvPicPr>
          <p:cNvPr id="30" name="SK-6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438525" y="6157913"/>
            <a:ext cx="581025" cy="195263"/>
          </a:xfrm>
          <a:prstGeom prst="rect">
            <a:avLst/>
          </a:prstGeom>
        </p:spPr>
      </p:pic>
      <p:pic>
        <p:nvPicPr>
          <p:cNvPr id="31" name="SK-6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019675" y="6198394"/>
            <a:ext cx="142875" cy="114300"/>
          </a:xfrm>
          <a:prstGeom prst="rect">
            <a:avLst/>
          </a:prstGeom>
        </p:spPr>
      </p:pic>
      <p:pic>
        <p:nvPicPr>
          <p:cNvPr id="32" name="SK-6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353050" y="6181130"/>
            <a:ext cx="178594" cy="148828"/>
          </a:xfrm>
          <a:prstGeom prst="rect">
            <a:avLst/>
          </a:prstGeom>
        </p:spPr>
      </p:pic>
      <p:pic>
        <p:nvPicPr>
          <p:cNvPr id="33" name="SK-6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74644" y="6198394"/>
            <a:ext cx="142875" cy="114300"/>
          </a:xfrm>
          <a:prstGeom prst="rect">
            <a:avLst/>
          </a:prstGeom>
        </p:spPr>
      </p:pic>
      <p:pic>
        <p:nvPicPr>
          <p:cNvPr id="34" name="SK-6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008019" y="6157913"/>
            <a:ext cx="781050" cy="195263"/>
          </a:xfrm>
          <a:prstGeom prst="rect">
            <a:avLst/>
          </a:prstGeom>
        </p:spPr>
      </p:pic>
      <p:pic>
        <p:nvPicPr>
          <p:cNvPr id="35" name="SK-6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074944" y="6198394"/>
            <a:ext cx="142875" cy="114300"/>
          </a:xfrm>
          <a:prstGeom prst="rect">
            <a:avLst/>
          </a:prstGeom>
        </p:spPr>
      </p:pic>
      <p:sp>
        <p:nvSpPr>
          <p:cNvPr id="36" name="SK-6-text-35"/>
          <p:cNvSpPr/>
          <p:nvPr/>
        </p:nvSpPr>
        <p:spPr>
          <a:xfrm>
            <a:off x="723900" y="381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-3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系统三层架构设计</a:t>
            </a:r>
            <a:endParaRPr lang="en-US" sz="2400" dirty="0"/>
          </a:p>
        </p:txBody>
      </p:sp>
      <p:sp>
        <p:nvSpPr>
          <p:cNvPr id="37" name="SK-6-text-36"/>
          <p:cNvSpPr/>
          <p:nvPr/>
        </p:nvSpPr>
        <p:spPr>
          <a:xfrm>
            <a:off x="7239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SPECIFICATION / LEARNAGENT SYSTEM</a:t>
            </a:r>
            <a:endParaRPr lang="en-US" sz="1200" dirty="0"/>
          </a:p>
        </p:txBody>
      </p:sp>
      <p:sp>
        <p:nvSpPr>
          <p:cNvPr id="38" name="SK-6-text-37"/>
          <p:cNvSpPr/>
          <p:nvPr/>
        </p:nvSpPr>
        <p:spPr>
          <a:xfrm>
            <a:off x="1162050" y="1809750"/>
            <a:ext cx="2200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前端交互层</a:t>
            </a:r>
            <a:endParaRPr lang="en-US" sz="1650" dirty="0"/>
          </a:p>
        </p:txBody>
      </p:sp>
      <p:sp>
        <p:nvSpPr>
          <p:cNvPr id="39" name="SK-6-text-38"/>
          <p:cNvSpPr/>
          <p:nvPr/>
        </p:nvSpPr>
        <p:spPr>
          <a:xfrm>
            <a:off x="3327350" y="1854994"/>
            <a:ext cx="1039283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6B6D4"/>
                </a:solidFill>
              </a:rPr>
              <a:t>Vue 3.5</a:t>
            </a:r>
            <a:endParaRPr lang="en-US" sz="975" dirty="0"/>
          </a:p>
        </p:txBody>
      </p:sp>
      <p:sp>
        <p:nvSpPr>
          <p:cNvPr id="40" name="SK-6-text-39"/>
          <p:cNvSpPr/>
          <p:nvPr/>
        </p:nvSpPr>
        <p:spPr>
          <a:xfrm>
            <a:off x="914400" y="2390775"/>
            <a:ext cx="3022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响应式渲染：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Composition API 与 Vite 7.1 构建，支持极速热更新与模块化开发。</a:t>
            </a:r>
            <a:endParaRPr lang="en-US" sz="1200" dirty="0"/>
          </a:p>
        </p:txBody>
      </p:sp>
      <p:sp>
        <p:nvSpPr>
          <p:cNvPr id="41" name="SK-6-text-40"/>
          <p:cNvSpPr/>
          <p:nvPr/>
        </p:nvSpPr>
        <p:spPr>
          <a:xfrm>
            <a:off x="914400" y="2962275"/>
            <a:ext cx="3022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流式展示：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Fetch ReadableStream 接收 SSE 事件，实现打字机效果及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ThinkingPanel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思考过程流式渲染。</a:t>
            </a:r>
            <a:endParaRPr lang="en-US" sz="1200" dirty="0"/>
          </a:p>
        </p:txBody>
      </p:sp>
      <p:sp>
        <p:nvSpPr>
          <p:cNvPr id="42" name="SK-6-text-41"/>
          <p:cNvSpPr/>
          <p:nvPr/>
        </p:nvSpPr>
        <p:spPr>
          <a:xfrm>
            <a:off x="914400" y="3762375"/>
            <a:ext cx="3022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组件生态：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集成 pdfjs-dist 预览文献，marked + DOMPurify 确保 Markdown 安全渲染。</a:t>
            </a:r>
            <a:endParaRPr lang="en-US" sz="1200" dirty="0"/>
          </a:p>
        </p:txBody>
      </p:sp>
      <p:sp>
        <p:nvSpPr>
          <p:cNvPr id="43" name="SK-6-text-42"/>
          <p:cNvSpPr/>
          <p:nvPr/>
        </p:nvSpPr>
        <p:spPr>
          <a:xfrm>
            <a:off x="4908500" y="1809750"/>
            <a:ext cx="2200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后端服务层</a:t>
            </a:r>
            <a:endParaRPr lang="en-US" sz="1650" dirty="0"/>
          </a:p>
        </p:txBody>
      </p:sp>
      <p:sp>
        <p:nvSpPr>
          <p:cNvPr id="44" name="SK-6-text-43"/>
          <p:cNvSpPr/>
          <p:nvPr/>
        </p:nvSpPr>
        <p:spPr>
          <a:xfrm>
            <a:off x="6464201" y="1854994"/>
            <a:ext cx="2217644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6B6D4"/>
                </a:solidFill>
              </a:rPr>
              <a:t>Spring Boot 3.3</a:t>
            </a:r>
            <a:endParaRPr lang="en-US" sz="975" dirty="0"/>
          </a:p>
        </p:txBody>
      </p:sp>
      <p:sp>
        <p:nvSpPr>
          <p:cNvPr id="45" name="SK-6-text-44"/>
          <p:cNvSpPr/>
          <p:nvPr/>
        </p:nvSpPr>
        <p:spPr>
          <a:xfrm>
            <a:off x="4660850" y="2390775"/>
            <a:ext cx="3022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响应式引擎：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采用 WebFlux 非阻塞架构，通过 WebClient 高效转发模型层异步生成器流。</a:t>
            </a:r>
            <a:endParaRPr lang="en-US" sz="1200" dirty="0"/>
          </a:p>
        </p:txBody>
      </p:sp>
      <p:sp>
        <p:nvSpPr>
          <p:cNvPr id="46" name="SK-6-text-45"/>
          <p:cNvSpPr/>
          <p:nvPr/>
        </p:nvSpPr>
        <p:spPr>
          <a:xfrm>
            <a:off x="4660850" y="3190875"/>
            <a:ext cx="3022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高可用保障：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Redisson 分布式限流与并发控制，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SSEEventCache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机制支持连接断线后的事件续传。</a:t>
            </a:r>
            <a:endParaRPr lang="en-US" sz="1200" dirty="0"/>
          </a:p>
        </p:txBody>
      </p:sp>
      <p:sp>
        <p:nvSpPr>
          <p:cNvPr id="47" name="SK-6-text-46"/>
          <p:cNvSpPr/>
          <p:nvPr/>
        </p:nvSpPr>
        <p:spPr>
          <a:xfrm>
            <a:off x="4660850" y="3990975"/>
            <a:ext cx="3022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安全管控：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JWT 双向认证确保服务调用安全，ConversationPersistence 实现对话历史持久化。</a:t>
            </a:r>
            <a:endParaRPr lang="en-US" sz="1200" dirty="0"/>
          </a:p>
        </p:txBody>
      </p:sp>
      <p:sp>
        <p:nvSpPr>
          <p:cNvPr id="48" name="SK-6-text-47"/>
          <p:cNvSpPr/>
          <p:nvPr/>
        </p:nvSpPr>
        <p:spPr>
          <a:xfrm>
            <a:off x="8654951" y="1809750"/>
            <a:ext cx="2200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模型推理层</a:t>
            </a:r>
            <a:endParaRPr lang="en-US" sz="1650" dirty="0"/>
          </a:p>
        </p:txBody>
      </p:sp>
      <p:sp>
        <p:nvSpPr>
          <p:cNvPr id="49" name="SK-6-text-48"/>
          <p:cNvSpPr/>
          <p:nvPr/>
        </p:nvSpPr>
        <p:spPr>
          <a:xfrm>
            <a:off x="10134451" y="1854994"/>
            <a:ext cx="205754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6B6D4"/>
                </a:solidFill>
              </a:rPr>
              <a:t>FastAPI / Python</a:t>
            </a:r>
            <a:endParaRPr lang="en-US" sz="975" dirty="0"/>
          </a:p>
        </p:txBody>
      </p:sp>
      <p:sp>
        <p:nvSpPr>
          <p:cNvPr id="50" name="SK-6-text-49"/>
          <p:cNvSpPr/>
          <p:nvPr/>
        </p:nvSpPr>
        <p:spPr>
          <a:xfrm>
            <a:off x="8407301" y="2390775"/>
            <a:ext cx="3022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智能编排：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状态机驱动八智能体协同，支持意图精准分流与动态任务裁剪。</a:t>
            </a:r>
            <a:endParaRPr lang="en-US" sz="1200" dirty="0"/>
          </a:p>
        </p:txBody>
      </p:sp>
      <p:sp>
        <p:nvSpPr>
          <p:cNvPr id="51" name="SK-6-text-50"/>
          <p:cNvSpPr/>
          <p:nvPr/>
        </p:nvSpPr>
        <p:spPr>
          <a:xfrm>
            <a:off x="8407301" y="3190875"/>
            <a:ext cx="3022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集成：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ChromaDB + BM25 混合检索，集成 gte-rerank 重排与 Qwen-VL 多模态视觉网关。</a:t>
            </a:r>
            <a:endParaRPr lang="en-US" sz="1200" dirty="0"/>
          </a:p>
        </p:txBody>
      </p:sp>
      <p:sp>
        <p:nvSpPr>
          <p:cNvPr id="52" name="SK-6-text-51"/>
          <p:cNvSpPr/>
          <p:nvPr/>
        </p:nvSpPr>
        <p:spPr>
          <a:xfrm>
            <a:off x="8407301" y="3990975"/>
            <a:ext cx="3022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异步生成：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Async Generator 持续输出标准事件流 (thinking / token / done)，实现全链路低延迟交互。</a:t>
            </a:r>
            <a:endParaRPr lang="en-US" sz="1200" dirty="0"/>
          </a:p>
        </p:txBody>
      </p:sp>
      <p:sp>
        <p:nvSpPr>
          <p:cNvPr id="53" name="SK-6-text-52"/>
          <p:cNvSpPr/>
          <p:nvPr/>
        </p:nvSpPr>
        <p:spPr>
          <a:xfrm>
            <a:off x="2343150" y="6148388"/>
            <a:ext cx="11430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用户交互</a:t>
            </a:r>
            <a:endParaRPr lang="en-US" sz="1125" dirty="0"/>
          </a:p>
        </p:txBody>
      </p:sp>
      <p:sp>
        <p:nvSpPr>
          <p:cNvPr id="54" name="SK-6-text-53"/>
          <p:cNvSpPr/>
          <p:nvPr/>
        </p:nvSpPr>
        <p:spPr>
          <a:xfrm>
            <a:off x="3495675" y="6148388"/>
            <a:ext cx="13906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REST API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鉴权与限流</a:t>
            </a:r>
            <a:endParaRPr lang="en-US" sz="1125" dirty="0"/>
          </a:p>
        </p:txBody>
      </p:sp>
      <p:sp>
        <p:nvSpPr>
          <p:cNvPr id="55" name="SK-6-text-54"/>
          <p:cNvSpPr/>
          <p:nvPr/>
        </p:nvSpPr>
        <p:spPr>
          <a:xfrm>
            <a:off x="5626894" y="6148388"/>
            <a:ext cx="17145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多智能体推理</a:t>
            </a:r>
            <a:endParaRPr lang="en-US" sz="1125" dirty="0"/>
          </a:p>
        </p:txBody>
      </p:sp>
      <p:sp>
        <p:nvSpPr>
          <p:cNvPr id="56" name="SK-6-text-55"/>
          <p:cNvSpPr/>
          <p:nvPr/>
        </p:nvSpPr>
        <p:spPr>
          <a:xfrm>
            <a:off x="7065169" y="6148388"/>
            <a:ext cx="18764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SSE STREAM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8B5C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全链路流式回传</a:t>
            </a:r>
            <a:endParaRPr lang="en-US" sz="1125" dirty="0"/>
          </a:p>
        </p:txBody>
      </p:sp>
      <p:sp>
        <p:nvSpPr>
          <p:cNvPr id="57" name="SK-6-text-56"/>
          <p:cNvSpPr/>
          <p:nvPr/>
        </p:nvSpPr>
        <p:spPr>
          <a:xfrm>
            <a:off x="9408319" y="6148388"/>
            <a:ext cx="15049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打字机渲染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1809006"/>
            <a:ext cx="6286500" cy="704850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1960811"/>
            <a:ext cx="214313" cy="175320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0" y="2742456"/>
            <a:ext cx="3067050" cy="677168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8300" y="2882950"/>
            <a:ext cx="190500" cy="152400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0" y="2854375"/>
            <a:ext cx="285750" cy="209550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3450" y="2742456"/>
            <a:ext cx="3067050" cy="677168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7750" y="2882950"/>
            <a:ext cx="190500" cy="152400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20450" y="2854375"/>
            <a:ext cx="285750" cy="209550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0" y="3543449"/>
            <a:ext cx="3067050" cy="863798"/>
          </a:xfrm>
          <a:prstGeom prst="rect">
            <a:avLst/>
          </a:prstGeom>
        </p:spPr>
      </p:pic>
      <p:pic>
        <p:nvPicPr>
          <p:cNvPr id="15" name="SK-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48300" y="3683943"/>
            <a:ext cx="190500" cy="152400"/>
          </a:xfrm>
          <a:prstGeom prst="rect">
            <a:avLst/>
          </a:prstGeom>
        </p:spPr>
      </p:pic>
      <p:pic>
        <p:nvPicPr>
          <p:cNvPr id="16" name="SK-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0" y="3655368"/>
            <a:ext cx="285750" cy="209550"/>
          </a:xfrm>
          <a:prstGeom prst="rect">
            <a:avLst/>
          </a:prstGeom>
        </p:spPr>
      </p:pic>
      <p:pic>
        <p:nvPicPr>
          <p:cNvPr id="17" name="SK-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53450" y="3543449"/>
            <a:ext cx="3067050" cy="863798"/>
          </a:xfrm>
          <a:prstGeom prst="rect">
            <a:avLst/>
          </a:prstGeom>
        </p:spPr>
      </p:pic>
      <p:pic>
        <p:nvPicPr>
          <p:cNvPr id="18" name="SK-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67750" y="3683943"/>
            <a:ext cx="190500" cy="152400"/>
          </a:xfrm>
          <a:prstGeom prst="rect">
            <a:avLst/>
          </a:prstGeom>
        </p:spPr>
      </p:pic>
      <p:pic>
        <p:nvPicPr>
          <p:cNvPr id="19" name="SK-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20450" y="3655368"/>
            <a:ext cx="285750" cy="209550"/>
          </a:xfrm>
          <a:prstGeom prst="rect">
            <a:avLst/>
          </a:prstGeom>
        </p:spPr>
      </p:pic>
      <p:pic>
        <p:nvPicPr>
          <p:cNvPr id="20" name="SK-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34000" y="4531072"/>
            <a:ext cx="3067050" cy="863798"/>
          </a:xfrm>
          <a:prstGeom prst="rect">
            <a:avLst/>
          </a:prstGeom>
        </p:spPr>
      </p:pic>
      <p:pic>
        <p:nvPicPr>
          <p:cNvPr id="21" name="SK-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48300" y="4671566"/>
            <a:ext cx="190500" cy="152400"/>
          </a:xfrm>
          <a:prstGeom prst="rect">
            <a:avLst/>
          </a:prstGeom>
        </p:spPr>
      </p:pic>
      <p:pic>
        <p:nvPicPr>
          <p:cNvPr id="22" name="SK-7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1000" y="4642991"/>
            <a:ext cx="285750" cy="209550"/>
          </a:xfrm>
          <a:prstGeom prst="rect">
            <a:avLst/>
          </a:prstGeom>
        </p:spPr>
      </p:pic>
      <p:pic>
        <p:nvPicPr>
          <p:cNvPr id="23" name="SK-7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53450" y="4531072"/>
            <a:ext cx="3067050" cy="863798"/>
          </a:xfrm>
          <a:prstGeom prst="rect">
            <a:avLst/>
          </a:prstGeom>
        </p:spPr>
      </p:pic>
      <p:pic>
        <p:nvPicPr>
          <p:cNvPr id="24" name="SK-7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67750" y="4671566"/>
            <a:ext cx="190500" cy="152400"/>
          </a:xfrm>
          <a:prstGeom prst="rect">
            <a:avLst/>
          </a:prstGeom>
        </p:spPr>
      </p:pic>
      <p:pic>
        <p:nvPicPr>
          <p:cNvPr id="25" name="SK-7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220450" y="4642991"/>
            <a:ext cx="285750" cy="209550"/>
          </a:xfrm>
          <a:prstGeom prst="rect">
            <a:avLst/>
          </a:prstGeom>
        </p:spPr>
      </p:pic>
      <p:pic>
        <p:nvPicPr>
          <p:cNvPr id="26" name="SK-7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34000" y="5518696"/>
            <a:ext cx="3067050" cy="863798"/>
          </a:xfrm>
          <a:prstGeom prst="rect">
            <a:avLst/>
          </a:prstGeom>
        </p:spPr>
      </p:pic>
      <p:pic>
        <p:nvPicPr>
          <p:cNvPr id="27" name="SK-7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48300" y="5659189"/>
            <a:ext cx="190500" cy="152400"/>
          </a:xfrm>
          <a:prstGeom prst="rect">
            <a:avLst/>
          </a:prstGeom>
        </p:spPr>
      </p:pic>
      <p:pic>
        <p:nvPicPr>
          <p:cNvPr id="28" name="SK-7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01000" y="5630614"/>
            <a:ext cx="285750" cy="209550"/>
          </a:xfrm>
          <a:prstGeom prst="rect">
            <a:avLst/>
          </a:prstGeom>
        </p:spPr>
      </p:pic>
      <p:pic>
        <p:nvPicPr>
          <p:cNvPr id="29" name="SK-7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553450" y="5518696"/>
            <a:ext cx="3067050" cy="863798"/>
          </a:xfrm>
          <a:prstGeom prst="rect">
            <a:avLst/>
          </a:prstGeom>
        </p:spPr>
      </p:pic>
      <p:pic>
        <p:nvPicPr>
          <p:cNvPr id="30" name="SK-7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667750" y="5659189"/>
            <a:ext cx="190500" cy="152400"/>
          </a:xfrm>
          <a:prstGeom prst="rect">
            <a:avLst/>
          </a:prstGeom>
        </p:spPr>
      </p:pic>
      <p:pic>
        <p:nvPicPr>
          <p:cNvPr id="31" name="SK-7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220450" y="5630614"/>
            <a:ext cx="285750" cy="209550"/>
          </a:xfrm>
          <a:prstGeom prst="rect">
            <a:avLst/>
          </a:prstGeom>
        </p:spPr>
      </p:pic>
      <p:sp>
        <p:nvSpPr>
          <p:cNvPr id="32" name="SK-7-text-31"/>
          <p:cNvSpPr/>
          <p:nvPr/>
        </p:nvSpPr>
        <p:spPr>
          <a:xfrm>
            <a:off x="723900" y="381000"/>
            <a:ext cx="624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-3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八智能体协同推理机制</a:t>
            </a:r>
            <a:endParaRPr lang="en-US" sz="2400" dirty="0"/>
          </a:p>
        </p:txBody>
      </p:sp>
      <p:sp>
        <p:nvSpPr>
          <p:cNvPr id="33" name="SK-7-text-32"/>
          <p:cNvSpPr/>
          <p:nvPr/>
        </p:nvSpPr>
        <p:spPr>
          <a:xfrm>
            <a:off x="7239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SPECIFICATION / LEARNAGENT SYSTEM</a:t>
            </a:r>
            <a:endParaRPr lang="en-US" sz="1200" dirty="0"/>
          </a:p>
        </p:txBody>
      </p:sp>
      <p:sp>
        <p:nvSpPr>
          <p:cNvPr id="34" name="SK-7-text-33"/>
          <p:cNvSpPr/>
          <p:nvPr/>
        </p:nvSpPr>
        <p:spPr>
          <a:xfrm>
            <a:off x="1824038" y="2328863"/>
            <a:ext cx="57912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0"/>
              </a:lnSpc>
              <a:buNone/>
            </a:pPr>
            <a:r>
              <a:rPr lang="en-US" sz="21000" b="1" dirty="0">
                <a:solidFill>
                  <a:srgbClr val="8B5C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21000" dirty="0"/>
          </a:p>
        </p:txBody>
      </p:sp>
      <p:sp>
        <p:nvSpPr>
          <p:cNvPr id="35" name="SK-7-text-34"/>
          <p:cNvSpPr/>
          <p:nvPr/>
        </p:nvSpPr>
        <p:spPr>
          <a:xfrm>
            <a:off x="1619250" y="4805363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spc="24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AGENTS</a:t>
            </a:r>
            <a:endParaRPr lang="en-US" sz="3600" dirty="0"/>
          </a:p>
        </p:txBody>
      </p:sp>
      <p:sp>
        <p:nvSpPr>
          <p:cNvPr id="36" name="SK-7-text-35"/>
          <p:cNvSpPr/>
          <p:nvPr/>
        </p:nvSpPr>
        <p:spPr>
          <a:xfrm>
            <a:off x="1638300" y="5605463"/>
            <a:ext cx="4200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多智能体动态编排推理网络</a:t>
            </a:r>
            <a:endParaRPr lang="en-US" sz="1350" dirty="0"/>
          </a:p>
        </p:txBody>
      </p:sp>
      <p:sp>
        <p:nvSpPr>
          <p:cNvPr id="37" name="SK-7-text-36"/>
          <p:cNvSpPr/>
          <p:nvPr/>
        </p:nvSpPr>
        <p:spPr>
          <a:xfrm>
            <a:off x="5700713" y="1904256"/>
            <a:ext cx="110757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B5C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动态编排逻辑</a:t>
            </a:r>
            <a:endParaRPr lang="en-US" sz="1350" dirty="0"/>
          </a:p>
        </p:txBody>
      </p:sp>
      <p:sp>
        <p:nvSpPr>
          <p:cNvPr id="38" name="SK-7-text-37"/>
          <p:cNvSpPr/>
          <p:nvPr/>
        </p:nvSpPr>
        <p:spPr>
          <a:xfrm>
            <a:off x="6708279" y="1947118"/>
            <a:ext cx="47598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IntentNode 意图评分 (0.0-1.0) 自动裁剪参与专家，实现算力与深度的动态平衡。</a:t>
            </a:r>
            <a:endParaRPr lang="en-US" sz="1125" dirty="0"/>
          </a:p>
        </p:txBody>
      </p:sp>
      <p:sp>
        <p:nvSpPr>
          <p:cNvPr id="39" name="SK-7-text-38"/>
          <p:cNvSpPr/>
          <p:nvPr/>
        </p:nvSpPr>
        <p:spPr>
          <a:xfrm>
            <a:off x="5715000" y="2837706"/>
            <a:ext cx="23479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画像对话智能体</a:t>
            </a:r>
            <a:endParaRPr lang="en-US" sz="1275" dirty="0"/>
          </a:p>
        </p:txBody>
      </p:sp>
      <p:sp>
        <p:nvSpPr>
          <p:cNvPr id="40" name="SK-7-text-39"/>
          <p:cNvSpPr/>
          <p:nvPr/>
        </p:nvSpPr>
        <p:spPr>
          <a:xfrm>
            <a:off x="8077200" y="2854375"/>
            <a:ext cx="246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</a:rPr>
              <a:t>P1</a:t>
            </a:r>
            <a:endParaRPr lang="en-US" sz="900" dirty="0"/>
          </a:p>
        </p:txBody>
      </p:sp>
      <p:sp>
        <p:nvSpPr>
          <p:cNvPr id="41" name="SK-7-text-40"/>
          <p:cNvSpPr/>
          <p:nvPr/>
        </p:nvSpPr>
        <p:spPr>
          <a:xfrm>
            <a:off x="5448300" y="3137743"/>
            <a:ext cx="54635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引导学生表达背景，构建对话式动态学习画像。</a:t>
            </a:r>
            <a:endParaRPr lang="en-US" sz="1050" dirty="0"/>
          </a:p>
        </p:txBody>
      </p:sp>
      <p:sp>
        <p:nvSpPr>
          <p:cNvPr id="42" name="SK-7-text-41"/>
          <p:cNvSpPr/>
          <p:nvPr/>
        </p:nvSpPr>
        <p:spPr>
          <a:xfrm>
            <a:off x="8934450" y="2837706"/>
            <a:ext cx="23479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特征抽取智能体</a:t>
            </a:r>
            <a:endParaRPr lang="en-US" sz="1275" dirty="0"/>
          </a:p>
        </p:txBody>
      </p:sp>
      <p:sp>
        <p:nvSpPr>
          <p:cNvPr id="43" name="SK-7-text-42"/>
          <p:cNvSpPr/>
          <p:nvPr/>
        </p:nvSpPr>
        <p:spPr>
          <a:xfrm>
            <a:off x="11296650" y="2854375"/>
            <a:ext cx="246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</a:rPr>
              <a:t>P2</a:t>
            </a:r>
            <a:endParaRPr lang="en-US" sz="900" dirty="0"/>
          </a:p>
        </p:txBody>
      </p:sp>
      <p:sp>
        <p:nvSpPr>
          <p:cNvPr id="44" name="SK-7-text-43"/>
          <p:cNvSpPr/>
          <p:nvPr/>
        </p:nvSpPr>
        <p:spPr>
          <a:xfrm>
            <a:off x="8667750" y="3137743"/>
            <a:ext cx="35242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从自然语言中自动抽取8个维度的结构化特征。</a:t>
            </a:r>
            <a:endParaRPr lang="en-US" sz="1050" dirty="0"/>
          </a:p>
        </p:txBody>
      </p:sp>
      <p:sp>
        <p:nvSpPr>
          <p:cNvPr id="45" name="SK-7-text-44"/>
          <p:cNvSpPr/>
          <p:nvPr/>
        </p:nvSpPr>
        <p:spPr>
          <a:xfrm>
            <a:off x="5715000" y="3638699"/>
            <a:ext cx="23479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需求分析智能体</a:t>
            </a:r>
            <a:endParaRPr lang="en-US" sz="1275" dirty="0"/>
          </a:p>
        </p:txBody>
      </p:sp>
      <p:sp>
        <p:nvSpPr>
          <p:cNvPr id="46" name="SK-7-text-45"/>
          <p:cNvSpPr/>
          <p:nvPr/>
        </p:nvSpPr>
        <p:spPr>
          <a:xfrm>
            <a:off x="8077200" y="3655368"/>
            <a:ext cx="246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</a:rPr>
              <a:t>P3</a:t>
            </a:r>
            <a:endParaRPr lang="en-US" sz="900" dirty="0"/>
          </a:p>
        </p:txBody>
      </p:sp>
      <p:sp>
        <p:nvSpPr>
          <p:cNvPr id="47" name="SK-7-text-46"/>
          <p:cNvSpPr/>
          <p:nvPr/>
        </p:nvSpPr>
        <p:spPr>
          <a:xfrm>
            <a:off x="5448300" y="3938736"/>
            <a:ext cx="28384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结合画像深度分析需求，精准拆解资源生成任务。</a:t>
            </a:r>
            <a:endParaRPr lang="en-US" sz="1050" dirty="0"/>
          </a:p>
        </p:txBody>
      </p:sp>
      <p:sp>
        <p:nvSpPr>
          <p:cNvPr id="48" name="SK-7-text-47"/>
          <p:cNvSpPr/>
          <p:nvPr/>
        </p:nvSpPr>
        <p:spPr>
          <a:xfrm>
            <a:off x="8934450" y="3638699"/>
            <a:ext cx="23479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文档撰写智能体</a:t>
            </a:r>
            <a:endParaRPr lang="en-US" sz="1275" dirty="0"/>
          </a:p>
        </p:txBody>
      </p:sp>
      <p:sp>
        <p:nvSpPr>
          <p:cNvPr id="49" name="SK-7-text-48"/>
          <p:cNvSpPr/>
          <p:nvPr/>
        </p:nvSpPr>
        <p:spPr>
          <a:xfrm>
            <a:off x="11296650" y="3655368"/>
            <a:ext cx="246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</a:rPr>
              <a:t>P4</a:t>
            </a:r>
            <a:endParaRPr lang="en-US" sz="900" dirty="0"/>
          </a:p>
        </p:txBody>
      </p:sp>
      <p:sp>
        <p:nvSpPr>
          <p:cNvPr id="50" name="SK-7-text-49"/>
          <p:cNvSpPr/>
          <p:nvPr/>
        </p:nvSpPr>
        <p:spPr>
          <a:xfrm>
            <a:off x="8667750" y="3938736"/>
            <a:ext cx="35242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生成课程讲解、临床案例等高质量教学内容。</a:t>
            </a:r>
            <a:endParaRPr lang="en-US" sz="1050" dirty="0"/>
          </a:p>
        </p:txBody>
      </p:sp>
      <p:sp>
        <p:nvSpPr>
          <p:cNvPr id="51" name="SK-7-text-50"/>
          <p:cNvSpPr/>
          <p:nvPr/>
        </p:nvSpPr>
        <p:spPr>
          <a:xfrm>
            <a:off x="5715000" y="4626322"/>
            <a:ext cx="23479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题目生成智能体</a:t>
            </a:r>
            <a:endParaRPr lang="en-US" sz="1275" dirty="0"/>
          </a:p>
        </p:txBody>
      </p:sp>
      <p:sp>
        <p:nvSpPr>
          <p:cNvPr id="52" name="SK-7-text-51"/>
          <p:cNvSpPr/>
          <p:nvPr/>
        </p:nvSpPr>
        <p:spPr>
          <a:xfrm>
            <a:off x="8077200" y="4642991"/>
            <a:ext cx="246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</a:rPr>
              <a:t>P5</a:t>
            </a:r>
            <a:endParaRPr lang="en-US" sz="900" dirty="0"/>
          </a:p>
        </p:txBody>
      </p:sp>
      <p:sp>
        <p:nvSpPr>
          <p:cNvPr id="53" name="SK-7-text-52"/>
          <p:cNvSpPr/>
          <p:nvPr/>
        </p:nvSpPr>
        <p:spPr>
          <a:xfrm>
            <a:off x="5448300" y="4926360"/>
            <a:ext cx="49301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生成多类型练习题，支持难度自适应调整。</a:t>
            </a:r>
            <a:endParaRPr lang="en-US" sz="1050" dirty="0"/>
          </a:p>
        </p:txBody>
      </p:sp>
      <p:sp>
        <p:nvSpPr>
          <p:cNvPr id="54" name="SK-7-text-53"/>
          <p:cNvSpPr/>
          <p:nvPr/>
        </p:nvSpPr>
        <p:spPr>
          <a:xfrm>
            <a:off x="8934450" y="4626322"/>
            <a:ext cx="23479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质量审核智能体</a:t>
            </a:r>
            <a:endParaRPr lang="en-US" sz="1275" dirty="0"/>
          </a:p>
        </p:txBody>
      </p:sp>
      <p:sp>
        <p:nvSpPr>
          <p:cNvPr id="55" name="SK-7-text-54"/>
          <p:cNvSpPr/>
          <p:nvPr/>
        </p:nvSpPr>
        <p:spPr>
          <a:xfrm>
            <a:off x="11296650" y="4642991"/>
            <a:ext cx="246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</a:rPr>
              <a:t>P6</a:t>
            </a:r>
            <a:endParaRPr lang="en-US" sz="900" dirty="0"/>
          </a:p>
        </p:txBody>
      </p:sp>
      <p:sp>
        <p:nvSpPr>
          <p:cNvPr id="56" name="SK-7-text-55"/>
          <p:cNvSpPr/>
          <p:nvPr/>
        </p:nvSpPr>
        <p:spPr>
          <a:xfrm>
            <a:off x="8667750" y="4926360"/>
            <a:ext cx="28384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三重校验：医学准确性、个性化匹配与教学有效性。</a:t>
            </a:r>
            <a:endParaRPr lang="en-US" sz="1050" dirty="0"/>
          </a:p>
        </p:txBody>
      </p:sp>
      <p:sp>
        <p:nvSpPr>
          <p:cNvPr id="57" name="SK-7-text-56"/>
          <p:cNvSpPr/>
          <p:nvPr/>
        </p:nvSpPr>
        <p:spPr>
          <a:xfrm>
            <a:off x="5715000" y="5613946"/>
            <a:ext cx="23479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学习激励智能体</a:t>
            </a:r>
            <a:endParaRPr lang="en-US" sz="1275" dirty="0"/>
          </a:p>
        </p:txBody>
      </p:sp>
      <p:sp>
        <p:nvSpPr>
          <p:cNvPr id="58" name="SK-7-text-57"/>
          <p:cNvSpPr/>
          <p:nvPr/>
        </p:nvSpPr>
        <p:spPr>
          <a:xfrm>
            <a:off x="8077200" y="5630614"/>
            <a:ext cx="246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</a:rPr>
              <a:t>P7</a:t>
            </a:r>
            <a:endParaRPr lang="en-US" sz="900" dirty="0"/>
          </a:p>
        </p:txBody>
      </p:sp>
      <p:sp>
        <p:nvSpPr>
          <p:cNvPr id="59" name="SK-7-text-58"/>
          <p:cNvSpPr/>
          <p:nvPr/>
        </p:nvSpPr>
        <p:spPr>
          <a:xfrm>
            <a:off x="5448300" y="5913983"/>
            <a:ext cx="54635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根据情绪状态提供情感陪伴、鼓励与节奏建议。</a:t>
            </a:r>
            <a:endParaRPr lang="en-US" sz="1050" dirty="0"/>
          </a:p>
        </p:txBody>
      </p:sp>
      <p:sp>
        <p:nvSpPr>
          <p:cNvPr id="60" name="SK-7-text-59"/>
          <p:cNvSpPr/>
          <p:nvPr/>
        </p:nvSpPr>
        <p:spPr>
          <a:xfrm>
            <a:off x="8934450" y="5613946"/>
            <a:ext cx="17002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仲裁智能体</a:t>
            </a:r>
            <a:endParaRPr lang="en-US" sz="1275" dirty="0"/>
          </a:p>
        </p:txBody>
      </p:sp>
      <p:sp>
        <p:nvSpPr>
          <p:cNvPr id="61" name="SK-7-text-60"/>
          <p:cNvSpPr/>
          <p:nvPr/>
        </p:nvSpPr>
        <p:spPr>
          <a:xfrm>
            <a:off x="11296650" y="5630614"/>
            <a:ext cx="246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</a:rPr>
              <a:t>P8</a:t>
            </a:r>
            <a:endParaRPr lang="en-US" sz="900" dirty="0"/>
          </a:p>
        </p:txBody>
      </p:sp>
      <p:sp>
        <p:nvSpPr>
          <p:cNvPr id="62" name="SK-7-text-61"/>
          <p:cNvSpPr/>
          <p:nvPr/>
        </p:nvSpPr>
        <p:spPr>
          <a:xfrm>
            <a:off x="8667750" y="5913983"/>
            <a:ext cx="28384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依据证据链裁决辩论观点，确保输出稳健无偏见。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900684"/>
            <a:ext cx="2647950" cy="1216223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053084"/>
            <a:ext cx="190500" cy="152400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1850" y="2055465"/>
            <a:ext cx="2647950" cy="906661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6150" y="2207865"/>
            <a:ext cx="190500" cy="152400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1807369"/>
            <a:ext cx="2647950" cy="1402854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1959769"/>
            <a:ext cx="190500" cy="152400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2550" y="1638300"/>
            <a:ext cx="2647950" cy="906661"/>
          </a:xfrm>
          <a:prstGeom prst="rect">
            <a:avLst/>
          </a:prstGeom>
        </p:spPr>
      </p:pic>
      <p:pic>
        <p:nvPicPr>
          <p:cNvPr id="13" name="SK-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86850" y="1790700"/>
            <a:ext cx="190500" cy="152400"/>
          </a:xfrm>
          <a:prstGeom prst="rect">
            <a:avLst/>
          </a:prstGeom>
        </p:spPr>
      </p:pic>
      <p:pic>
        <p:nvPicPr>
          <p:cNvPr id="14" name="SK-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72550" y="2659261"/>
            <a:ext cx="2647950" cy="720030"/>
          </a:xfrm>
          <a:prstGeom prst="rect">
            <a:avLst/>
          </a:prstGeom>
        </p:spPr>
      </p:pic>
      <p:pic>
        <p:nvPicPr>
          <p:cNvPr id="15" name="SK-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86850" y="2811661"/>
            <a:ext cx="190500" cy="152400"/>
          </a:xfrm>
          <a:prstGeom prst="rect">
            <a:avLst/>
          </a:prstGeom>
        </p:spPr>
      </p:pic>
      <p:pic>
        <p:nvPicPr>
          <p:cNvPr id="16" name="SK-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607891"/>
            <a:ext cx="11049000" cy="1341834"/>
          </a:xfrm>
          <a:prstGeom prst="rect">
            <a:avLst/>
          </a:prstGeom>
        </p:spPr>
      </p:pic>
      <p:pic>
        <p:nvPicPr>
          <p:cNvPr id="17" name="SK-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3798391"/>
            <a:ext cx="457200" cy="457200"/>
          </a:xfrm>
          <a:prstGeom prst="rect">
            <a:avLst/>
          </a:prstGeom>
        </p:spPr>
      </p:pic>
      <p:pic>
        <p:nvPicPr>
          <p:cNvPr id="18" name="SK-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" y="3912691"/>
            <a:ext cx="285750" cy="228600"/>
          </a:xfrm>
          <a:prstGeom prst="rect">
            <a:avLst/>
          </a:prstGeom>
        </p:spPr>
      </p:pic>
      <p:pic>
        <p:nvPicPr>
          <p:cNvPr id="19" name="SK-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96150" y="5316438"/>
            <a:ext cx="76200" cy="76200"/>
          </a:xfrm>
          <a:prstGeom prst="rect">
            <a:avLst/>
          </a:prstGeom>
        </p:spPr>
      </p:pic>
      <p:pic>
        <p:nvPicPr>
          <p:cNvPr id="20" name="SK-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53450" y="5316438"/>
            <a:ext cx="76200" cy="76200"/>
          </a:xfrm>
          <a:prstGeom prst="rect">
            <a:avLst/>
          </a:prstGeom>
        </p:spPr>
      </p:pic>
      <p:pic>
        <p:nvPicPr>
          <p:cNvPr id="21" name="SK-8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10750" y="5316438"/>
            <a:ext cx="76200" cy="76200"/>
          </a:xfrm>
          <a:prstGeom prst="rect">
            <a:avLst/>
          </a:prstGeom>
        </p:spPr>
      </p:pic>
      <p:pic>
        <p:nvPicPr>
          <p:cNvPr id="22" name="SK-8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34700" y="5316438"/>
            <a:ext cx="76200" cy="76200"/>
          </a:xfrm>
          <a:prstGeom prst="rect">
            <a:avLst/>
          </a:prstGeom>
        </p:spPr>
      </p:pic>
      <p:sp>
        <p:nvSpPr>
          <p:cNvPr id="23" name="SK-8-text-22"/>
          <p:cNvSpPr/>
          <p:nvPr/>
        </p:nvSpPr>
        <p:spPr>
          <a:xfrm>
            <a:off x="723900" y="381000"/>
            <a:ext cx="929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-3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 推理拓扑与反思循环</a:t>
            </a:r>
            <a:endParaRPr lang="en-US" sz="2400" dirty="0"/>
          </a:p>
        </p:txBody>
      </p:sp>
      <p:sp>
        <p:nvSpPr>
          <p:cNvPr id="24" name="SK-8-text-23"/>
          <p:cNvSpPr/>
          <p:nvPr/>
        </p:nvSpPr>
        <p:spPr>
          <a:xfrm>
            <a:off x="7239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SPECIFICATION / LEARNAGENT SYSTEM</a:t>
            </a:r>
            <a:endParaRPr lang="en-US" sz="1200" dirty="0"/>
          </a:p>
        </p:txBody>
      </p:sp>
      <p:sp>
        <p:nvSpPr>
          <p:cNvPr id="25" name="SK-8-text-24"/>
          <p:cNvSpPr/>
          <p:nvPr/>
        </p:nvSpPr>
        <p:spPr>
          <a:xfrm>
            <a:off x="952500" y="2014984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IntentNode</a:t>
            </a:r>
            <a:endParaRPr lang="en-US" sz="1200" dirty="0"/>
          </a:p>
        </p:txBody>
      </p:sp>
      <p:sp>
        <p:nvSpPr>
          <p:cNvPr id="26" name="SK-8-text-25"/>
          <p:cNvSpPr/>
          <p:nvPr/>
        </p:nvSpPr>
        <p:spPr>
          <a:xfrm>
            <a:off x="685800" y="2319784"/>
            <a:ext cx="24193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意图分类 (7类) 与难度评分 (0.0-1.0)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驱动智能体动态编排</a:t>
            </a:r>
            <a:endParaRPr lang="en-US" sz="1050" dirty="0"/>
          </a:p>
        </p:txBody>
      </p:sp>
      <p:sp>
        <p:nvSpPr>
          <p:cNvPr id="27" name="SK-8-textBg-26"/>
          <p:cNvSpPr/>
          <p:nvPr/>
        </p:nvSpPr>
        <p:spPr>
          <a:xfrm>
            <a:off x="685800" y="2807345"/>
            <a:ext cx="581025" cy="195263"/>
          </a:xfrm>
          <a:prstGeom prst="roundRect">
            <a:avLst>
              <a:gd name="adj" fmla="val 19512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K-8-text-27"/>
          <p:cNvSpPr/>
          <p:nvPr/>
        </p:nvSpPr>
        <p:spPr>
          <a:xfrm>
            <a:off x="742950" y="2807345"/>
            <a:ext cx="80797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Resource</a:t>
            </a:r>
            <a:endParaRPr lang="en-US" sz="825" dirty="0"/>
          </a:p>
        </p:txBody>
      </p:sp>
      <p:sp>
        <p:nvSpPr>
          <p:cNvPr id="29" name="SK-8-textBg-28"/>
          <p:cNvSpPr/>
          <p:nvPr/>
        </p:nvSpPr>
        <p:spPr>
          <a:xfrm>
            <a:off x="1343025" y="2807345"/>
            <a:ext cx="381000" cy="195263"/>
          </a:xfrm>
          <a:prstGeom prst="roundRect">
            <a:avLst>
              <a:gd name="adj" fmla="val 19512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K-8-text-29"/>
          <p:cNvSpPr/>
          <p:nvPr/>
        </p:nvSpPr>
        <p:spPr>
          <a:xfrm>
            <a:off x="1400175" y="2807345"/>
            <a:ext cx="44005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Tutor</a:t>
            </a:r>
            <a:endParaRPr lang="en-US" sz="825" dirty="0"/>
          </a:p>
        </p:txBody>
      </p:sp>
      <p:sp>
        <p:nvSpPr>
          <p:cNvPr id="31" name="SK-8-textBg-30"/>
          <p:cNvSpPr/>
          <p:nvPr/>
        </p:nvSpPr>
        <p:spPr>
          <a:xfrm>
            <a:off x="1800225" y="2807345"/>
            <a:ext cx="342900" cy="195263"/>
          </a:xfrm>
          <a:prstGeom prst="roundRect">
            <a:avLst>
              <a:gd name="adj" fmla="val 19512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K-8-text-31"/>
          <p:cNvSpPr/>
          <p:nvPr/>
        </p:nvSpPr>
        <p:spPr>
          <a:xfrm>
            <a:off x="1857375" y="2807345"/>
            <a:ext cx="33528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Path</a:t>
            </a:r>
            <a:endParaRPr lang="en-US" sz="825" dirty="0"/>
          </a:p>
        </p:txBody>
      </p:sp>
      <p:sp>
        <p:nvSpPr>
          <p:cNvPr id="33" name="SK-8-text-32"/>
          <p:cNvSpPr/>
          <p:nvPr/>
        </p:nvSpPr>
        <p:spPr>
          <a:xfrm>
            <a:off x="3752850" y="2169765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Analysis &amp; Retrieve</a:t>
            </a:r>
            <a:endParaRPr lang="en-US" sz="1200" dirty="0"/>
          </a:p>
        </p:txBody>
      </p:sp>
      <p:sp>
        <p:nvSpPr>
          <p:cNvPr id="34" name="SK-8-text-33"/>
          <p:cNvSpPr/>
          <p:nvPr/>
        </p:nvSpPr>
        <p:spPr>
          <a:xfrm>
            <a:off x="3486150" y="2474565"/>
            <a:ext cx="24193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结合画像拆解任务，调用混合检索引擎获取专业证据链。</a:t>
            </a:r>
            <a:endParaRPr lang="en-US" sz="1050" dirty="0"/>
          </a:p>
        </p:txBody>
      </p:sp>
      <p:sp>
        <p:nvSpPr>
          <p:cNvPr id="35" name="SK-8-text-34"/>
          <p:cNvSpPr/>
          <p:nvPr/>
        </p:nvSpPr>
        <p:spPr>
          <a:xfrm>
            <a:off x="6553200" y="1921669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ReasonNode</a:t>
            </a:r>
            <a:endParaRPr lang="en-US" sz="1200" dirty="0"/>
          </a:p>
        </p:txBody>
      </p:sp>
      <p:sp>
        <p:nvSpPr>
          <p:cNvPr id="36" name="SK-8-text-35"/>
          <p:cNvSpPr/>
          <p:nvPr/>
        </p:nvSpPr>
        <p:spPr>
          <a:xfrm>
            <a:off x="6286500" y="2226469"/>
            <a:ext cx="241935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八智能体并行推理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辩论-仲裁模式裁决对立观点，生成 Proposal。</a:t>
            </a:r>
            <a:endParaRPr lang="en-US" sz="1050" dirty="0"/>
          </a:p>
        </p:txBody>
      </p:sp>
      <p:sp>
        <p:nvSpPr>
          <p:cNvPr id="37" name="SK-8-textBg-36"/>
          <p:cNvSpPr/>
          <p:nvPr/>
        </p:nvSpPr>
        <p:spPr>
          <a:xfrm>
            <a:off x="6286500" y="2900660"/>
            <a:ext cx="723900" cy="195263"/>
          </a:xfrm>
          <a:prstGeom prst="roundRect">
            <a:avLst>
              <a:gd name="adj" fmla="val 19512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K-8-text-37"/>
          <p:cNvSpPr/>
          <p:nvPr/>
        </p:nvSpPr>
        <p:spPr>
          <a:xfrm>
            <a:off x="6343650" y="2900660"/>
            <a:ext cx="116465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Multi-Agent</a:t>
            </a:r>
            <a:endParaRPr lang="en-US" sz="825" dirty="0"/>
          </a:p>
        </p:txBody>
      </p:sp>
      <p:sp>
        <p:nvSpPr>
          <p:cNvPr id="39" name="SK-8-textBg-38"/>
          <p:cNvSpPr/>
          <p:nvPr/>
        </p:nvSpPr>
        <p:spPr>
          <a:xfrm>
            <a:off x="7086600" y="2900660"/>
            <a:ext cx="657225" cy="195263"/>
          </a:xfrm>
          <a:prstGeom prst="roundRect">
            <a:avLst>
              <a:gd name="adj" fmla="val 19512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K-8-text-39"/>
          <p:cNvSpPr/>
          <p:nvPr/>
        </p:nvSpPr>
        <p:spPr>
          <a:xfrm>
            <a:off x="7143750" y="2900660"/>
            <a:ext cx="114250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Arbitration</a:t>
            </a:r>
            <a:endParaRPr lang="en-US" sz="825" dirty="0"/>
          </a:p>
        </p:txBody>
      </p:sp>
      <p:sp>
        <p:nvSpPr>
          <p:cNvPr id="41" name="SK-8-text-40"/>
          <p:cNvSpPr/>
          <p:nvPr/>
        </p:nvSpPr>
        <p:spPr>
          <a:xfrm>
            <a:off x="9353550" y="175260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ValidateNode</a:t>
            </a:r>
            <a:endParaRPr lang="en-US" sz="1200" dirty="0"/>
          </a:p>
        </p:txBody>
      </p:sp>
      <p:sp>
        <p:nvSpPr>
          <p:cNvPr id="42" name="SK-8-text-41"/>
          <p:cNvSpPr/>
          <p:nvPr/>
        </p:nvSpPr>
        <p:spPr>
          <a:xfrm>
            <a:off x="9086850" y="2057400"/>
            <a:ext cx="24193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三重校验：医学准确性、个性化匹配、教学有效性。</a:t>
            </a:r>
            <a:endParaRPr lang="en-US" sz="1050" dirty="0"/>
          </a:p>
        </p:txBody>
      </p:sp>
      <p:sp>
        <p:nvSpPr>
          <p:cNvPr id="43" name="SK-8-text-42"/>
          <p:cNvSpPr/>
          <p:nvPr/>
        </p:nvSpPr>
        <p:spPr>
          <a:xfrm>
            <a:off x="9353550" y="2773561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ReportNode</a:t>
            </a:r>
            <a:endParaRPr lang="en-US" sz="1200" dirty="0"/>
          </a:p>
        </p:txBody>
      </p:sp>
      <p:sp>
        <p:nvSpPr>
          <p:cNvPr id="44" name="SK-8-text-43"/>
          <p:cNvSpPr/>
          <p:nvPr/>
        </p:nvSpPr>
        <p:spPr>
          <a:xfrm>
            <a:off x="9086850" y="3078361"/>
            <a:ext cx="31051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输出个性化资源与学习激励建议。</a:t>
            </a:r>
            <a:endParaRPr lang="en-US" sz="1050" dirty="0"/>
          </a:p>
        </p:txBody>
      </p:sp>
      <p:sp>
        <p:nvSpPr>
          <p:cNvPr id="45" name="SK-8-text-44"/>
          <p:cNvSpPr/>
          <p:nvPr/>
        </p:nvSpPr>
        <p:spPr>
          <a:xfrm>
            <a:off x="1447800" y="3798391"/>
            <a:ext cx="9982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8B5C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动态退火反思循环 (Self-Correction Loop)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当校验未通过时自动触发</a:t>
            </a:r>
            <a:endParaRPr lang="en-US" sz="1500" dirty="0"/>
          </a:p>
        </p:txBody>
      </p:sp>
      <p:sp>
        <p:nvSpPr>
          <p:cNvPr id="46" name="SK-8-text-45"/>
          <p:cNvSpPr/>
          <p:nvPr/>
        </p:nvSpPr>
        <p:spPr>
          <a:xfrm>
            <a:off x="1447800" y="4160341"/>
            <a:ext cx="3276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驳回原因分类</a:t>
            </a:r>
            <a:endParaRPr lang="en-US" sz="1125" dirty="0"/>
          </a:p>
        </p:txBody>
      </p:sp>
      <p:sp>
        <p:nvSpPr>
          <p:cNvPr id="47" name="SK-8-text-46"/>
          <p:cNvSpPr/>
          <p:nvPr/>
        </p:nvSpPr>
        <p:spPr>
          <a:xfrm>
            <a:off x="1447800" y="4412754"/>
            <a:ext cx="32004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将不通过原因自动归类为：事实错误、逻辑矛盾或个性化不足。</a:t>
            </a:r>
            <a:endParaRPr lang="en-US" sz="975" dirty="0"/>
          </a:p>
        </p:txBody>
      </p:sp>
      <p:sp>
        <p:nvSpPr>
          <p:cNvPr id="48" name="SK-8-text-47"/>
          <p:cNvSpPr/>
          <p:nvPr/>
        </p:nvSpPr>
        <p:spPr>
          <a:xfrm>
            <a:off x="4838700" y="4160341"/>
            <a:ext cx="3276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权重动态衰减</a:t>
            </a:r>
            <a:endParaRPr lang="en-US" sz="1125" dirty="0"/>
          </a:p>
        </p:txBody>
      </p:sp>
      <p:sp>
        <p:nvSpPr>
          <p:cNvPr id="49" name="SK-8-text-48"/>
          <p:cNvSpPr/>
          <p:nvPr/>
        </p:nvSpPr>
        <p:spPr>
          <a:xfrm>
            <a:off x="4838700" y="4412754"/>
            <a:ext cx="58216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根据驳回历史，自动下调错误贡献智能体的发言权重。</a:t>
            </a:r>
            <a:endParaRPr lang="en-US" sz="975" dirty="0"/>
          </a:p>
        </p:txBody>
      </p:sp>
      <p:sp>
        <p:nvSpPr>
          <p:cNvPr id="50" name="SK-8-text-49"/>
          <p:cNvSpPr/>
          <p:nvPr/>
        </p:nvSpPr>
        <p:spPr>
          <a:xfrm>
            <a:off x="8229600" y="4160341"/>
            <a:ext cx="3276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针对性修正注入</a:t>
            </a:r>
            <a:endParaRPr lang="en-US" sz="1125" dirty="0"/>
          </a:p>
        </p:txBody>
      </p:sp>
      <p:sp>
        <p:nvSpPr>
          <p:cNvPr id="51" name="SK-8-text-50"/>
          <p:cNvSpPr/>
          <p:nvPr/>
        </p:nvSpPr>
        <p:spPr>
          <a:xfrm>
            <a:off x="8229600" y="4412754"/>
            <a:ext cx="39624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生成修正提示词注入下一轮推理，引导模型自愈并收敛。</a:t>
            </a:r>
            <a:endParaRPr lang="en-US" sz="975" dirty="0"/>
          </a:p>
        </p:txBody>
      </p:sp>
      <p:sp>
        <p:nvSpPr>
          <p:cNvPr id="52" name="SK-8-text-51"/>
          <p:cNvSpPr/>
          <p:nvPr/>
        </p:nvSpPr>
        <p:spPr>
          <a:xfrm>
            <a:off x="7448550" y="5254526"/>
            <a:ext cx="1600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意图智能分流</a:t>
            </a:r>
            <a:endParaRPr lang="en-US" sz="1050" dirty="0"/>
          </a:p>
        </p:txBody>
      </p:sp>
      <p:sp>
        <p:nvSpPr>
          <p:cNvPr id="53" name="SK-8-text-52"/>
          <p:cNvSpPr/>
          <p:nvPr/>
        </p:nvSpPr>
        <p:spPr>
          <a:xfrm>
            <a:off x="8705850" y="5254526"/>
            <a:ext cx="1600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多智能体辩论</a:t>
            </a:r>
            <a:endParaRPr lang="en-US" sz="1050" dirty="0"/>
          </a:p>
        </p:txBody>
      </p:sp>
      <p:sp>
        <p:nvSpPr>
          <p:cNvPr id="54" name="SK-8-text-53"/>
          <p:cNvSpPr/>
          <p:nvPr/>
        </p:nvSpPr>
        <p:spPr>
          <a:xfrm>
            <a:off x="9963150" y="5254526"/>
            <a:ext cx="1333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自愈式反思</a:t>
            </a:r>
            <a:endParaRPr lang="en-US" sz="1050" dirty="0"/>
          </a:p>
        </p:txBody>
      </p:sp>
      <p:sp>
        <p:nvSpPr>
          <p:cNvPr id="55" name="SK-8-text-54"/>
          <p:cNvSpPr/>
          <p:nvPr/>
        </p:nvSpPr>
        <p:spPr>
          <a:xfrm>
            <a:off x="11087100" y="5254526"/>
            <a:ext cx="1066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质量闭环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SK-9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9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19250"/>
            <a:ext cx="5410200" cy="3810000"/>
          </a:xfrm>
          <a:prstGeom prst="rect">
            <a:avLst/>
          </a:prstGeom>
        </p:spPr>
      </p:pic>
      <p:pic>
        <p:nvPicPr>
          <p:cNvPr id="7" name="SK-9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847850"/>
            <a:ext cx="419100" cy="419100"/>
          </a:xfrm>
          <a:prstGeom prst="rect">
            <a:avLst/>
          </a:prstGeom>
        </p:spPr>
      </p:pic>
      <p:pic>
        <p:nvPicPr>
          <p:cNvPr id="8" name="SK-9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588" y="1962150"/>
            <a:ext cx="238125" cy="190500"/>
          </a:xfrm>
          <a:prstGeom prst="rect">
            <a:avLst/>
          </a:prstGeom>
        </p:spPr>
      </p:pic>
      <p:pic>
        <p:nvPicPr>
          <p:cNvPr id="9" name="SK-9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519363"/>
            <a:ext cx="57150" cy="57150"/>
          </a:xfrm>
          <a:prstGeom prst="rect">
            <a:avLst/>
          </a:prstGeom>
        </p:spPr>
      </p:pic>
      <p:pic>
        <p:nvPicPr>
          <p:cNvPr id="10" name="SK-9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" y="3228975"/>
            <a:ext cx="723900" cy="247650"/>
          </a:xfrm>
          <a:prstGeom prst="rect">
            <a:avLst/>
          </a:prstGeom>
        </p:spPr>
      </p:pic>
      <p:pic>
        <p:nvPicPr>
          <p:cNvPr id="11" name="SK-9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3550" y="3228975"/>
            <a:ext cx="457200" cy="247650"/>
          </a:xfrm>
          <a:prstGeom prst="rect">
            <a:avLst/>
          </a:prstGeom>
        </p:spPr>
      </p:pic>
      <p:pic>
        <p:nvPicPr>
          <p:cNvPr id="12" name="SK-9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66950" y="3228975"/>
            <a:ext cx="790575" cy="247650"/>
          </a:xfrm>
          <a:prstGeom prst="rect">
            <a:avLst/>
          </a:prstGeom>
        </p:spPr>
      </p:pic>
      <p:pic>
        <p:nvPicPr>
          <p:cNvPr id="13" name="SK-9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3690937"/>
            <a:ext cx="57150" cy="57150"/>
          </a:xfrm>
          <a:prstGeom prst="rect">
            <a:avLst/>
          </a:prstGeom>
        </p:spPr>
      </p:pic>
      <p:pic>
        <p:nvPicPr>
          <p:cNvPr id="14" name="SK-9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4300538"/>
            <a:ext cx="57150" cy="57150"/>
          </a:xfrm>
          <a:prstGeom prst="rect">
            <a:avLst/>
          </a:prstGeom>
        </p:spPr>
      </p:pic>
      <p:pic>
        <p:nvPicPr>
          <p:cNvPr id="15" name="SK-9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1619250"/>
            <a:ext cx="5410200" cy="3810000"/>
          </a:xfrm>
          <a:prstGeom prst="rect">
            <a:avLst/>
          </a:prstGeom>
        </p:spPr>
      </p:pic>
      <p:pic>
        <p:nvPicPr>
          <p:cNvPr id="16" name="SK-9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1847850"/>
            <a:ext cx="419100" cy="419100"/>
          </a:xfrm>
          <a:prstGeom prst="rect">
            <a:avLst/>
          </a:prstGeom>
        </p:spPr>
      </p:pic>
      <p:pic>
        <p:nvPicPr>
          <p:cNvPr id="17" name="SK-9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9388" y="1962150"/>
            <a:ext cx="238125" cy="190500"/>
          </a:xfrm>
          <a:prstGeom prst="rect">
            <a:avLst/>
          </a:prstGeom>
        </p:spPr>
      </p:pic>
      <p:pic>
        <p:nvPicPr>
          <p:cNvPr id="18" name="SK-9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2519363"/>
            <a:ext cx="57150" cy="57150"/>
          </a:xfrm>
          <a:prstGeom prst="rect">
            <a:avLst/>
          </a:prstGeom>
        </p:spPr>
      </p:pic>
      <p:pic>
        <p:nvPicPr>
          <p:cNvPr id="19" name="SK-9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3328988"/>
            <a:ext cx="57150" cy="57150"/>
          </a:xfrm>
          <a:prstGeom prst="rect">
            <a:avLst/>
          </a:prstGeom>
        </p:spPr>
      </p:pic>
      <p:pic>
        <p:nvPicPr>
          <p:cNvPr id="20" name="SK-9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4138613"/>
            <a:ext cx="57150" cy="57150"/>
          </a:xfrm>
          <a:prstGeom prst="rect">
            <a:avLst/>
          </a:prstGeom>
        </p:spPr>
      </p:pic>
      <p:pic>
        <p:nvPicPr>
          <p:cNvPr id="21" name="SK-9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72250" y="4848225"/>
            <a:ext cx="1390650" cy="247650"/>
          </a:xfrm>
          <a:prstGeom prst="rect">
            <a:avLst/>
          </a:prstGeom>
        </p:spPr>
      </p:pic>
      <p:pic>
        <p:nvPicPr>
          <p:cNvPr id="22" name="SK-9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39100" y="4848225"/>
            <a:ext cx="1123950" cy="247650"/>
          </a:xfrm>
          <a:prstGeom prst="rect">
            <a:avLst/>
          </a:prstGeom>
        </p:spPr>
      </p:pic>
      <p:pic>
        <p:nvPicPr>
          <p:cNvPr id="23" name="SK-9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5715000"/>
            <a:ext cx="11049000" cy="762000"/>
          </a:xfrm>
          <a:prstGeom prst="rect">
            <a:avLst/>
          </a:prstGeom>
        </p:spPr>
      </p:pic>
      <p:pic>
        <p:nvPicPr>
          <p:cNvPr id="24" name="SK-9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0100" y="5967413"/>
            <a:ext cx="1562100" cy="257175"/>
          </a:xfrm>
          <a:prstGeom prst="rect">
            <a:avLst/>
          </a:prstGeom>
        </p:spPr>
      </p:pic>
      <p:sp>
        <p:nvSpPr>
          <p:cNvPr id="25" name="SK-9-text-24"/>
          <p:cNvSpPr/>
          <p:nvPr/>
        </p:nvSpPr>
        <p:spPr>
          <a:xfrm>
            <a:off x="723900" y="3810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-3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混合检索与证据重排技术</a:t>
            </a:r>
            <a:endParaRPr lang="en-US" sz="2400" dirty="0"/>
          </a:p>
        </p:txBody>
      </p:sp>
      <p:sp>
        <p:nvSpPr>
          <p:cNvPr id="26" name="SK-9-text-25"/>
          <p:cNvSpPr/>
          <p:nvPr/>
        </p:nvSpPr>
        <p:spPr>
          <a:xfrm>
            <a:off x="7239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SPECIFICATION / LEARNAGENT SYSTEM</a:t>
            </a:r>
            <a:endParaRPr lang="en-US" sz="1200" dirty="0"/>
          </a:p>
        </p:txBody>
      </p:sp>
      <p:sp>
        <p:nvSpPr>
          <p:cNvPr id="27" name="SK-9-text-26"/>
          <p:cNvSpPr/>
          <p:nvPr/>
        </p:nvSpPr>
        <p:spPr>
          <a:xfrm>
            <a:off x="1333500" y="1885950"/>
            <a:ext cx="468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双路并发混合检索策略</a:t>
            </a:r>
            <a:endParaRPr lang="en-US" sz="1800" dirty="0"/>
          </a:p>
        </p:txBody>
      </p:sp>
      <p:sp>
        <p:nvSpPr>
          <p:cNvPr id="28" name="SK-9-text-27"/>
          <p:cNvSpPr/>
          <p:nvPr/>
        </p:nvSpPr>
        <p:spPr>
          <a:xfrm>
            <a:off x="933450" y="2419350"/>
            <a:ext cx="35147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语义与关键词协同检索</a:t>
            </a:r>
            <a:endParaRPr lang="en-US" sz="1350" dirty="0"/>
          </a:p>
        </p:txBody>
      </p:sp>
      <p:sp>
        <p:nvSpPr>
          <p:cNvPr id="29" name="SK-9-text-28"/>
          <p:cNvSpPr/>
          <p:nvPr/>
        </p:nvSpPr>
        <p:spPr>
          <a:xfrm>
            <a:off x="933450" y="2714625"/>
            <a:ext cx="4819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兼顾向量语义相似性与高频专业术语（如 TOAST 分型、NIHSS 评分）的精确匹配。</a:t>
            </a:r>
            <a:endParaRPr lang="en-US" sz="1125" dirty="0"/>
          </a:p>
        </p:txBody>
      </p:sp>
      <p:sp>
        <p:nvSpPr>
          <p:cNvPr id="30" name="SK-9-text-29"/>
          <p:cNvSpPr/>
          <p:nvPr/>
        </p:nvSpPr>
        <p:spPr>
          <a:xfrm>
            <a:off x="1028700" y="3228975"/>
            <a:ext cx="8847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6B6D4"/>
                </a:solidFill>
              </a:rPr>
              <a:t>ChromaDB</a:t>
            </a:r>
            <a:endParaRPr lang="en-US" sz="900" dirty="0"/>
          </a:p>
        </p:txBody>
      </p:sp>
      <p:sp>
        <p:nvSpPr>
          <p:cNvPr id="31" name="SK-9-text-30"/>
          <p:cNvSpPr/>
          <p:nvPr/>
        </p:nvSpPr>
        <p:spPr>
          <a:xfrm>
            <a:off x="1828800" y="3228975"/>
            <a:ext cx="5029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6B6D4"/>
                </a:solidFill>
              </a:rPr>
              <a:t>BM25</a:t>
            </a:r>
            <a:endParaRPr lang="en-US" sz="900" dirty="0"/>
          </a:p>
        </p:txBody>
      </p:sp>
      <p:sp>
        <p:nvSpPr>
          <p:cNvPr id="32" name="SK-9-text-31"/>
          <p:cNvSpPr/>
          <p:nvPr/>
        </p:nvSpPr>
        <p:spPr>
          <a:xfrm>
            <a:off x="2362200" y="3228975"/>
            <a:ext cx="10131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6B6D4"/>
                </a:solidFill>
              </a:rPr>
              <a:t>DashScope</a:t>
            </a:r>
            <a:endParaRPr lang="en-US" sz="900" dirty="0"/>
          </a:p>
        </p:txBody>
      </p:sp>
      <p:sp>
        <p:nvSpPr>
          <p:cNvPr id="33" name="SK-9-text-32"/>
          <p:cNvSpPr/>
          <p:nvPr/>
        </p:nvSpPr>
        <p:spPr>
          <a:xfrm>
            <a:off x="933450" y="3590925"/>
            <a:ext cx="50234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指南优先策略 (Guide-First)</a:t>
            </a:r>
            <a:endParaRPr lang="en-US" sz="1350" dirty="0"/>
          </a:p>
        </p:txBody>
      </p:sp>
      <p:sp>
        <p:nvSpPr>
          <p:cNvPr id="34" name="SK-9-text-33"/>
          <p:cNvSpPr/>
          <p:nvPr/>
        </p:nvSpPr>
        <p:spPr>
          <a:xfrm>
            <a:off x="933450" y="3886200"/>
            <a:ext cx="8820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预置权重，优先召回 AHA/ASA 等权威诊疗指南与最新核心期刊文献。</a:t>
            </a:r>
            <a:endParaRPr lang="en-US" sz="1125" dirty="0"/>
          </a:p>
        </p:txBody>
      </p:sp>
      <p:sp>
        <p:nvSpPr>
          <p:cNvPr id="35" name="SK-9-text-34"/>
          <p:cNvSpPr/>
          <p:nvPr/>
        </p:nvSpPr>
        <p:spPr>
          <a:xfrm>
            <a:off x="933450" y="4200525"/>
            <a:ext cx="27603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QA 自动衍生引擎</a:t>
            </a:r>
            <a:endParaRPr lang="en-US" sz="1350" dirty="0"/>
          </a:p>
        </p:txBody>
      </p:sp>
      <p:sp>
        <p:nvSpPr>
          <p:cNvPr id="36" name="SK-9-text-35"/>
          <p:cNvSpPr/>
          <p:nvPr/>
        </p:nvSpPr>
        <p:spPr>
          <a:xfrm>
            <a:off x="933450" y="4495800"/>
            <a:ext cx="9277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基于大模型从 PDF 自动衍生高质量问答对，显著提升长文档检索召回率。</a:t>
            </a:r>
            <a:endParaRPr lang="en-US" sz="1125" dirty="0"/>
          </a:p>
        </p:txBody>
      </p:sp>
      <p:sp>
        <p:nvSpPr>
          <p:cNvPr id="37" name="SK-9-text-36"/>
          <p:cNvSpPr/>
          <p:nvPr/>
        </p:nvSpPr>
        <p:spPr>
          <a:xfrm>
            <a:off x="6972300" y="1885950"/>
            <a:ext cx="422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证据重排与精准溯源</a:t>
            </a:r>
            <a:endParaRPr lang="en-US" sz="1800" dirty="0"/>
          </a:p>
        </p:txBody>
      </p:sp>
      <p:sp>
        <p:nvSpPr>
          <p:cNvPr id="38" name="SK-9-text-37"/>
          <p:cNvSpPr/>
          <p:nvPr/>
        </p:nvSpPr>
        <p:spPr>
          <a:xfrm>
            <a:off x="6572250" y="2419350"/>
            <a:ext cx="37204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gte-rerank 语义精排</a:t>
            </a:r>
            <a:endParaRPr lang="en-US" sz="1350" dirty="0"/>
          </a:p>
        </p:txBody>
      </p:sp>
      <p:sp>
        <p:nvSpPr>
          <p:cNvPr id="39" name="SK-9-text-38"/>
          <p:cNvSpPr/>
          <p:nvPr/>
        </p:nvSpPr>
        <p:spPr>
          <a:xfrm>
            <a:off x="6572250" y="2714625"/>
            <a:ext cx="4819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对多路召回结果进行二次相关性打分，剔除噪声，确保输入模型的上下文高度相关。</a:t>
            </a:r>
            <a:endParaRPr lang="en-US" sz="1125" dirty="0"/>
          </a:p>
        </p:txBody>
      </p:sp>
      <p:sp>
        <p:nvSpPr>
          <p:cNvPr id="40" name="SK-9-text-39"/>
          <p:cNvSpPr/>
          <p:nvPr/>
        </p:nvSpPr>
        <p:spPr>
          <a:xfrm>
            <a:off x="6572250" y="3228975"/>
            <a:ext cx="2828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上下文压缩与聚合</a:t>
            </a:r>
            <a:endParaRPr lang="en-US" sz="1350" dirty="0"/>
          </a:p>
        </p:txBody>
      </p:sp>
      <p:sp>
        <p:nvSpPr>
          <p:cNvPr id="41" name="SK-9-text-40"/>
          <p:cNvSpPr/>
          <p:nvPr/>
        </p:nvSpPr>
        <p:spPr>
          <a:xfrm>
            <a:off x="6572250" y="3524250"/>
            <a:ext cx="4819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结构化聚合证据片段，防止大模型出现“迷失在中间 (Lost in the Middle)”现象。</a:t>
            </a:r>
            <a:endParaRPr lang="en-US" sz="1125" dirty="0"/>
          </a:p>
        </p:txBody>
      </p:sp>
      <p:sp>
        <p:nvSpPr>
          <p:cNvPr id="42" name="SK-9-text-41"/>
          <p:cNvSpPr/>
          <p:nvPr/>
        </p:nvSpPr>
        <p:spPr>
          <a:xfrm>
            <a:off x="6572250" y="4038600"/>
            <a:ext cx="2828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精准溯源标注机制</a:t>
            </a:r>
            <a:endParaRPr lang="en-US" sz="1350" dirty="0"/>
          </a:p>
        </p:txBody>
      </p:sp>
      <p:sp>
        <p:nvSpPr>
          <p:cNvPr id="43" name="SK-9-text-42"/>
          <p:cNvSpPr/>
          <p:nvPr/>
        </p:nvSpPr>
        <p:spPr>
          <a:xfrm>
            <a:off x="6572250" y="4333875"/>
            <a:ext cx="4819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强制输出引用来源（文献名称 + 具体章节），实现生成内容的端到端可验证性。</a:t>
            </a:r>
            <a:endParaRPr lang="en-US" sz="1125" dirty="0"/>
          </a:p>
        </p:txBody>
      </p:sp>
      <p:sp>
        <p:nvSpPr>
          <p:cNvPr id="44" name="SK-9-text-43"/>
          <p:cNvSpPr/>
          <p:nvPr/>
        </p:nvSpPr>
        <p:spPr>
          <a:xfrm>
            <a:off x="6667500" y="4848225"/>
            <a:ext cx="22068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6B6D4"/>
                </a:solidFill>
              </a:rPr>
              <a:t>Source Attribution</a:t>
            </a:r>
            <a:endParaRPr lang="en-US" sz="900" dirty="0"/>
          </a:p>
        </p:txBody>
      </p:sp>
      <p:sp>
        <p:nvSpPr>
          <p:cNvPr id="45" name="SK-9-text-44"/>
          <p:cNvSpPr/>
          <p:nvPr/>
        </p:nvSpPr>
        <p:spPr>
          <a:xfrm>
            <a:off x="8134350" y="4848225"/>
            <a:ext cx="16709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6B6D4"/>
                </a:solidFill>
              </a:rPr>
              <a:t>Trustworthy AI</a:t>
            </a:r>
            <a:endParaRPr lang="en-US" sz="900" dirty="0"/>
          </a:p>
        </p:txBody>
      </p:sp>
      <p:sp>
        <p:nvSpPr>
          <p:cNvPr id="46" name="SK-9-text-45"/>
          <p:cNvSpPr/>
          <p:nvPr/>
        </p:nvSpPr>
        <p:spPr>
          <a:xfrm>
            <a:off x="800100" y="5967413"/>
            <a:ext cx="24943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B5C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证据驱动范式创新</a:t>
            </a:r>
            <a:endParaRPr lang="en-US" sz="1350" dirty="0"/>
          </a:p>
        </p:txBody>
      </p:sp>
      <p:sp>
        <p:nvSpPr>
          <p:cNvPr id="47" name="SK-9-text-46"/>
          <p:cNvSpPr/>
          <p:nvPr/>
        </p:nvSpPr>
        <p:spPr>
          <a:xfrm>
            <a:off x="2552700" y="5867400"/>
            <a:ext cx="883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打破传统“先生成再解释”的知识幻觉，通过将证据获取置于生成之前，实现从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模型主导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证据主导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的教育推理范式跨越，确保医学教育内容的绝对严谨。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0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SK-10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10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24000"/>
            <a:ext cx="11049000" cy="1238250"/>
          </a:xfrm>
          <a:prstGeom prst="rect">
            <a:avLst/>
          </a:prstGeom>
        </p:spPr>
      </p:pic>
      <p:pic>
        <p:nvPicPr>
          <p:cNvPr id="7" name="SK-10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62250"/>
            <a:ext cx="11049000" cy="1238250"/>
          </a:xfrm>
          <a:prstGeom prst="rect">
            <a:avLst/>
          </a:prstGeom>
        </p:spPr>
      </p:pic>
      <p:pic>
        <p:nvPicPr>
          <p:cNvPr id="8" name="SK-10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000500"/>
            <a:ext cx="11049000" cy="1238250"/>
          </a:xfrm>
          <a:prstGeom prst="rect">
            <a:avLst/>
          </a:prstGeom>
        </p:spPr>
      </p:pic>
      <p:sp>
        <p:nvSpPr>
          <p:cNvPr id="9" name="SK-10-text-8"/>
          <p:cNvSpPr/>
          <p:nvPr/>
        </p:nvSpPr>
        <p:spPr>
          <a:xfrm>
            <a:off x="723900" y="381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-3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核心创新亮点总结</a:t>
            </a:r>
            <a:endParaRPr lang="en-US" sz="2400" dirty="0"/>
          </a:p>
        </p:txBody>
      </p:sp>
      <p:sp>
        <p:nvSpPr>
          <p:cNvPr id="10" name="SK-10-text-9"/>
          <p:cNvSpPr/>
          <p:nvPr/>
        </p:nvSpPr>
        <p:spPr>
          <a:xfrm>
            <a:off x="7239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SPECIFICATION / LEARNAGENT SYSTEM</a:t>
            </a:r>
            <a:endParaRPr lang="en-US" sz="1200" dirty="0"/>
          </a:p>
        </p:txBody>
      </p:sp>
      <p:sp>
        <p:nvSpPr>
          <p:cNvPr id="11" name="SK-10-text-10"/>
          <p:cNvSpPr/>
          <p:nvPr/>
        </p:nvSpPr>
        <p:spPr>
          <a:xfrm>
            <a:off x="571500" y="1838325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8B5CF6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4800" dirty="0"/>
          </a:p>
        </p:txBody>
      </p:sp>
      <p:sp>
        <p:nvSpPr>
          <p:cNvPr id="12" name="SK-10-text-11"/>
          <p:cNvSpPr/>
          <p:nvPr/>
        </p:nvSpPr>
        <p:spPr>
          <a:xfrm>
            <a:off x="2095500" y="1713012"/>
            <a:ext cx="9648825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证据驱动的教育推理范式创新</a:t>
            </a:r>
            <a:endParaRPr lang="en-US" sz="1950" dirty="0"/>
          </a:p>
        </p:txBody>
      </p:sp>
      <p:sp>
        <p:nvSpPr>
          <p:cNvPr id="13" name="SK-10-text-12"/>
          <p:cNvSpPr/>
          <p:nvPr/>
        </p:nvSpPr>
        <p:spPr>
          <a:xfrm>
            <a:off x="2181225" y="2073027"/>
            <a:ext cx="95250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RAG-First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打破大模型“先生成再解释”导致的知识幻觉，将证据获取前置。生成过程必须深度依赖外部专业医学知识库与权威指南，实现从“模型主导”向“证据主导”的范式跨越，确保教学内容的严谨性与准确性。</a:t>
            </a:r>
            <a:endParaRPr lang="en-US" sz="1275" dirty="0"/>
          </a:p>
        </p:txBody>
      </p:sp>
      <p:sp>
        <p:nvSpPr>
          <p:cNvPr id="14" name="SK-10-text-13"/>
          <p:cNvSpPr/>
          <p:nvPr/>
        </p:nvSpPr>
        <p:spPr>
          <a:xfrm>
            <a:off x="571500" y="3076575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8B5CF6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SK-10-text-14"/>
          <p:cNvSpPr/>
          <p:nvPr/>
        </p:nvSpPr>
        <p:spPr>
          <a:xfrm>
            <a:off x="2095500" y="2951262"/>
            <a:ext cx="9648825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八智能体辩论-仲裁质量管控机制</a:t>
            </a:r>
            <a:endParaRPr lang="en-US" sz="1950" dirty="0"/>
          </a:p>
        </p:txBody>
      </p:sp>
      <p:sp>
        <p:nvSpPr>
          <p:cNvPr id="16" name="SK-10-text-15"/>
          <p:cNvSpPr/>
          <p:nvPr/>
        </p:nvSpPr>
        <p:spPr>
          <a:xfrm>
            <a:off x="2181225" y="3311277"/>
            <a:ext cx="95250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Multi-Agent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创新设计“动态编排-并行推理-辩论仲裁-双层校验-动态退火”协同架构。通过仲裁智能体依据证据链裁决对立观点，辅以动态退火策略自动修正失败任务，极大提升了复杂教育场景下系统输出的稳健性。</a:t>
            </a:r>
            <a:endParaRPr lang="en-US" sz="1275" dirty="0"/>
          </a:p>
        </p:txBody>
      </p:sp>
      <p:sp>
        <p:nvSpPr>
          <p:cNvPr id="17" name="SK-10-text-16"/>
          <p:cNvSpPr/>
          <p:nvPr/>
        </p:nvSpPr>
        <p:spPr>
          <a:xfrm>
            <a:off x="571500" y="4314825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8B5CF6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4800" dirty="0"/>
          </a:p>
        </p:txBody>
      </p:sp>
      <p:sp>
        <p:nvSpPr>
          <p:cNvPr id="18" name="SK-10-text-17"/>
          <p:cNvSpPr/>
          <p:nvPr/>
        </p:nvSpPr>
        <p:spPr>
          <a:xfrm>
            <a:off x="2095500" y="4189512"/>
            <a:ext cx="9648825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对话式 8 维度动态画像构建</a:t>
            </a:r>
            <a:endParaRPr lang="en-US" sz="1950" dirty="0"/>
          </a:p>
        </p:txBody>
      </p:sp>
      <p:sp>
        <p:nvSpPr>
          <p:cNvPr id="19" name="SK-10-text-18"/>
          <p:cNvSpPr/>
          <p:nvPr/>
        </p:nvSpPr>
        <p:spPr>
          <a:xfrm>
            <a:off x="2181225" y="4549527"/>
            <a:ext cx="95250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Personalization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摒弃繁琐的传统表单，通过自然语言对话自动抽取知识基础、认知风格、情绪状态等8个维度的结构化特征。画像随学习过程实时更新，为个性化路径规划与资源生成提供精准的数字孪生底座。</a:t>
            </a:r>
            <a:endParaRPr lang="en-US" sz="1275" dirty="0"/>
          </a:p>
        </p:txBody>
      </p:sp>
      <p:sp>
        <p:nvSpPr>
          <p:cNvPr id="20" name="SK-10-text-19"/>
          <p:cNvSpPr/>
          <p:nvPr/>
        </p:nvSpPr>
        <p:spPr>
          <a:xfrm>
            <a:off x="571500" y="5553075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8B5CF6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4800" dirty="0"/>
          </a:p>
        </p:txBody>
      </p:sp>
      <p:sp>
        <p:nvSpPr>
          <p:cNvPr id="21" name="SK-10-text-20"/>
          <p:cNvSpPr/>
          <p:nvPr/>
        </p:nvSpPr>
        <p:spPr>
          <a:xfrm>
            <a:off x="2095500" y="5427762"/>
            <a:ext cx="9648825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极速与深度推理双路径分流设计</a:t>
            </a:r>
            <a:endParaRPr lang="en-US" sz="1950" dirty="0"/>
          </a:p>
        </p:txBody>
      </p:sp>
      <p:sp>
        <p:nvSpPr>
          <p:cNvPr id="22" name="SK-10-text-21"/>
          <p:cNvSpPr/>
          <p:nvPr/>
        </p:nvSpPr>
        <p:spPr>
          <a:xfrm>
            <a:off x="2181225" y="5787777"/>
            <a:ext cx="95250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Efficiency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IntentNode 基于意图与难度评分（0.0-1.0）驱动智能体动态编排。通用知识走极速通道直接响应，个性化复杂需求自动升维至多智能体协同模式，完美平衡了系统响应效率与工程推理深度。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SK-1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1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761530"/>
            <a:ext cx="5410200" cy="2205633"/>
          </a:xfrm>
          <a:prstGeom prst="rect">
            <a:avLst/>
          </a:prstGeom>
        </p:spPr>
      </p:pic>
      <p:pic>
        <p:nvPicPr>
          <p:cNvPr id="7" name="SK-1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942505"/>
            <a:ext cx="457200" cy="457200"/>
          </a:xfrm>
          <a:prstGeom prst="rect">
            <a:avLst/>
          </a:prstGeom>
        </p:spPr>
      </p:pic>
      <p:pic>
        <p:nvPicPr>
          <p:cNvPr id="8" name="SK-1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731" y="2064395"/>
            <a:ext cx="261937" cy="213420"/>
          </a:xfrm>
          <a:prstGeom prst="rect">
            <a:avLst/>
          </a:prstGeom>
        </p:spPr>
      </p:pic>
      <p:pic>
        <p:nvPicPr>
          <p:cNvPr id="9" name="SK-1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552105"/>
            <a:ext cx="142875" cy="114300"/>
          </a:xfrm>
          <a:prstGeom prst="rect">
            <a:avLst/>
          </a:prstGeom>
        </p:spPr>
      </p:pic>
      <p:pic>
        <p:nvPicPr>
          <p:cNvPr id="10" name="SK-1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822525"/>
            <a:ext cx="142875" cy="122337"/>
          </a:xfrm>
          <a:prstGeom prst="rect">
            <a:avLst/>
          </a:prstGeom>
        </p:spPr>
      </p:pic>
      <p:pic>
        <p:nvPicPr>
          <p:cNvPr id="11" name="SK-11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3557588"/>
            <a:ext cx="419100" cy="228600"/>
          </a:xfrm>
          <a:prstGeom prst="rect">
            <a:avLst/>
          </a:prstGeom>
        </p:spPr>
      </p:pic>
      <p:pic>
        <p:nvPicPr>
          <p:cNvPr id="12" name="SK-11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4450" y="3557588"/>
            <a:ext cx="419100" cy="228600"/>
          </a:xfrm>
          <a:prstGeom prst="rect">
            <a:avLst/>
          </a:prstGeom>
        </p:spPr>
      </p:pic>
      <p:pic>
        <p:nvPicPr>
          <p:cNvPr id="13" name="SK-11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1761530"/>
            <a:ext cx="5410200" cy="2205633"/>
          </a:xfrm>
          <a:prstGeom prst="rect">
            <a:avLst/>
          </a:prstGeom>
        </p:spPr>
      </p:pic>
      <p:pic>
        <p:nvPicPr>
          <p:cNvPr id="14" name="SK-11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1942505"/>
            <a:ext cx="457200" cy="457200"/>
          </a:xfrm>
          <a:prstGeom prst="rect">
            <a:avLst/>
          </a:prstGeom>
        </p:spPr>
      </p:pic>
      <p:pic>
        <p:nvPicPr>
          <p:cNvPr id="15" name="SK-11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6531" y="2064395"/>
            <a:ext cx="261937" cy="213420"/>
          </a:xfrm>
          <a:prstGeom prst="rect">
            <a:avLst/>
          </a:prstGeom>
        </p:spPr>
      </p:pic>
      <p:pic>
        <p:nvPicPr>
          <p:cNvPr id="16" name="SK-11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2552105"/>
            <a:ext cx="142875" cy="131862"/>
          </a:xfrm>
          <a:prstGeom prst="rect">
            <a:avLst/>
          </a:prstGeom>
        </p:spPr>
      </p:pic>
      <p:pic>
        <p:nvPicPr>
          <p:cNvPr id="17" name="SK-11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3035796"/>
            <a:ext cx="142875" cy="122337"/>
          </a:xfrm>
          <a:prstGeom prst="rect">
            <a:avLst/>
          </a:prstGeom>
        </p:spPr>
      </p:pic>
      <p:pic>
        <p:nvPicPr>
          <p:cNvPr id="18" name="SK-11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3557588"/>
            <a:ext cx="419100" cy="228600"/>
          </a:xfrm>
          <a:prstGeom prst="rect">
            <a:avLst/>
          </a:prstGeom>
        </p:spPr>
      </p:pic>
      <p:pic>
        <p:nvPicPr>
          <p:cNvPr id="19" name="SK-11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53250" y="3557588"/>
            <a:ext cx="419100" cy="228600"/>
          </a:xfrm>
          <a:prstGeom prst="rect">
            <a:avLst/>
          </a:prstGeom>
        </p:spPr>
      </p:pic>
      <p:pic>
        <p:nvPicPr>
          <p:cNvPr id="20" name="SK-11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148137"/>
            <a:ext cx="5410200" cy="2205633"/>
          </a:xfrm>
          <a:prstGeom prst="rect">
            <a:avLst/>
          </a:prstGeom>
        </p:spPr>
      </p:pic>
      <p:pic>
        <p:nvPicPr>
          <p:cNvPr id="21" name="SK-11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" y="4329113"/>
            <a:ext cx="457200" cy="457200"/>
          </a:xfrm>
          <a:prstGeom prst="rect">
            <a:avLst/>
          </a:prstGeom>
        </p:spPr>
      </p:pic>
      <p:pic>
        <p:nvPicPr>
          <p:cNvPr id="22" name="SK-11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7731" y="4451003"/>
            <a:ext cx="261937" cy="213420"/>
          </a:xfrm>
          <a:prstGeom prst="rect">
            <a:avLst/>
          </a:prstGeom>
        </p:spPr>
      </p:pic>
      <p:pic>
        <p:nvPicPr>
          <p:cNvPr id="23" name="SK-11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0100" y="4938713"/>
            <a:ext cx="142875" cy="131862"/>
          </a:xfrm>
          <a:prstGeom prst="rect">
            <a:avLst/>
          </a:prstGeom>
        </p:spPr>
      </p:pic>
      <p:pic>
        <p:nvPicPr>
          <p:cNvPr id="24" name="SK-11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0100" y="5422404"/>
            <a:ext cx="142875" cy="131862"/>
          </a:xfrm>
          <a:prstGeom prst="rect">
            <a:avLst/>
          </a:prstGeom>
        </p:spPr>
      </p:pic>
      <p:pic>
        <p:nvPicPr>
          <p:cNvPr id="25" name="SK-11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0100" y="5944195"/>
            <a:ext cx="533400" cy="228600"/>
          </a:xfrm>
          <a:prstGeom prst="rect">
            <a:avLst/>
          </a:prstGeom>
        </p:spPr>
      </p:pic>
      <p:pic>
        <p:nvPicPr>
          <p:cNvPr id="26" name="SK-11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28750" y="5944195"/>
            <a:ext cx="533400" cy="228600"/>
          </a:xfrm>
          <a:prstGeom prst="rect">
            <a:avLst/>
          </a:prstGeom>
        </p:spPr>
      </p:pic>
      <p:pic>
        <p:nvPicPr>
          <p:cNvPr id="27" name="SK-11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10300" y="4148137"/>
            <a:ext cx="5410200" cy="2205633"/>
          </a:xfrm>
          <a:prstGeom prst="rect">
            <a:avLst/>
          </a:prstGeom>
        </p:spPr>
      </p:pic>
      <p:pic>
        <p:nvPicPr>
          <p:cNvPr id="28" name="SK-11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38900" y="4329113"/>
            <a:ext cx="457200" cy="457200"/>
          </a:xfrm>
          <a:prstGeom prst="rect">
            <a:avLst/>
          </a:prstGeom>
        </p:spPr>
      </p:pic>
      <p:pic>
        <p:nvPicPr>
          <p:cNvPr id="29" name="SK-11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36531" y="4451003"/>
            <a:ext cx="261937" cy="213420"/>
          </a:xfrm>
          <a:prstGeom prst="rect">
            <a:avLst/>
          </a:prstGeom>
        </p:spPr>
      </p:pic>
      <p:pic>
        <p:nvPicPr>
          <p:cNvPr id="30" name="SK-11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38900" y="4938713"/>
            <a:ext cx="142875" cy="131862"/>
          </a:xfrm>
          <a:prstGeom prst="rect">
            <a:avLst/>
          </a:prstGeom>
        </p:spPr>
      </p:pic>
      <p:pic>
        <p:nvPicPr>
          <p:cNvPr id="31" name="SK-11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38900" y="5422404"/>
            <a:ext cx="142875" cy="131862"/>
          </a:xfrm>
          <a:prstGeom prst="rect">
            <a:avLst/>
          </a:prstGeom>
        </p:spPr>
      </p:pic>
      <p:pic>
        <p:nvPicPr>
          <p:cNvPr id="32" name="SK-11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38900" y="5944195"/>
            <a:ext cx="419100" cy="228600"/>
          </a:xfrm>
          <a:prstGeom prst="rect">
            <a:avLst/>
          </a:prstGeom>
        </p:spPr>
      </p:pic>
      <p:pic>
        <p:nvPicPr>
          <p:cNvPr id="33" name="SK-11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953250" y="5944195"/>
            <a:ext cx="419100" cy="228600"/>
          </a:xfrm>
          <a:prstGeom prst="rect">
            <a:avLst/>
          </a:prstGeom>
        </p:spPr>
      </p:pic>
      <p:sp>
        <p:nvSpPr>
          <p:cNvPr id="34" name="SK-11-text-33"/>
          <p:cNvSpPr/>
          <p:nvPr/>
        </p:nvSpPr>
        <p:spPr>
          <a:xfrm>
            <a:off x="723900" y="381000"/>
            <a:ext cx="563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-3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竞赛价值与落地前景</a:t>
            </a:r>
            <a:endParaRPr lang="en-US" sz="2400" dirty="0"/>
          </a:p>
        </p:txBody>
      </p:sp>
      <p:sp>
        <p:nvSpPr>
          <p:cNvPr id="35" name="SK-11-text-34"/>
          <p:cNvSpPr/>
          <p:nvPr/>
        </p:nvSpPr>
        <p:spPr>
          <a:xfrm>
            <a:off x="7239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SPECIFICATION / LEARNAGENT SYSTEM</a:t>
            </a:r>
            <a:endParaRPr lang="en-US" sz="1200" dirty="0"/>
          </a:p>
        </p:txBody>
      </p:sp>
      <p:sp>
        <p:nvSpPr>
          <p:cNvPr id="36" name="SK-11-text-35"/>
          <p:cNvSpPr/>
          <p:nvPr/>
        </p:nvSpPr>
        <p:spPr>
          <a:xfrm>
            <a:off x="1409700" y="2013942"/>
            <a:ext cx="2619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高校教学赋能</a:t>
            </a:r>
            <a:endParaRPr lang="en-US" sz="1650" dirty="0"/>
          </a:p>
        </p:txBody>
      </p:sp>
      <p:sp>
        <p:nvSpPr>
          <p:cNvPr id="37" name="SK-11-text-36"/>
          <p:cNvSpPr/>
          <p:nvPr/>
        </p:nvSpPr>
        <p:spPr>
          <a:xfrm>
            <a:off x="1038225" y="2523530"/>
            <a:ext cx="90830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因材施教工程化：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通过8维画像精准定位，实现千人千面的学习体验。</a:t>
            </a:r>
            <a:endParaRPr lang="en-US" sz="1200" dirty="0"/>
          </a:p>
        </p:txBody>
      </p:sp>
      <p:sp>
        <p:nvSpPr>
          <p:cNvPr id="38" name="SK-11-text-37"/>
          <p:cNvSpPr/>
          <p:nvPr/>
        </p:nvSpPr>
        <p:spPr>
          <a:xfrm>
            <a:off x="1038225" y="2793950"/>
            <a:ext cx="47148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教学减负增效：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AI自动生成高质量教学资源，辅助教师从繁重备课中解脱。</a:t>
            </a:r>
            <a:endParaRPr lang="en-US" sz="1200" dirty="0"/>
          </a:p>
        </p:txBody>
      </p:sp>
      <p:sp>
        <p:nvSpPr>
          <p:cNvPr id="39" name="SK-11-text-38"/>
          <p:cNvSpPr/>
          <p:nvPr/>
        </p:nvSpPr>
        <p:spPr>
          <a:xfrm>
            <a:off x="895350" y="3557588"/>
            <a:ext cx="3255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高效</a:t>
            </a:r>
            <a:endParaRPr lang="en-US" sz="900" dirty="0"/>
          </a:p>
        </p:txBody>
      </p:sp>
      <p:sp>
        <p:nvSpPr>
          <p:cNvPr id="40" name="SK-11-text-39"/>
          <p:cNvSpPr/>
          <p:nvPr/>
        </p:nvSpPr>
        <p:spPr>
          <a:xfrm>
            <a:off x="1409700" y="3557588"/>
            <a:ext cx="3255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精准</a:t>
            </a:r>
            <a:endParaRPr lang="en-US" sz="900" dirty="0"/>
          </a:p>
        </p:txBody>
      </p:sp>
      <p:sp>
        <p:nvSpPr>
          <p:cNvPr id="41" name="SK-11-text-40"/>
          <p:cNvSpPr/>
          <p:nvPr/>
        </p:nvSpPr>
        <p:spPr>
          <a:xfrm>
            <a:off x="7048500" y="2013942"/>
            <a:ext cx="2619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医学教育深耕</a:t>
            </a:r>
            <a:endParaRPr lang="en-US" sz="1650" dirty="0"/>
          </a:p>
        </p:txBody>
      </p:sp>
      <p:sp>
        <p:nvSpPr>
          <p:cNvPr id="42" name="SK-11-text-41"/>
          <p:cNvSpPr/>
          <p:nvPr/>
        </p:nvSpPr>
        <p:spPr>
          <a:xfrm>
            <a:off x="6677025" y="2523530"/>
            <a:ext cx="47148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权威知识对齐：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内置AHA/ASA等脑卒中诊疗指南，确保医学生成的严肃性。</a:t>
            </a:r>
            <a:endParaRPr lang="en-US" sz="1200" dirty="0"/>
          </a:p>
        </p:txBody>
      </p:sp>
      <p:sp>
        <p:nvSpPr>
          <p:cNvPr id="43" name="SK-11-text-42"/>
          <p:cNvSpPr/>
          <p:nvPr/>
        </p:nvSpPr>
        <p:spPr>
          <a:xfrm>
            <a:off x="6677025" y="3007221"/>
            <a:ext cx="47148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临床思维训练：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多模态支持影像与化验单解析，培养医学生实战分析能力。</a:t>
            </a:r>
            <a:endParaRPr lang="en-US" sz="1200" dirty="0"/>
          </a:p>
        </p:txBody>
      </p:sp>
      <p:sp>
        <p:nvSpPr>
          <p:cNvPr id="44" name="SK-11-text-43"/>
          <p:cNvSpPr/>
          <p:nvPr/>
        </p:nvSpPr>
        <p:spPr>
          <a:xfrm>
            <a:off x="6534150" y="3557588"/>
            <a:ext cx="3255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472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专业</a:t>
            </a:r>
            <a:endParaRPr lang="en-US" sz="900" dirty="0"/>
          </a:p>
        </p:txBody>
      </p:sp>
      <p:sp>
        <p:nvSpPr>
          <p:cNvPr id="45" name="SK-11-text-44"/>
          <p:cNvSpPr/>
          <p:nvPr/>
        </p:nvSpPr>
        <p:spPr>
          <a:xfrm>
            <a:off x="7048500" y="3557588"/>
            <a:ext cx="3255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472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</a:t>
            </a:r>
            <a:endParaRPr lang="en-US" sz="900" dirty="0"/>
          </a:p>
        </p:txBody>
      </p:sp>
      <p:sp>
        <p:nvSpPr>
          <p:cNvPr id="46" name="SK-11-text-45"/>
          <p:cNvSpPr/>
          <p:nvPr/>
        </p:nvSpPr>
        <p:spPr>
          <a:xfrm>
            <a:off x="1409700" y="4400550"/>
            <a:ext cx="30384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跨学科迁移潜力</a:t>
            </a:r>
            <a:endParaRPr lang="en-US" sz="1650" dirty="0"/>
          </a:p>
        </p:txBody>
      </p:sp>
      <p:sp>
        <p:nvSpPr>
          <p:cNvPr id="47" name="SK-11-text-46"/>
          <p:cNvSpPr/>
          <p:nvPr/>
        </p:nvSpPr>
        <p:spPr>
          <a:xfrm>
            <a:off x="1038225" y="4910138"/>
            <a:ext cx="47148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全配置化架构：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Prompts与专家角色完全解耦，支持零代码快速更换知识库。</a:t>
            </a:r>
            <a:endParaRPr lang="en-US" sz="1200" dirty="0"/>
          </a:p>
        </p:txBody>
      </p:sp>
      <p:sp>
        <p:nvSpPr>
          <p:cNvPr id="48" name="SK-11-text-47"/>
          <p:cNvSpPr/>
          <p:nvPr/>
        </p:nvSpPr>
        <p:spPr>
          <a:xfrm>
            <a:off x="1038225" y="5393829"/>
            <a:ext cx="47148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极速场景切换：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可平滑迁移至心血管、肿瘤、法律或工程等复杂专业教育领域。</a:t>
            </a:r>
            <a:endParaRPr lang="en-US" sz="1200" dirty="0"/>
          </a:p>
        </p:txBody>
      </p:sp>
      <p:sp>
        <p:nvSpPr>
          <p:cNvPr id="49" name="SK-11-text-48"/>
          <p:cNvSpPr/>
          <p:nvPr/>
        </p:nvSpPr>
        <p:spPr>
          <a:xfrm>
            <a:off x="895350" y="5944195"/>
            <a:ext cx="5170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高扩展</a:t>
            </a:r>
            <a:endParaRPr lang="en-US" sz="900" dirty="0"/>
          </a:p>
        </p:txBody>
      </p:sp>
      <p:sp>
        <p:nvSpPr>
          <p:cNvPr id="50" name="SK-11-text-49"/>
          <p:cNvSpPr/>
          <p:nvPr/>
        </p:nvSpPr>
        <p:spPr>
          <a:xfrm>
            <a:off x="1524000" y="5944195"/>
            <a:ext cx="5170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模块化</a:t>
            </a:r>
            <a:endParaRPr lang="en-US" sz="900" dirty="0"/>
          </a:p>
        </p:txBody>
      </p:sp>
      <p:sp>
        <p:nvSpPr>
          <p:cNvPr id="51" name="SK-11-text-50"/>
          <p:cNvSpPr/>
          <p:nvPr/>
        </p:nvSpPr>
        <p:spPr>
          <a:xfrm>
            <a:off x="7048500" y="4400550"/>
            <a:ext cx="2619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架构示范效应</a:t>
            </a:r>
            <a:endParaRPr lang="en-US" sz="1650" dirty="0"/>
          </a:p>
        </p:txBody>
      </p:sp>
      <p:sp>
        <p:nvSpPr>
          <p:cNvPr id="52" name="SK-11-text-51"/>
          <p:cNvSpPr/>
          <p:nvPr/>
        </p:nvSpPr>
        <p:spPr>
          <a:xfrm>
            <a:off x="6677025" y="4910138"/>
            <a:ext cx="47148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生产级工程实践：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WebFlux非阻塞转发、SSE流式响应，提供高性能系统范本。</a:t>
            </a:r>
            <a:endParaRPr lang="en-US" sz="1200" dirty="0"/>
          </a:p>
        </p:txBody>
      </p:sp>
      <p:sp>
        <p:nvSpPr>
          <p:cNvPr id="53" name="SK-11-text-52"/>
          <p:cNvSpPr/>
          <p:nvPr/>
        </p:nvSpPr>
        <p:spPr>
          <a:xfrm>
            <a:off x="6677025" y="5393829"/>
            <a:ext cx="47148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多智能体协同基座：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完善的LangGraph编排机制，为真实生产环境提供参考。</a:t>
            </a:r>
            <a:endParaRPr lang="en-US" sz="1200" dirty="0"/>
          </a:p>
        </p:txBody>
      </p:sp>
      <p:sp>
        <p:nvSpPr>
          <p:cNvPr id="54" name="SK-11-text-53"/>
          <p:cNvSpPr/>
          <p:nvPr/>
        </p:nvSpPr>
        <p:spPr>
          <a:xfrm>
            <a:off x="6534150" y="5944195"/>
            <a:ext cx="3255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鲁棒</a:t>
            </a:r>
            <a:endParaRPr lang="en-US" sz="900" dirty="0"/>
          </a:p>
        </p:txBody>
      </p:sp>
      <p:sp>
        <p:nvSpPr>
          <p:cNvPr id="55" name="SK-11-text-54"/>
          <p:cNvSpPr/>
          <p:nvPr/>
        </p:nvSpPr>
        <p:spPr>
          <a:xfrm>
            <a:off x="7048500" y="5944195"/>
            <a:ext cx="3255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前瞻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SK-1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1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38275"/>
            <a:ext cx="11049000" cy="280988"/>
          </a:xfrm>
          <a:prstGeom prst="rect">
            <a:avLst/>
          </a:prstGeom>
        </p:spPr>
      </p:pic>
      <p:pic>
        <p:nvPicPr>
          <p:cNvPr id="7" name="SK-1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38275"/>
            <a:ext cx="3682901" cy="280988"/>
          </a:xfrm>
          <a:prstGeom prst="rect">
            <a:avLst/>
          </a:prstGeom>
        </p:spPr>
      </p:pic>
      <p:pic>
        <p:nvPicPr>
          <p:cNvPr id="8" name="SK-1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401" y="1438275"/>
            <a:ext cx="3682901" cy="280988"/>
          </a:xfrm>
          <a:prstGeom prst="rect">
            <a:avLst/>
          </a:prstGeom>
        </p:spPr>
      </p:pic>
      <p:pic>
        <p:nvPicPr>
          <p:cNvPr id="9" name="SK-1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302" y="1438275"/>
            <a:ext cx="3683198" cy="280988"/>
          </a:xfrm>
          <a:prstGeom prst="rect">
            <a:avLst/>
          </a:prstGeom>
        </p:spPr>
      </p:pic>
      <p:pic>
        <p:nvPicPr>
          <p:cNvPr id="10" name="SK-1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719263"/>
            <a:ext cx="11049000" cy="638919"/>
          </a:xfrm>
          <a:prstGeom prst="rect">
            <a:avLst/>
          </a:prstGeom>
        </p:spPr>
      </p:pic>
      <p:pic>
        <p:nvPicPr>
          <p:cNvPr id="11" name="SK-1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0985" y="1922711"/>
            <a:ext cx="935831" cy="223838"/>
          </a:xfrm>
          <a:prstGeom prst="rect">
            <a:avLst/>
          </a:prstGeom>
        </p:spPr>
      </p:pic>
      <p:pic>
        <p:nvPicPr>
          <p:cNvPr id="12" name="SK-1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5285" y="1971675"/>
            <a:ext cx="154781" cy="125760"/>
          </a:xfrm>
          <a:prstGeom prst="rect">
            <a:avLst/>
          </a:prstGeom>
        </p:spPr>
      </p:pic>
      <p:pic>
        <p:nvPicPr>
          <p:cNvPr id="13" name="SK-1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358182"/>
            <a:ext cx="11049000" cy="900410"/>
          </a:xfrm>
          <a:prstGeom prst="rect">
            <a:avLst/>
          </a:prstGeom>
        </p:spPr>
      </p:pic>
      <p:pic>
        <p:nvPicPr>
          <p:cNvPr id="14" name="SK-1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10985" y="2692450"/>
            <a:ext cx="935831" cy="223838"/>
          </a:xfrm>
          <a:prstGeom prst="rect">
            <a:avLst/>
          </a:prstGeom>
        </p:spPr>
      </p:pic>
      <p:pic>
        <p:nvPicPr>
          <p:cNvPr id="15" name="SK-1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25285" y="2741414"/>
            <a:ext cx="154781" cy="125760"/>
          </a:xfrm>
          <a:prstGeom prst="rect">
            <a:avLst/>
          </a:prstGeom>
        </p:spPr>
      </p:pic>
      <p:pic>
        <p:nvPicPr>
          <p:cNvPr id="16" name="SK-1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258592"/>
            <a:ext cx="11049000" cy="638919"/>
          </a:xfrm>
          <a:prstGeom prst="rect">
            <a:avLst/>
          </a:prstGeom>
        </p:spPr>
      </p:pic>
      <p:pic>
        <p:nvPicPr>
          <p:cNvPr id="17" name="SK-1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10985" y="3462040"/>
            <a:ext cx="935831" cy="223838"/>
          </a:xfrm>
          <a:prstGeom prst="rect">
            <a:avLst/>
          </a:prstGeom>
        </p:spPr>
      </p:pic>
      <p:pic>
        <p:nvPicPr>
          <p:cNvPr id="18" name="SK-1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25285" y="3511004"/>
            <a:ext cx="154781" cy="125760"/>
          </a:xfrm>
          <a:prstGeom prst="rect">
            <a:avLst/>
          </a:prstGeom>
        </p:spPr>
      </p:pic>
      <p:pic>
        <p:nvPicPr>
          <p:cNvPr id="19" name="SK-1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3897511"/>
            <a:ext cx="11049000" cy="638919"/>
          </a:xfrm>
          <a:prstGeom prst="rect">
            <a:avLst/>
          </a:prstGeom>
        </p:spPr>
      </p:pic>
      <p:pic>
        <p:nvPicPr>
          <p:cNvPr id="20" name="SK-1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10985" y="4100959"/>
            <a:ext cx="935831" cy="223838"/>
          </a:xfrm>
          <a:prstGeom prst="rect">
            <a:avLst/>
          </a:prstGeom>
        </p:spPr>
      </p:pic>
      <p:pic>
        <p:nvPicPr>
          <p:cNvPr id="21" name="SK-1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25285" y="4149923"/>
            <a:ext cx="154781" cy="125760"/>
          </a:xfrm>
          <a:prstGeom prst="rect">
            <a:avLst/>
          </a:prstGeom>
        </p:spPr>
      </p:pic>
      <p:pic>
        <p:nvPicPr>
          <p:cNvPr id="22" name="SK-1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4536430"/>
            <a:ext cx="11049000" cy="638919"/>
          </a:xfrm>
          <a:prstGeom prst="rect">
            <a:avLst/>
          </a:prstGeom>
        </p:spPr>
      </p:pic>
      <p:pic>
        <p:nvPicPr>
          <p:cNvPr id="23" name="SK-1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10985" y="4739878"/>
            <a:ext cx="935831" cy="223838"/>
          </a:xfrm>
          <a:prstGeom prst="rect">
            <a:avLst/>
          </a:prstGeom>
        </p:spPr>
      </p:pic>
      <p:pic>
        <p:nvPicPr>
          <p:cNvPr id="24" name="SK-1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25285" y="4788843"/>
            <a:ext cx="154781" cy="125760"/>
          </a:xfrm>
          <a:prstGeom prst="rect">
            <a:avLst/>
          </a:prstGeom>
        </p:spPr>
      </p:pic>
      <p:pic>
        <p:nvPicPr>
          <p:cNvPr id="25" name="SK-1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5175349"/>
            <a:ext cx="11049000" cy="900410"/>
          </a:xfrm>
          <a:prstGeom prst="rect">
            <a:avLst/>
          </a:prstGeom>
        </p:spPr>
      </p:pic>
      <p:pic>
        <p:nvPicPr>
          <p:cNvPr id="26" name="SK-1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10985" y="5509617"/>
            <a:ext cx="935831" cy="223838"/>
          </a:xfrm>
          <a:prstGeom prst="rect">
            <a:avLst/>
          </a:prstGeom>
        </p:spPr>
      </p:pic>
      <p:pic>
        <p:nvPicPr>
          <p:cNvPr id="27" name="SK-1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25285" y="5558582"/>
            <a:ext cx="154781" cy="125760"/>
          </a:xfrm>
          <a:prstGeom prst="rect">
            <a:avLst/>
          </a:prstGeom>
        </p:spPr>
      </p:pic>
      <p:pic>
        <p:nvPicPr>
          <p:cNvPr id="28" name="SK-1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10985" y="6279505"/>
            <a:ext cx="935831" cy="223838"/>
          </a:xfrm>
          <a:prstGeom prst="rect">
            <a:avLst/>
          </a:prstGeom>
        </p:spPr>
      </p:pic>
      <p:pic>
        <p:nvPicPr>
          <p:cNvPr id="29" name="SK-1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25285" y="6328470"/>
            <a:ext cx="154781" cy="125760"/>
          </a:xfrm>
          <a:prstGeom prst="rect">
            <a:avLst/>
          </a:prstGeom>
        </p:spPr>
      </p:pic>
      <p:sp>
        <p:nvSpPr>
          <p:cNvPr id="30" name="SK-12-text-29"/>
          <p:cNvSpPr/>
          <p:nvPr/>
        </p:nvSpPr>
        <p:spPr>
          <a:xfrm>
            <a:off x="723900" y="381000"/>
            <a:ext cx="624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-3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赛题要求达成情况说明</a:t>
            </a:r>
            <a:endParaRPr lang="en-US" sz="2400" dirty="0"/>
          </a:p>
        </p:txBody>
      </p:sp>
      <p:sp>
        <p:nvSpPr>
          <p:cNvPr id="31" name="SK-12-text-30"/>
          <p:cNvSpPr/>
          <p:nvPr/>
        </p:nvSpPr>
        <p:spPr>
          <a:xfrm>
            <a:off x="7239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SPECIFICATION / LEARNAGENT SYSTEM</a:t>
            </a:r>
            <a:endParaRPr lang="en-US" sz="1200" dirty="0"/>
          </a:p>
        </p:txBody>
      </p:sp>
      <p:sp>
        <p:nvSpPr>
          <p:cNvPr id="32" name="SK-12-text-31"/>
          <p:cNvSpPr/>
          <p:nvPr/>
        </p:nvSpPr>
        <p:spPr>
          <a:xfrm>
            <a:off x="685800" y="1438275"/>
            <a:ext cx="3530501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60" kern="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赛题核心要求</a:t>
            </a:r>
            <a:endParaRPr lang="en-US" sz="975" dirty="0"/>
          </a:p>
        </p:txBody>
      </p:sp>
      <p:sp>
        <p:nvSpPr>
          <p:cNvPr id="33" name="SK-12-text-32"/>
          <p:cNvSpPr/>
          <p:nvPr/>
        </p:nvSpPr>
        <p:spPr>
          <a:xfrm>
            <a:off x="4368701" y="1438275"/>
            <a:ext cx="3530501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60" kern="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LEARNAGENT 系统实现方案</a:t>
            </a:r>
            <a:endParaRPr lang="en-US" sz="975" dirty="0"/>
          </a:p>
        </p:txBody>
      </p:sp>
      <p:sp>
        <p:nvSpPr>
          <p:cNvPr id="34" name="SK-12-text-33"/>
          <p:cNvSpPr/>
          <p:nvPr/>
        </p:nvSpPr>
        <p:spPr>
          <a:xfrm>
            <a:off x="7899202" y="1438275"/>
            <a:ext cx="3530798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spc="60" kern="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达标状态</a:t>
            </a:r>
            <a:endParaRPr lang="en-US" sz="975" dirty="0"/>
          </a:p>
        </p:txBody>
      </p:sp>
      <p:sp>
        <p:nvSpPr>
          <p:cNvPr id="35" name="SK-12-text-34"/>
          <p:cNvSpPr/>
          <p:nvPr/>
        </p:nvSpPr>
        <p:spPr>
          <a:xfrm>
            <a:off x="685800" y="1719263"/>
            <a:ext cx="3530501" cy="63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自然语言抽取特征</a:t>
            </a:r>
            <a:endParaRPr lang="en-US" sz="1200" dirty="0"/>
          </a:p>
        </p:txBody>
      </p:sp>
      <p:sp>
        <p:nvSpPr>
          <p:cNvPr id="36" name="SK-12-text-35"/>
          <p:cNvSpPr/>
          <p:nvPr/>
        </p:nvSpPr>
        <p:spPr>
          <a:xfrm>
            <a:off x="4368701" y="1719263"/>
            <a:ext cx="3454301" cy="63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集成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画像对话智能体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引导交互，由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特征抽取智能体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自动从对话中提取并生成结构化 JSON 特征。</a:t>
            </a:r>
            <a:endParaRPr lang="en-US" sz="1125" dirty="0"/>
          </a:p>
        </p:txBody>
      </p:sp>
      <p:sp>
        <p:nvSpPr>
          <p:cNvPr id="37" name="SK-12-text-36"/>
          <p:cNvSpPr/>
          <p:nvPr/>
        </p:nvSpPr>
        <p:spPr>
          <a:xfrm>
            <a:off x="9599116" y="1922711"/>
            <a:ext cx="41910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完全达标</a:t>
            </a:r>
            <a:endParaRPr lang="en-US" sz="975" dirty="0"/>
          </a:p>
        </p:txBody>
      </p:sp>
      <p:sp>
        <p:nvSpPr>
          <p:cNvPr id="38" name="SK-12-text-37"/>
          <p:cNvSpPr/>
          <p:nvPr/>
        </p:nvSpPr>
        <p:spPr>
          <a:xfrm>
            <a:off x="685800" y="2358182"/>
            <a:ext cx="3530501" cy="90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不少于6维动态画像</a:t>
            </a:r>
            <a:endParaRPr lang="en-US" sz="1200" dirty="0"/>
          </a:p>
        </p:txBody>
      </p:sp>
      <p:sp>
        <p:nvSpPr>
          <p:cNvPr id="39" name="SK-12-text-38"/>
          <p:cNvSpPr/>
          <p:nvPr/>
        </p:nvSpPr>
        <p:spPr>
          <a:xfrm>
            <a:off x="4368701" y="2358182"/>
            <a:ext cx="3454301" cy="90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构建包含知识基础、认知风格、学习目标、易错模式、学习节奏、资源偏好、临床经验、情绪状态的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8维度动态画像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125" dirty="0"/>
          </a:p>
        </p:txBody>
      </p:sp>
      <p:sp>
        <p:nvSpPr>
          <p:cNvPr id="40" name="SK-12-text-39"/>
          <p:cNvSpPr/>
          <p:nvPr/>
        </p:nvSpPr>
        <p:spPr>
          <a:xfrm>
            <a:off x="9599116" y="2692450"/>
            <a:ext cx="41910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8B5C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超额完成</a:t>
            </a:r>
            <a:endParaRPr lang="en-US" sz="975" dirty="0"/>
          </a:p>
        </p:txBody>
      </p:sp>
      <p:sp>
        <p:nvSpPr>
          <p:cNvPr id="41" name="SK-12-text-40"/>
          <p:cNvSpPr/>
          <p:nvPr/>
        </p:nvSpPr>
        <p:spPr>
          <a:xfrm>
            <a:off x="685800" y="3258592"/>
            <a:ext cx="3530501" cy="63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多智能体架构设计</a:t>
            </a:r>
            <a:endParaRPr lang="en-US" sz="1200" dirty="0"/>
          </a:p>
        </p:txBody>
      </p:sp>
      <p:sp>
        <p:nvSpPr>
          <p:cNvPr id="42" name="SK-12-text-41"/>
          <p:cNvSpPr/>
          <p:nvPr/>
        </p:nvSpPr>
        <p:spPr>
          <a:xfrm>
            <a:off x="4368701" y="3258592"/>
            <a:ext cx="3454301" cy="63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编排 8 个专业智能体，实现意图分流、辩论-仲裁、动态退火反思等深度协同机制。</a:t>
            </a:r>
            <a:endParaRPr lang="en-US" sz="1125" dirty="0"/>
          </a:p>
        </p:txBody>
      </p:sp>
      <p:sp>
        <p:nvSpPr>
          <p:cNvPr id="43" name="SK-12-text-42"/>
          <p:cNvSpPr/>
          <p:nvPr/>
        </p:nvSpPr>
        <p:spPr>
          <a:xfrm>
            <a:off x="9599116" y="3462040"/>
            <a:ext cx="41910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完全达标</a:t>
            </a:r>
            <a:endParaRPr lang="en-US" sz="975" dirty="0"/>
          </a:p>
        </p:txBody>
      </p:sp>
      <p:sp>
        <p:nvSpPr>
          <p:cNvPr id="44" name="SK-12-text-43"/>
          <p:cNvSpPr/>
          <p:nvPr/>
        </p:nvSpPr>
        <p:spPr>
          <a:xfrm>
            <a:off x="685800" y="3897511"/>
            <a:ext cx="3530501" cy="63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个性化/多类型资源</a:t>
            </a:r>
            <a:endParaRPr lang="en-US" sz="1200" dirty="0"/>
          </a:p>
        </p:txBody>
      </p:sp>
      <p:sp>
        <p:nvSpPr>
          <p:cNvPr id="45" name="SK-12-text-44"/>
          <p:cNvSpPr/>
          <p:nvPr/>
        </p:nvSpPr>
        <p:spPr>
          <a:xfrm>
            <a:off x="4368701" y="3897511"/>
            <a:ext cx="3454301" cy="63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支持思维导图、案例、PPT 等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类资源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生成；根据画像自动调整难度（入门/中级/进阶），满足因材施教。</a:t>
            </a:r>
            <a:endParaRPr lang="en-US" sz="1125" dirty="0"/>
          </a:p>
        </p:txBody>
      </p:sp>
      <p:sp>
        <p:nvSpPr>
          <p:cNvPr id="46" name="SK-12-text-45"/>
          <p:cNvSpPr/>
          <p:nvPr/>
        </p:nvSpPr>
        <p:spPr>
          <a:xfrm>
            <a:off x="9599116" y="4100959"/>
            <a:ext cx="41910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完全达标</a:t>
            </a:r>
            <a:endParaRPr lang="en-US" sz="975" dirty="0"/>
          </a:p>
        </p:txBody>
      </p:sp>
      <p:sp>
        <p:nvSpPr>
          <p:cNvPr id="47" name="SK-12-text-46"/>
          <p:cNvSpPr/>
          <p:nvPr/>
        </p:nvSpPr>
        <p:spPr>
          <a:xfrm>
            <a:off x="685800" y="4536430"/>
            <a:ext cx="3530501" cy="63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路径规划与效果评估</a:t>
            </a:r>
            <a:endParaRPr lang="en-US" sz="1200" dirty="0"/>
          </a:p>
        </p:txBody>
      </p:sp>
      <p:sp>
        <p:nvSpPr>
          <p:cNvPr id="48" name="SK-12-text-47"/>
          <p:cNvSpPr/>
          <p:nvPr/>
        </p:nvSpPr>
        <p:spPr>
          <a:xfrm>
            <a:off x="4368701" y="4536430"/>
            <a:ext cx="3454301" cy="63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提供分阶段学习路径导航；支持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类评估模式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并生成结构化报告，评估结果自动反馈至画像更新。</a:t>
            </a:r>
            <a:endParaRPr lang="en-US" sz="1125" dirty="0"/>
          </a:p>
        </p:txBody>
      </p:sp>
      <p:sp>
        <p:nvSpPr>
          <p:cNvPr id="49" name="SK-12-text-48"/>
          <p:cNvSpPr/>
          <p:nvPr/>
        </p:nvSpPr>
        <p:spPr>
          <a:xfrm>
            <a:off x="9599116" y="4739878"/>
            <a:ext cx="41910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完全达标</a:t>
            </a:r>
            <a:endParaRPr lang="en-US" sz="975" dirty="0"/>
          </a:p>
        </p:txBody>
      </p:sp>
      <p:sp>
        <p:nvSpPr>
          <p:cNvPr id="50" name="SK-12-text-49"/>
          <p:cNvSpPr/>
          <p:nvPr/>
        </p:nvSpPr>
        <p:spPr>
          <a:xfrm>
            <a:off x="685800" y="5175349"/>
            <a:ext cx="3530501" cy="90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与流式交互</a:t>
            </a:r>
            <a:endParaRPr lang="en-US" sz="1200" dirty="0"/>
          </a:p>
        </p:txBody>
      </p:sp>
      <p:sp>
        <p:nvSpPr>
          <p:cNvPr id="51" name="SK-12-text-50"/>
          <p:cNvSpPr/>
          <p:nvPr/>
        </p:nvSpPr>
        <p:spPr>
          <a:xfrm>
            <a:off x="4368701" y="5175349"/>
            <a:ext cx="3454301" cy="90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采用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ChromaDB+BM25 混合检索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及 gte-rerank 重排；全链路支持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SSE 流式响应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 Thinking 思考过程展示。</a:t>
            </a:r>
            <a:endParaRPr lang="en-US" sz="1125" dirty="0"/>
          </a:p>
        </p:txBody>
      </p:sp>
      <p:sp>
        <p:nvSpPr>
          <p:cNvPr id="52" name="SK-12-text-51"/>
          <p:cNvSpPr/>
          <p:nvPr/>
        </p:nvSpPr>
        <p:spPr>
          <a:xfrm>
            <a:off x="9599116" y="5509617"/>
            <a:ext cx="41910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完全达标</a:t>
            </a:r>
            <a:endParaRPr lang="en-US" sz="975" dirty="0"/>
          </a:p>
        </p:txBody>
      </p:sp>
      <p:sp>
        <p:nvSpPr>
          <p:cNvPr id="53" name="SK-12-text-52"/>
          <p:cNvSpPr/>
          <p:nvPr/>
        </p:nvSpPr>
        <p:spPr>
          <a:xfrm>
            <a:off x="685800" y="6075759"/>
            <a:ext cx="3530501" cy="6393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智能体动态编排</a:t>
            </a:r>
            <a:endParaRPr lang="en-US" sz="1200" dirty="0"/>
          </a:p>
        </p:txBody>
      </p:sp>
      <p:sp>
        <p:nvSpPr>
          <p:cNvPr id="54" name="SK-12-text-53"/>
          <p:cNvSpPr/>
          <p:nvPr/>
        </p:nvSpPr>
        <p:spPr>
          <a:xfrm>
            <a:off x="4368701" y="6075759"/>
            <a:ext cx="3454301" cy="6393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根据用户意图的难度评分（0.0-1.0）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动态裁剪参与智能体数量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，实现算力分配与响应效率的完美平衡。</a:t>
            </a:r>
            <a:endParaRPr lang="en-US" sz="1125" dirty="0"/>
          </a:p>
        </p:txBody>
      </p:sp>
      <p:sp>
        <p:nvSpPr>
          <p:cNvPr id="55" name="SK-12-text-54"/>
          <p:cNvSpPr/>
          <p:nvPr/>
        </p:nvSpPr>
        <p:spPr>
          <a:xfrm>
            <a:off x="9599116" y="6279505"/>
            <a:ext cx="41910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8B5C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创新达标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4" name="SK-1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5" name="SK-1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14475"/>
            <a:ext cx="4328220" cy="2295525"/>
          </a:xfrm>
          <a:prstGeom prst="rect">
            <a:avLst/>
          </a:prstGeom>
        </p:spPr>
      </p:pic>
      <p:pic>
        <p:nvPicPr>
          <p:cNvPr id="6" name="SK-1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704975"/>
            <a:ext cx="3947220" cy="381000"/>
          </a:xfrm>
          <a:prstGeom prst="rect">
            <a:avLst/>
          </a:prstGeom>
        </p:spPr>
      </p:pic>
      <p:pic>
        <p:nvPicPr>
          <p:cNvPr id="7" name="SK-1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752600"/>
            <a:ext cx="238125" cy="190500"/>
          </a:xfrm>
          <a:prstGeom prst="rect">
            <a:avLst/>
          </a:prstGeom>
        </p:spPr>
      </p:pic>
      <p:pic>
        <p:nvPicPr>
          <p:cNvPr id="8" name="SK-1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238375"/>
            <a:ext cx="1916460" cy="314325"/>
          </a:xfrm>
          <a:prstGeom prst="rect">
            <a:avLst/>
          </a:prstGeom>
        </p:spPr>
      </p:pic>
      <p:pic>
        <p:nvPicPr>
          <p:cNvPr id="9" name="SK-1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2760" y="2238375"/>
            <a:ext cx="1916460" cy="314325"/>
          </a:xfrm>
          <a:prstGeom prst="rect">
            <a:avLst/>
          </a:prstGeom>
        </p:spPr>
      </p:pic>
      <p:pic>
        <p:nvPicPr>
          <p:cNvPr id="10" name="SK-1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647950"/>
            <a:ext cx="1916460" cy="314325"/>
          </a:xfrm>
          <a:prstGeom prst="rect">
            <a:avLst/>
          </a:prstGeom>
        </p:spPr>
      </p:pic>
      <p:pic>
        <p:nvPicPr>
          <p:cNvPr id="11" name="SK-1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2760" y="2647950"/>
            <a:ext cx="1916460" cy="314325"/>
          </a:xfrm>
          <a:prstGeom prst="rect">
            <a:avLst/>
          </a:prstGeom>
        </p:spPr>
      </p:pic>
      <p:pic>
        <p:nvPicPr>
          <p:cNvPr id="12" name="SK-1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057525"/>
            <a:ext cx="1916460" cy="314325"/>
          </a:xfrm>
          <a:prstGeom prst="rect">
            <a:avLst/>
          </a:prstGeom>
        </p:spPr>
      </p:pic>
      <p:pic>
        <p:nvPicPr>
          <p:cNvPr id="13" name="SK-1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92760" y="3057525"/>
            <a:ext cx="1916460" cy="314325"/>
          </a:xfrm>
          <a:prstGeom prst="rect">
            <a:avLst/>
          </a:prstGeom>
        </p:spPr>
      </p:pic>
      <p:pic>
        <p:nvPicPr>
          <p:cNvPr id="14" name="SK-1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962400"/>
            <a:ext cx="4328220" cy="2590800"/>
          </a:xfrm>
          <a:prstGeom prst="rect">
            <a:avLst/>
          </a:prstGeom>
        </p:spPr>
      </p:pic>
      <p:pic>
        <p:nvPicPr>
          <p:cNvPr id="15" name="SK-1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4152900"/>
            <a:ext cx="3947220" cy="381000"/>
          </a:xfrm>
          <a:prstGeom prst="rect">
            <a:avLst/>
          </a:prstGeom>
        </p:spPr>
      </p:pic>
      <p:pic>
        <p:nvPicPr>
          <p:cNvPr id="16" name="SK-1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200525"/>
            <a:ext cx="238125" cy="190500"/>
          </a:xfrm>
          <a:prstGeom prst="rect">
            <a:avLst/>
          </a:prstGeom>
        </p:spPr>
      </p:pic>
      <p:pic>
        <p:nvPicPr>
          <p:cNvPr id="17" name="SK-1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4686300"/>
            <a:ext cx="228600" cy="228600"/>
          </a:xfrm>
          <a:prstGeom prst="rect">
            <a:avLst/>
          </a:prstGeom>
        </p:spPr>
      </p:pic>
      <p:pic>
        <p:nvPicPr>
          <p:cNvPr id="18" name="SK-1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4900" y="4938713"/>
            <a:ext cx="1524000" cy="242888"/>
          </a:xfrm>
          <a:prstGeom prst="rect">
            <a:avLst/>
          </a:prstGeom>
        </p:spPr>
      </p:pic>
      <p:pic>
        <p:nvPicPr>
          <p:cNvPr id="19" name="SK-1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5276850"/>
            <a:ext cx="228600" cy="228600"/>
          </a:xfrm>
          <a:prstGeom prst="rect">
            <a:avLst/>
          </a:prstGeom>
        </p:spPr>
      </p:pic>
      <p:pic>
        <p:nvPicPr>
          <p:cNvPr id="20" name="SK-1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" y="5529263"/>
            <a:ext cx="1600200" cy="242888"/>
          </a:xfrm>
          <a:prstGeom prst="rect">
            <a:avLst/>
          </a:prstGeom>
        </p:spPr>
      </p:pic>
      <p:pic>
        <p:nvPicPr>
          <p:cNvPr id="21" name="SK-1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5867400"/>
            <a:ext cx="228600" cy="228600"/>
          </a:xfrm>
          <a:prstGeom prst="rect">
            <a:avLst/>
          </a:prstGeom>
        </p:spPr>
      </p:pic>
      <p:pic>
        <p:nvPicPr>
          <p:cNvPr id="22" name="SK-1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4900" y="6119813"/>
            <a:ext cx="990600" cy="242888"/>
          </a:xfrm>
          <a:prstGeom prst="rect">
            <a:avLst/>
          </a:prstGeom>
        </p:spPr>
      </p:pic>
      <p:pic>
        <p:nvPicPr>
          <p:cNvPr id="23" name="SK-1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28320" y="1514475"/>
            <a:ext cx="6492180" cy="5038725"/>
          </a:xfrm>
          <a:prstGeom prst="rect">
            <a:avLst/>
          </a:prstGeom>
        </p:spPr>
      </p:pic>
      <p:pic>
        <p:nvPicPr>
          <p:cNvPr id="24" name="SK-1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18820" y="1704975"/>
            <a:ext cx="6111180" cy="381000"/>
          </a:xfrm>
          <a:prstGeom prst="rect">
            <a:avLst/>
          </a:prstGeom>
        </p:spPr>
      </p:pic>
      <p:pic>
        <p:nvPicPr>
          <p:cNvPr id="25" name="SK-1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18820" y="1752600"/>
            <a:ext cx="238125" cy="190500"/>
          </a:xfrm>
          <a:prstGeom prst="rect">
            <a:avLst/>
          </a:prstGeom>
        </p:spPr>
      </p:pic>
      <p:pic>
        <p:nvPicPr>
          <p:cNvPr id="26" name="SK-1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18820" y="2238375"/>
            <a:ext cx="2979390" cy="1759744"/>
          </a:xfrm>
          <a:prstGeom prst="rect">
            <a:avLst/>
          </a:prstGeom>
        </p:spPr>
      </p:pic>
      <p:pic>
        <p:nvPicPr>
          <p:cNvPr id="27" name="SK-1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71220" y="2428875"/>
            <a:ext cx="190500" cy="152400"/>
          </a:xfrm>
          <a:prstGeom prst="rect">
            <a:avLst/>
          </a:prstGeom>
        </p:spPr>
      </p:pic>
      <p:pic>
        <p:nvPicPr>
          <p:cNvPr id="28" name="SK-1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71220" y="3183136"/>
            <a:ext cx="838200" cy="195263"/>
          </a:xfrm>
          <a:prstGeom prst="rect">
            <a:avLst/>
          </a:prstGeom>
        </p:spPr>
      </p:pic>
      <p:pic>
        <p:nvPicPr>
          <p:cNvPr id="29" name="SK-1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66570" y="3183136"/>
            <a:ext cx="533400" cy="195263"/>
          </a:xfrm>
          <a:prstGeom prst="rect">
            <a:avLst/>
          </a:prstGeom>
        </p:spPr>
      </p:pic>
      <p:pic>
        <p:nvPicPr>
          <p:cNvPr id="30" name="SK-13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50610" y="2238375"/>
            <a:ext cx="2979390" cy="1759744"/>
          </a:xfrm>
          <a:prstGeom prst="rect">
            <a:avLst/>
          </a:prstGeom>
        </p:spPr>
      </p:pic>
      <p:pic>
        <p:nvPicPr>
          <p:cNvPr id="31" name="SK-13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03010" y="2428875"/>
            <a:ext cx="190500" cy="152400"/>
          </a:xfrm>
          <a:prstGeom prst="rect">
            <a:avLst/>
          </a:prstGeom>
        </p:spPr>
      </p:pic>
      <p:pic>
        <p:nvPicPr>
          <p:cNvPr id="32" name="SK-13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603010" y="3183136"/>
            <a:ext cx="533400" cy="195263"/>
          </a:xfrm>
          <a:prstGeom prst="rect">
            <a:avLst/>
          </a:prstGeom>
        </p:spPr>
      </p:pic>
      <p:pic>
        <p:nvPicPr>
          <p:cNvPr id="33" name="SK-13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193560" y="3183136"/>
            <a:ext cx="742950" cy="195263"/>
          </a:xfrm>
          <a:prstGeom prst="rect">
            <a:avLst/>
          </a:prstGeom>
        </p:spPr>
      </p:pic>
      <p:pic>
        <p:nvPicPr>
          <p:cNvPr id="34" name="SK-13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318820" y="4150519"/>
            <a:ext cx="2979390" cy="1759744"/>
          </a:xfrm>
          <a:prstGeom prst="rect">
            <a:avLst/>
          </a:prstGeom>
        </p:spPr>
      </p:pic>
      <p:pic>
        <p:nvPicPr>
          <p:cNvPr id="35" name="SK-13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71220" y="4341019"/>
            <a:ext cx="190500" cy="152400"/>
          </a:xfrm>
          <a:prstGeom prst="rect">
            <a:avLst/>
          </a:prstGeom>
        </p:spPr>
      </p:pic>
      <p:pic>
        <p:nvPicPr>
          <p:cNvPr id="36" name="SK-13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471220" y="5095280"/>
            <a:ext cx="533400" cy="195263"/>
          </a:xfrm>
          <a:prstGeom prst="rect">
            <a:avLst/>
          </a:prstGeom>
        </p:spPr>
      </p:pic>
      <p:pic>
        <p:nvPicPr>
          <p:cNvPr id="37" name="SK-13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061770" y="5095280"/>
            <a:ext cx="533400" cy="195263"/>
          </a:xfrm>
          <a:prstGeom prst="rect">
            <a:avLst/>
          </a:prstGeom>
        </p:spPr>
      </p:pic>
      <p:pic>
        <p:nvPicPr>
          <p:cNvPr id="38" name="SK-13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450610" y="4150519"/>
            <a:ext cx="2979390" cy="1759744"/>
          </a:xfrm>
          <a:prstGeom prst="rect">
            <a:avLst/>
          </a:prstGeom>
        </p:spPr>
      </p:pic>
      <p:pic>
        <p:nvPicPr>
          <p:cNvPr id="39" name="SK-13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603010" y="4341019"/>
            <a:ext cx="190500" cy="152400"/>
          </a:xfrm>
          <a:prstGeom prst="rect">
            <a:avLst/>
          </a:prstGeom>
        </p:spPr>
      </p:pic>
      <p:pic>
        <p:nvPicPr>
          <p:cNvPr id="40" name="SK-13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603010" y="5095280"/>
            <a:ext cx="790575" cy="195263"/>
          </a:xfrm>
          <a:prstGeom prst="rect">
            <a:avLst/>
          </a:prstGeom>
        </p:spPr>
      </p:pic>
      <p:pic>
        <p:nvPicPr>
          <p:cNvPr id="41" name="SK-13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450735" y="5095280"/>
            <a:ext cx="762000" cy="195263"/>
          </a:xfrm>
          <a:prstGeom prst="rect">
            <a:avLst/>
          </a:prstGeom>
        </p:spPr>
      </p:pic>
      <p:pic>
        <p:nvPicPr>
          <p:cNvPr id="42" name="SK-13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318820" y="6062663"/>
            <a:ext cx="6111180" cy="300038"/>
          </a:xfrm>
          <a:prstGeom prst="rect">
            <a:avLst/>
          </a:prstGeom>
        </p:spPr>
      </p:pic>
      <p:pic>
        <p:nvPicPr>
          <p:cNvPr id="43" name="SK-13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318820" y="6231731"/>
            <a:ext cx="76200" cy="76200"/>
          </a:xfrm>
          <a:prstGeom prst="rect">
            <a:avLst/>
          </a:prstGeom>
        </p:spPr>
      </p:pic>
      <p:sp>
        <p:nvSpPr>
          <p:cNvPr id="44" name="SK-13-text-43"/>
          <p:cNvSpPr/>
          <p:nvPr/>
        </p:nvSpPr>
        <p:spPr>
          <a:xfrm>
            <a:off x="723900" y="381000"/>
            <a:ext cx="624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-3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快速部署与工程化实践</a:t>
            </a:r>
            <a:endParaRPr lang="en-US" sz="2400" dirty="0"/>
          </a:p>
        </p:txBody>
      </p:sp>
      <p:sp>
        <p:nvSpPr>
          <p:cNvPr id="45" name="SK-13-text-44"/>
          <p:cNvSpPr/>
          <p:nvPr/>
        </p:nvSpPr>
        <p:spPr>
          <a:xfrm>
            <a:off x="7239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SPECIFICATION / LEARNAGENT SYSTEM</a:t>
            </a:r>
            <a:endParaRPr lang="en-US" sz="1200" dirty="0"/>
          </a:p>
        </p:txBody>
      </p:sp>
      <p:sp>
        <p:nvSpPr>
          <p:cNvPr id="46" name="SK-13-text-45"/>
          <p:cNvSpPr/>
          <p:nvPr/>
        </p:nvSpPr>
        <p:spPr>
          <a:xfrm>
            <a:off x="1095375" y="1704975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环境依赖矩阵</a:t>
            </a:r>
            <a:endParaRPr lang="en-US" sz="1500" dirty="0"/>
          </a:p>
        </p:txBody>
      </p:sp>
      <p:sp>
        <p:nvSpPr>
          <p:cNvPr id="47" name="SK-13-text-46"/>
          <p:cNvSpPr/>
          <p:nvPr/>
        </p:nvSpPr>
        <p:spPr>
          <a:xfrm>
            <a:off x="876300" y="2295525"/>
            <a:ext cx="1196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Backend</a:t>
            </a:r>
            <a:endParaRPr lang="en-US" sz="1050" dirty="0"/>
          </a:p>
        </p:txBody>
      </p:sp>
      <p:sp>
        <p:nvSpPr>
          <p:cNvPr id="48" name="SK-13-text-47"/>
          <p:cNvSpPr/>
          <p:nvPr/>
        </p:nvSpPr>
        <p:spPr>
          <a:xfrm>
            <a:off x="1619250" y="2295525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6B6D4"/>
                </a:solidFill>
              </a:rPr>
              <a:t>JDK 21+</a:t>
            </a:r>
            <a:endParaRPr lang="en-US" sz="1050" dirty="0"/>
          </a:p>
        </p:txBody>
      </p:sp>
      <p:sp>
        <p:nvSpPr>
          <p:cNvPr id="49" name="SK-13-text-48"/>
          <p:cNvSpPr/>
          <p:nvPr/>
        </p:nvSpPr>
        <p:spPr>
          <a:xfrm>
            <a:off x="2907060" y="2295525"/>
            <a:ext cx="13563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0" name="SK-13-text-49"/>
          <p:cNvSpPr/>
          <p:nvPr/>
        </p:nvSpPr>
        <p:spPr>
          <a:xfrm>
            <a:off x="3650010" y="2295525"/>
            <a:ext cx="1569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6B6D4"/>
                </a:solidFill>
              </a:rPr>
              <a:t>Node 20+</a:t>
            </a:r>
            <a:endParaRPr lang="en-US" sz="1050" dirty="0"/>
          </a:p>
        </p:txBody>
      </p:sp>
      <p:sp>
        <p:nvSpPr>
          <p:cNvPr id="51" name="SK-13-text-50"/>
          <p:cNvSpPr/>
          <p:nvPr/>
        </p:nvSpPr>
        <p:spPr>
          <a:xfrm>
            <a:off x="876300" y="2705100"/>
            <a:ext cx="87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</a:t>
            </a:r>
            <a:endParaRPr lang="en-US" sz="1050" dirty="0"/>
          </a:p>
        </p:txBody>
      </p:sp>
      <p:sp>
        <p:nvSpPr>
          <p:cNvPr id="52" name="SK-13-text-51"/>
          <p:cNvSpPr/>
          <p:nvPr/>
        </p:nvSpPr>
        <p:spPr>
          <a:xfrm>
            <a:off x="1619250" y="2705100"/>
            <a:ext cx="21564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6B6D4"/>
                </a:solidFill>
              </a:rPr>
              <a:t>Python 3.11</a:t>
            </a:r>
            <a:endParaRPr lang="en-US" sz="1050" dirty="0"/>
          </a:p>
        </p:txBody>
      </p:sp>
      <p:sp>
        <p:nvSpPr>
          <p:cNvPr id="53" name="SK-13-text-52"/>
          <p:cNvSpPr/>
          <p:nvPr/>
        </p:nvSpPr>
        <p:spPr>
          <a:xfrm>
            <a:off x="2907060" y="2705100"/>
            <a:ext cx="1196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Storage</a:t>
            </a:r>
            <a:endParaRPr lang="en-US" sz="1050" dirty="0"/>
          </a:p>
        </p:txBody>
      </p:sp>
      <p:sp>
        <p:nvSpPr>
          <p:cNvPr id="54" name="SK-13-text-53"/>
          <p:cNvSpPr/>
          <p:nvPr/>
        </p:nvSpPr>
        <p:spPr>
          <a:xfrm>
            <a:off x="3650010" y="2705100"/>
            <a:ext cx="17297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6B6D4"/>
                </a:solidFill>
              </a:rPr>
              <a:t>MySQL 8.0</a:t>
            </a:r>
            <a:endParaRPr lang="en-US" sz="1050" dirty="0"/>
          </a:p>
        </p:txBody>
      </p:sp>
      <p:sp>
        <p:nvSpPr>
          <p:cNvPr id="55" name="SK-13-text-54"/>
          <p:cNvSpPr/>
          <p:nvPr/>
        </p:nvSpPr>
        <p:spPr>
          <a:xfrm>
            <a:off x="876300" y="3114675"/>
            <a:ext cx="87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Cache</a:t>
            </a:r>
            <a:endParaRPr lang="en-US" sz="1050" dirty="0"/>
          </a:p>
        </p:txBody>
      </p:sp>
      <p:sp>
        <p:nvSpPr>
          <p:cNvPr id="56" name="SK-13-text-55"/>
          <p:cNvSpPr/>
          <p:nvPr/>
        </p:nvSpPr>
        <p:spPr>
          <a:xfrm>
            <a:off x="1619250" y="3114675"/>
            <a:ext cx="17297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6B6D4"/>
                </a:solidFill>
              </a:rPr>
              <a:t>Redis 6.0</a:t>
            </a:r>
            <a:endParaRPr lang="en-US" sz="1050" dirty="0"/>
          </a:p>
        </p:txBody>
      </p:sp>
      <p:sp>
        <p:nvSpPr>
          <p:cNvPr id="57" name="SK-13-text-56"/>
          <p:cNvSpPr/>
          <p:nvPr/>
        </p:nvSpPr>
        <p:spPr>
          <a:xfrm>
            <a:off x="2907060" y="3114675"/>
            <a:ext cx="1196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API</a:t>
            </a:r>
            <a:endParaRPr lang="en-US" sz="1050" dirty="0"/>
          </a:p>
        </p:txBody>
      </p:sp>
      <p:sp>
        <p:nvSpPr>
          <p:cNvPr id="58" name="SK-13-text-57"/>
          <p:cNvSpPr/>
          <p:nvPr/>
        </p:nvSpPr>
        <p:spPr>
          <a:xfrm>
            <a:off x="3650010" y="3114675"/>
            <a:ext cx="15163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6B6D4"/>
                </a:solidFill>
              </a:rPr>
              <a:t>DashScope</a:t>
            </a:r>
            <a:endParaRPr lang="en-US" sz="1050" dirty="0"/>
          </a:p>
        </p:txBody>
      </p:sp>
      <p:sp>
        <p:nvSpPr>
          <p:cNvPr id="59" name="SK-13-text-58"/>
          <p:cNvSpPr/>
          <p:nvPr/>
        </p:nvSpPr>
        <p:spPr>
          <a:xfrm>
            <a:off x="1095375" y="4152900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三步快速启动</a:t>
            </a:r>
            <a:endParaRPr lang="en-US" sz="1500" dirty="0"/>
          </a:p>
        </p:txBody>
      </p:sp>
      <p:sp>
        <p:nvSpPr>
          <p:cNvPr id="60" name="SK-13-text-59"/>
          <p:cNvSpPr/>
          <p:nvPr/>
        </p:nvSpPr>
        <p:spPr>
          <a:xfrm>
            <a:off x="852488" y="46863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61" name="SK-13-text-60"/>
          <p:cNvSpPr/>
          <p:nvPr/>
        </p:nvSpPr>
        <p:spPr>
          <a:xfrm>
            <a:off x="1104900" y="4686300"/>
            <a:ext cx="37909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模型推理服务层 (FastAPI)</a:t>
            </a:r>
            <a:endParaRPr lang="en-US" sz="1125" dirty="0"/>
          </a:p>
        </p:txBody>
      </p:sp>
      <p:sp>
        <p:nvSpPr>
          <p:cNvPr id="62" name="SK-13-text-61"/>
          <p:cNvSpPr/>
          <p:nvPr/>
        </p:nvSpPr>
        <p:spPr>
          <a:xfrm>
            <a:off x="1181100" y="4976813"/>
            <a:ext cx="2750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</a:rPr>
              <a:t>python -m app.main</a:t>
            </a:r>
            <a:endParaRPr lang="en-US" sz="975" dirty="0"/>
          </a:p>
        </p:txBody>
      </p:sp>
      <p:sp>
        <p:nvSpPr>
          <p:cNvPr id="63" name="SK-13-text-62"/>
          <p:cNvSpPr/>
          <p:nvPr/>
        </p:nvSpPr>
        <p:spPr>
          <a:xfrm>
            <a:off x="842963" y="527685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64" name="SK-13-text-63"/>
          <p:cNvSpPr/>
          <p:nvPr/>
        </p:nvSpPr>
        <p:spPr>
          <a:xfrm>
            <a:off x="1104900" y="5276850"/>
            <a:ext cx="44767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后端业务逻辑层 (Spring Boot)</a:t>
            </a:r>
            <a:endParaRPr lang="en-US" sz="1125" dirty="0"/>
          </a:p>
        </p:txBody>
      </p:sp>
      <p:sp>
        <p:nvSpPr>
          <p:cNvPr id="65" name="SK-13-text-64"/>
          <p:cNvSpPr/>
          <p:nvPr/>
        </p:nvSpPr>
        <p:spPr>
          <a:xfrm>
            <a:off x="1181100" y="5567363"/>
            <a:ext cx="2899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</a:rPr>
              <a:t>mvn spring-boot:run</a:t>
            </a:r>
            <a:endParaRPr lang="en-US" sz="975" dirty="0"/>
          </a:p>
        </p:txBody>
      </p:sp>
      <p:sp>
        <p:nvSpPr>
          <p:cNvPr id="66" name="SK-13-text-65"/>
          <p:cNvSpPr/>
          <p:nvPr/>
        </p:nvSpPr>
        <p:spPr>
          <a:xfrm>
            <a:off x="838200" y="58674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67" name="SK-13-text-66"/>
          <p:cNvSpPr/>
          <p:nvPr/>
        </p:nvSpPr>
        <p:spPr>
          <a:xfrm>
            <a:off x="1104900" y="5867400"/>
            <a:ext cx="36805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前端交互层 (Vue 3)</a:t>
            </a:r>
            <a:endParaRPr lang="en-US" sz="1125" dirty="0"/>
          </a:p>
        </p:txBody>
      </p:sp>
      <p:sp>
        <p:nvSpPr>
          <p:cNvPr id="68" name="SK-13-text-67"/>
          <p:cNvSpPr/>
          <p:nvPr/>
        </p:nvSpPr>
        <p:spPr>
          <a:xfrm>
            <a:off x="1181100" y="6157913"/>
            <a:ext cx="17106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</a:rPr>
              <a:t>npm run dev</a:t>
            </a:r>
            <a:endParaRPr lang="en-US" sz="975" dirty="0"/>
          </a:p>
        </p:txBody>
      </p:sp>
      <p:sp>
        <p:nvSpPr>
          <p:cNvPr id="69" name="SK-13-text-68"/>
          <p:cNvSpPr/>
          <p:nvPr/>
        </p:nvSpPr>
        <p:spPr>
          <a:xfrm>
            <a:off x="5652195" y="1704975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生产级工程安全与稳定机制</a:t>
            </a:r>
            <a:endParaRPr lang="en-US" sz="1500" dirty="0"/>
          </a:p>
        </p:txBody>
      </p:sp>
      <p:sp>
        <p:nvSpPr>
          <p:cNvPr id="70" name="SK-13-text-69"/>
          <p:cNvSpPr/>
          <p:nvPr/>
        </p:nvSpPr>
        <p:spPr>
          <a:xfrm>
            <a:off x="5737920" y="2390775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安全认证与隔离</a:t>
            </a:r>
            <a:endParaRPr lang="en-US" sz="1200" dirty="0"/>
          </a:p>
        </p:txBody>
      </p:sp>
      <p:sp>
        <p:nvSpPr>
          <p:cNvPr id="71" name="SK-13-text-70"/>
          <p:cNvSpPr/>
          <p:nvPr/>
        </p:nvSpPr>
        <p:spPr>
          <a:xfrm>
            <a:off x="5471220" y="2695575"/>
            <a:ext cx="267459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JWT 的双向认证机制，实现用户身份校验与多租户数据权限隔离。</a:t>
            </a:r>
            <a:endParaRPr lang="en-US" sz="1050" dirty="0"/>
          </a:p>
        </p:txBody>
      </p:sp>
      <p:sp>
        <p:nvSpPr>
          <p:cNvPr id="72" name="SK-13-text-71"/>
          <p:cNvSpPr/>
          <p:nvPr/>
        </p:nvSpPr>
        <p:spPr>
          <a:xfrm>
            <a:off x="5528370" y="3183136"/>
            <a:ext cx="13430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Token自动续期</a:t>
            </a:r>
            <a:endParaRPr lang="en-US" sz="825" dirty="0"/>
          </a:p>
        </p:txBody>
      </p:sp>
      <p:sp>
        <p:nvSpPr>
          <p:cNvPr id="73" name="SK-13-text-72"/>
          <p:cNvSpPr/>
          <p:nvPr/>
        </p:nvSpPr>
        <p:spPr>
          <a:xfrm>
            <a:off x="6423720" y="3183136"/>
            <a:ext cx="73478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双向鉴权</a:t>
            </a:r>
            <a:endParaRPr lang="en-US" sz="825" dirty="0"/>
          </a:p>
        </p:txBody>
      </p:sp>
      <p:sp>
        <p:nvSpPr>
          <p:cNvPr id="74" name="SK-13-text-73"/>
          <p:cNvSpPr/>
          <p:nvPr/>
        </p:nvSpPr>
        <p:spPr>
          <a:xfrm>
            <a:off x="8869710" y="2390775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并发与限流控制</a:t>
            </a:r>
            <a:endParaRPr lang="en-US" sz="1200" dirty="0"/>
          </a:p>
        </p:txBody>
      </p:sp>
      <p:sp>
        <p:nvSpPr>
          <p:cNvPr id="75" name="SK-13-text-74"/>
          <p:cNvSpPr/>
          <p:nvPr/>
        </p:nvSpPr>
        <p:spPr>
          <a:xfrm>
            <a:off x="8603010" y="2695575"/>
            <a:ext cx="267459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集成 Redisson 实现分布式限流与并发信号量控制，默认最大并发数为 20。</a:t>
            </a:r>
            <a:endParaRPr lang="en-US" sz="1050" dirty="0"/>
          </a:p>
        </p:txBody>
      </p:sp>
      <p:sp>
        <p:nvSpPr>
          <p:cNvPr id="76" name="SK-13-text-75"/>
          <p:cNvSpPr/>
          <p:nvPr/>
        </p:nvSpPr>
        <p:spPr>
          <a:xfrm>
            <a:off x="8660160" y="3183136"/>
            <a:ext cx="73478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分布式锁</a:t>
            </a:r>
            <a:endParaRPr lang="en-US" sz="825" dirty="0"/>
          </a:p>
        </p:txBody>
      </p:sp>
      <p:sp>
        <p:nvSpPr>
          <p:cNvPr id="77" name="SK-13-text-76"/>
          <p:cNvSpPr/>
          <p:nvPr/>
        </p:nvSpPr>
        <p:spPr>
          <a:xfrm>
            <a:off x="9250710" y="3183136"/>
            <a:ext cx="1140069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滑动窗口限流</a:t>
            </a:r>
            <a:endParaRPr lang="en-US" sz="825" dirty="0"/>
          </a:p>
        </p:txBody>
      </p:sp>
      <p:sp>
        <p:nvSpPr>
          <p:cNvPr id="78" name="SK-13-text-77"/>
          <p:cNvSpPr/>
          <p:nvPr/>
        </p:nvSpPr>
        <p:spPr>
          <a:xfrm>
            <a:off x="5737920" y="4302919"/>
            <a:ext cx="202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SSE 断线续传</a:t>
            </a:r>
            <a:endParaRPr lang="en-US" sz="1200" dirty="0"/>
          </a:p>
        </p:txBody>
      </p:sp>
      <p:sp>
        <p:nvSpPr>
          <p:cNvPr id="79" name="SK-13-text-78"/>
          <p:cNvSpPr/>
          <p:nvPr/>
        </p:nvSpPr>
        <p:spPr>
          <a:xfrm>
            <a:off x="5471220" y="4607719"/>
            <a:ext cx="267459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 SSEEventCache 缓存机制，支持在网络不稳定的情况下实现事件流续传。</a:t>
            </a:r>
            <a:endParaRPr lang="en-US" sz="1050" dirty="0"/>
          </a:p>
        </p:txBody>
      </p:sp>
      <p:sp>
        <p:nvSpPr>
          <p:cNvPr id="80" name="SK-13-text-79"/>
          <p:cNvSpPr/>
          <p:nvPr/>
        </p:nvSpPr>
        <p:spPr>
          <a:xfrm>
            <a:off x="5528370" y="5095280"/>
            <a:ext cx="73478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事件回溯</a:t>
            </a:r>
            <a:endParaRPr lang="en-US" sz="825" dirty="0"/>
          </a:p>
        </p:txBody>
      </p:sp>
      <p:sp>
        <p:nvSpPr>
          <p:cNvPr id="81" name="SK-13-text-80"/>
          <p:cNvSpPr/>
          <p:nvPr/>
        </p:nvSpPr>
        <p:spPr>
          <a:xfrm>
            <a:off x="6118920" y="5095280"/>
            <a:ext cx="73478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非阻塞流</a:t>
            </a:r>
            <a:endParaRPr lang="en-US" sz="825" dirty="0"/>
          </a:p>
        </p:txBody>
      </p:sp>
      <p:sp>
        <p:nvSpPr>
          <p:cNvPr id="82" name="SK-13-text-81"/>
          <p:cNvSpPr/>
          <p:nvPr/>
        </p:nvSpPr>
        <p:spPr>
          <a:xfrm>
            <a:off x="8869710" y="430291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持久化与缓存管理</a:t>
            </a:r>
            <a:endParaRPr lang="en-US" sz="1200" dirty="0"/>
          </a:p>
        </p:txBody>
      </p:sp>
      <p:sp>
        <p:nvSpPr>
          <p:cNvPr id="83" name="SK-13-text-82"/>
          <p:cNvSpPr/>
          <p:nvPr/>
        </p:nvSpPr>
        <p:spPr>
          <a:xfrm>
            <a:off x="8603010" y="4607719"/>
            <a:ext cx="267459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MySQL 存储对话历史与画像特征，Redis 实现会话上下文快速读取与热点数据缓存。</a:t>
            </a:r>
            <a:endParaRPr lang="en-US" sz="1050" dirty="0"/>
          </a:p>
        </p:txBody>
      </p:sp>
      <p:sp>
        <p:nvSpPr>
          <p:cNvPr id="84" name="SK-13-text-83"/>
          <p:cNvSpPr/>
          <p:nvPr/>
        </p:nvSpPr>
        <p:spPr>
          <a:xfrm>
            <a:off x="8660160" y="5095280"/>
            <a:ext cx="136682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Spring Cache</a:t>
            </a:r>
            <a:endParaRPr lang="en-US" sz="825" dirty="0"/>
          </a:p>
        </p:txBody>
      </p:sp>
      <p:sp>
        <p:nvSpPr>
          <p:cNvPr id="85" name="SK-13-text-84"/>
          <p:cNvSpPr/>
          <p:nvPr/>
        </p:nvSpPr>
        <p:spPr>
          <a:xfrm>
            <a:off x="9507885" y="5095280"/>
            <a:ext cx="135864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MyBatis Plus</a:t>
            </a:r>
            <a:endParaRPr lang="en-US" sz="825" dirty="0"/>
          </a:p>
        </p:txBody>
      </p:sp>
      <p:sp>
        <p:nvSpPr>
          <p:cNvPr id="86" name="SK-13-text-85"/>
          <p:cNvSpPr/>
          <p:nvPr/>
        </p:nvSpPr>
        <p:spPr>
          <a:xfrm>
            <a:off x="5452170" y="6176963"/>
            <a:ext cx="67398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Production Ready: System health check passed.</a:t>
            </a:r>
            <a:endParaRPr lang="en-US" sz="975" dirty="0"/>
          </a:p>
        </p:txBody>
      </p:sp>
      <p:sp>
        <p:nvSpPr>
          <p:cNvPr id="87" name="SK-13-text-86"/>
          <p:cNvSpPr/>
          <p:nvPr/>
        </p:nvSpPr>
        <p:spPr>
          <a:xfrm>
            <a:off x="8963025" y="6184106"/>
            <a:ext cx="3228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Build v1.0.4-stable | Release 2026.06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SK-1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1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741140"/>
            <a:ext cx="309563" cy="251520"/>
          </a:xfrm>
          <a:prstGeom prst="rect">
            <a:avLst/>
          </a:prstGeom>
        </p:spPr>
      </p:pic>
      <p:pic>
        <p:nvPicPr>
          <p:cNvPr id="7" name="SK-1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290763"/>
            <a:ext cx="6160740" cy="962025"/>
          </a:xfrm>
          <a:prstGeom prst="rect">
            <a:avLst/>
          </a:prstGeom>
        </p:spPr>
      </p:pic>
      <p:pic>
        <p:nvPicPr>
          <p:cNvPr id="8" name="SK-1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446734"/>
            <a:ext cx="214313" cy="192881"/>
          </a:xfrm>
          <a:prstGeom prst="rect">
            <a:avLst/>
          </a:prstGeom>
        </p:spPr>
      </p:pic>
      <p:pic>
        <p:nvPicPr>
          <p:cNvPr id="9" name="SK-1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376613"/>
            <a:ext cx="6160740" cy="962025"/>
          </a:xfrm>
          <a:prstGeom prst="rect">
            <a:avLst/>
          </a:prstGeom>
        </p:spPr>
      </p:pic>
      <p:pic>
        <p:nvPicPr>
          <p:cNvPr id="10" name="SK-1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532584"/>
            <a:ext cx="214313" cy="192881"/>
          </a:xfrm>
          <a:prstGeom prst="rect">
            <a:avLst/>
          </a:prstGeom>
        </p:spPr>
      </p:pic>
      <p:pic>
        <p:nvPicPr>
          <p:cNvPr id="11" name="SK-1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462463"/>
            <a:ext cx="6160740" cy="962025"/>
          </a:xfrm>
          <a:prstGeom prst="rect">
            <a:avLst/>
          </a:prstGeom>
        </p:spPr>
      </p:pic>
      <p:pic>
        <p:nvPicPr>
          <p:cNvPr id="12" name="SK-1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4618434"/>
            <a:ext cx="214313" cy="192881"/>
          </a:xfrm>
          <a:prstGeom prst="rect">
            <a:avLst/>
          </a:prstGeom>
        </p:spPr>
      </p:pic>
      <p:pic>
        <p:nvPicPr>
          <p:cNvPr id="13" name="SK-1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5548313"/>
            <a:ext cx="6160740" cy="962025"/>
          </a:xfrm>
          <a:prstGeom prst="rect">
            <a:avLst/>
          </a:prstGeom>
        </p:spPr>
      </p:pic>
      <p:pic>
        <p:nvPicPr>
          <p:cNvPr id="14" name="SK-1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5704284"/>
            <a:ext cx="214313" cy="192881"/>
          </a:xfrm>
          <a:prstGeom prst="rect">
            <a:avLst/>
          </a:prstGeom>
        </p:spPr>
      </p:pic>
      <p:pic>
        <p:nvPicPr>
          <p:cNvPr id="15" name="SK-1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13240" y="1638300"/>
            <a:ext cx="19050" cy="4914900"/>
          </a:xfrm>
          <a:prstGeom prst="rect">
            <a:avLst/>
          </a:prstGeom>
        </p:spPr>
      </p:pic>
      <p:pic>
        <p:nvPicPr>
          <p:cNvPr id="16" name="SK-1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3290" y="3349823"/>
            <a:ext cx="4107210" cy="1771650"/>
          </a:xfrm>
          <a:prstGeom prst="rect">
            <a:avLst/>
          </a:prstGeom>
        </p:spPr>
      </p:pic>
      <p:pic>
        <p:nvPicPr>
          <p:cNvPr id="17" name="SK-1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41890" y="4073723"/>
            <a:ext cx="1767780" cy="352425"/>
          </a:xfrm>
          <a:prstGeom prst="rect">
            <a:avLst/>
          </a:prstGeom>
        </p:spPr>
      </p:pic>
      <p:pic>
        <p:nvPicPr>
          <p:cNvPr id="18" name="SK-1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23971" y="4073723"/>
            <a:ext cx="1767929" cy="352425"/>
          </a:xfrm>
          <a:prstGeom prst="rect">
            <a:avLst/>
          </a:prstGeom>
        </p:spPr>
      </p:pic>
      <p:pic>
        <p:nvPicPr>
          <p:cNvPr id="19" name="SK-1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41890" y="4540448"/>
            <a:ext cx="1767780" cy="352425"/>
          </a:xfrm>
          <a:prstGeom prst="rect">
            <a:avLst/>
          </a:prstGeom>
        </p:spPr>
      </p:pic>
      <p:pic>
        <p:nvPicPr>
          <p:cNvPr id="20" name="SK-1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23971" y="4540448"/>
            <a:ext cx="1767929" cy="352425"/>
          </a:xfrm>
          <a:prstGeom prst="rect">
            <a:avLst/>
          </a:prstGeom>
        </p:spPr>
      </p:pic>
      <p:pic>
        <p:nvPicPr>
          <p:cNvPr id="21" name="SK-1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69002" y="5664547"/>
            <a:ext cx="166688" cy="137220"/>
          </a:xfrm>
          <a:prstGeom prst="rect">
            <a:avLst/>
          </a:prstGeom>
        </p:spPr>
      </p:pic>
      <p:sp>
        <p:nvSpPr>
          <p:cNvPr id="22" name="SK-14-text-21"/>
          <p:cNvSpPr/>
          <p:nvPr/>
        </p:nvSpPr>
        <p:spPr>
          <a:xfrm>
            <a:off x="723900" y="38100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-30" kern="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谢辞与Q&amp;A</a:t>
            </a:r>
            <a:endParaRPr lang="en-US" sz="2400" dirty="0"/>
          </a:p>
        </p:txBody>
      </p:sp>
      <p:sp>
        <p:nvSpPr>
          <p:cNvPr id="23" name="SK-14-text-22"/>
          <p:cNvSpPr/>
          <p:nvPr/>
        </p:nvSpPr>
        <p:spPr>
          <a:xfrm>
            <a:off x="7239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SPECIFICATION / LEARNAGENT SYSTEM</a:t>
            </a:r>
            <a:endParaRPr lang="en-US" sz="1200" dirty="0"/>
          </a:p>
        </p:txBody>
      </p:sp>
      <p:sp>
        <p:nvSpPr>
          <p:cNvPr id="24" name="SK-14-text-23"/>
          <p:cNvSpPr/>
          <p:nvPr/>
        </p:nvSpPr>
        <p:spPr>
          <a:xfrm>
            <a:off x="995363" y="1681163"/>
            <a:ext cx="61607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核心技术栈总结</a:t>
            </a:r>
            <a:endParaRPr lang="en-US" sz="1950" dirty="0"/>
          </a:p>
        </p:txBody>
      </p:sp>
      <p:sp>
        <p:nvSpPr>
          <p:cNvPr id="25" name="SK-14-text-24"/>
          <p:cNvSpPr/>
          <p:nvPr/>
        </p:nvSpPr>
        <p:spPr>
          <a:xfrm>
            <a:off x="1033462" y="2414588"/>
            <a:ext cx="58559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八智能体协同架构</a:t>
            </a:r>
            <a:endParaRPr lang="en-US" sz="1350" dirty="0"/>
          </a:p>
        </p:txBody>
      </p:sp>
      <p:sp>
        <p:nvSpPr>
          <p:cNvPr id="26" name="SK-14-text-25"/>
          <p:cNvSpPr/>
          <p:nvPr/>
        </p:nvSpPr>
        <p:spPr>
          <a:xfrm>
            <a:off x="723900" y="2700338"/>
            <a:ext cx="58559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LangGraph 状态机实现的动态编排与辩论-仲裁机制，通过动态退火策略确保输出质量与鲁棒性。</a:t>
            </a:r>
            <a:endParaRPr lang="en-US" sz="1125" dirty="0"/>
          </a:p>
        </p:txBody>
      </p:sp>
      <p:sp>
        <p:nvSpPr>
          <p:cNvPr id="27" name="SK-14-text-26"/>
          <p:cNvSpPr/>
          <p:nvPr/>
        </p:nvSpPr>
        <p:spPr>
          <a:xfrm>
            <a:off x="1033462" y="3500438"/>
            <a:ext cx="58559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证据驱动 RAG 系统</a:t>
            </a:r>
            <a:endParaRPr lang="en-US" sz="1350" dirty="0"/>
          </a:p>
        </p:txBody>
      </p:sp>
      <p:sp>
        <p:nvSpPr>
          <p:cNvPr id="28" name="SK-14-text-27"/>
          <p:cNvSpPr/>
          <p:nvPr/>
        </p:nvSpPr>
        <p:spPr>
          <a:xfrm>
            <a:off x="723900" y="3786188"/>
            <a:ext cx="58559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ChromaDB+BM25 混合检索配合 gte-rerank 精准重排，实现从医学权威指南到临床文献的精准溯源。</a:t>
            </a:r>
            <a:endParaRPr lang="en-US" sz="1125" dirty="0"/>
          </a:p>
        </p:txBody>
      </p:sp>
      <p:sp>
        <p:nvSpPr>
          <p:cNvPr id="29" name="SK-14-text-28"/>
          <p:cNvSpPr/>
          <p:nvPr/>
        </p:nvSpPr>
        <p:spPr>
          <a:xfrm>
            <a:off x="1033462" y="4586288"/>
            <a:ext cx="58559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8维度动态学习画像</a:t>
            </a:r>
            <a:endParaRPr lang="en-US" sz="1350" dirty="0"/>
          </a:p>
        </p:txBody>
      </p:sp>
      <p:sp>
        <p:nvSpPr>
          <p:cNvPr id="30" name="SK-14-text-29"/>
          <p:cNvSpPr/>
          <p:nvPr/>
        </p:nvSpPr>
        <p:spPr>
          <a:xfrm>
            <a:off x="723900" y="4872038"/>
            <a:ext cx="58559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超越赛题要求的 6 维度，实现 8 维度特征自动抽取与随学随新，驱动高度个性化的学习资源生成。</a:t>
            </a:r>
            <a:endParaRPr lang="en-US" sz="1125" dirty="0"/>
          </a:p>
        </p:txBody>
      </p:sp>
      <p:sp>
        <p:nvSpPr>
          <p:cNvPr id="31" name="SK-14-text-30"/>
          <p:cNvSpPr/>
          <p:nvPr/>
        </p:nvSpPr>
        <p:spPr>
          <a:xfrm>
            <a:off x="1033462" y="5672138"/>
            <a:ext cx="58559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全栈工程化落地</a:t>
            </a:r>
            <a:endParaRPr lang="en-US" sz="1350" dirty="0"/>
          </a:p>
        </p:txBody>
      </p:sp>
      <p:sp>
        <p:nvSpPr>
          <p:cNvPr id="32" name="SK-14-text-31"/>
          <p:cNvSpPr/>
          <p:nvPr/>
        </p:nvSpPr>
        <p:spPr>
          <a:xfrm>
            <a:off x="723900" y="5957888"/>
            <a:ext cx="58559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Vue 3.5 + Spring Boot WebFlux + FastAPI 三层解耦架构，支持 SSE 流式通信与生产级安全限流。</a:t>
            </a:r>
            <a:endParaRPr lang="en-US" sz="1125" dirty="0"/>
          </a:p>
        </p:txBody>
      </p:sp>
      <p:sp>
        <p:nvSpPr>
          <p:cNvPr id="33" name="SK-14-text-32"/>
          <p:cNvSpPr/>
          <p:nvPr/>
        </p:nvSpPr>
        <p:spPr>
          <a:xfrm>
            <a:off x="8195221" y="2374553"/>
            <a:ext cx="2743200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34" name="SK-14-text-33"/>
          <p:cNvSpPr/>
          <p:nvPr/>
        </p:nvSpPr>
        <p:spPr>
          <a:xfrm>
            <a:off x="7684740" y="3578423"/>
            <a:ext cx="3764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欢迎评委提问交流</a:t>
            </a:r>
            <a:endParaRPr lang="en-US" sz="1800" dirty="0"/>
          </a:p>
        </p:txBody>
      </p:sp>
      <p:sp>
        <p:nvSpPr>
          <p:cNvPr id="35" name="SK-14-text-34"/>
          <p:cNvSpPr/>
          <p:nvPr/>
        </p:nvSpPr>
        <p:spPr>
          <a:xfrm>
            <a:off x="7703790" y="4073723"/>
            <a:ext cx="16153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智能体交互逻辑</a:t>
            </a:r>
            <a:endParaRPr lang="en-US" sz="1050" dirty="0"/>
          </a:p>
        </p:txBody>
      </p:sp>
      <p:sp>
        <p:nvSpPr>
          <p:cNvPr id="36" name="SK-14-text-35"/>
          <p:cNvSpPr/>
          <p:nvPr/>
        </p:nvSpPr>
        <p:spPr>
          <a:xfrm>
            <a:off x="9585871" y="4073723"/>
            <a:ext cx="16155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医学知识库构建</a:t>
            </a:r>
            <a:endParaRPr lang="en-US" sz="1050" dirty="0"/>
          </a:p>
        </p:txBody>
      </p:sp>
      <p:sp>
        <p:nvSpPr>
          <p:cNvPr id="37" name="SK-14-text-36"/>
          <p:cNvSpPr/>
          <p:nvPr/>
        </p:nvSpPr>
        <p:spPr>
          <a:xfrm>
            <a:off x="7703790" y="4540448"/>
            <a:ext cx="16153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性能优化与并发</a:t>
            </a:r>
            <a:endParaRPr lang="en-US" sz="1050" dirty="0"/>
          </a:p>
        </p:txBody>
      </p:sp>
      <p:sp>
        <p:nvSpPr>
          <p:cNvPr id="38" name="SK-14-text-37"/>
          <p:cNvSpPr/>
          <p:nvPr/>
        </p:nvSpPr>
        <p:spPr>
          <a:xfrm>
            <a:off x="9585871" y="4540448"/>
            <a:ext cx="16155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个性化评估算法</a:t>
            </a:r>
            <a:endParaRPr lang="en-US" sz="1050" dirty="0"/>
          </a:p>
        </p:txBody>
      </p:sp>
      <p:sp>
        <p:nvSpPr>
          <p:cNvPr id="39" name="SK-14-text-38"/>
          <p:cNvSpPr/>
          <p:nvPr/>
        </p:nvSpPr>
        <p:spPr>
          <a:xfrm>
            <a:off x="7969002" y="5616773"/>
            <a:ext cx="31956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LearnAgent：致力于实现“因材施教”的工程化落地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2026-06-13T00:58:03Z</dcterms:created>
  <dcterms:modified xsi:type="dcterms:W3CDTF">2026-06-13T00:58:03Z</dcterms:modified>
</cp:coreProperties>
</file>